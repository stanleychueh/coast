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Where the reproduction stands after Phase 7A, and what can and cannot be concluded.
SAY: This summarizes every phase report from Phase 0 (environment) to Phase 7A (cross-task validation). The short version: we see a reproduction gap, we understand much of where it comes from, and we have not yet found a held-out steering effect.
LIKELY QUESTION: Is this a finished reproduction?
ANSWER: The measurements are finished through Phase 7A. Two things are still open: the author's clarification of which protocol the tables report, and a mechanism-first Phase 7B.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 project moved from 'reproduce a number' to 'explain the number' to 'does it generalize'.
SAY: We started with the narrow goal of reproducing one Table 4 cell. When that failed, the questions became what the intervention does mechanistically, and whether our observations are specific to one task.
LIKELY QUESTION: Why focus on a single task (KS3) for so long?
ANSWER: KS3 is the paper's first Table 4 row, and its base rate near 0.5 gives both classes from 15 rollouts. Controlling noise and protocol on one task first was cheaper than running all ten. Phase 7A then tested three more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COAST builds a success-specific subspace from activations and softly projects hidden states onto it at inference time.
SAY: We collect action-expert activations from successful and failed rollouts. For each class, a conceptor is a soft projection built from the correlation matrix, with aperture α. The contrastive conceptor keeps what success has and failure lacks. At inference, the hidden state at one layer is blended with its projection, controlled by β.
LIKELY QUESTION: What is the aperture α doing?
ANSWER: C = R(R + α⁻²I)⁻¹ has eigenvalues λ/(λ + α⁻²). Small α keeps only the strongest directions; large α approaches the identity on the data span. It controls how much of the activation subspace the conceptor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These are the paper's numbers: the target of the reproduction.
SAY: For KS3 the paper reports Base 0.53, Global 0.93 with layer 5, α 0.5, β 0.1, per-step 0.87 with α 10, and positive-only 0.80. The text describes 30 held-out test rollouts, so 0.93 reads as 28 of 30. Later we found every Table 4 cell is a multiple of 1/15, so 14 of 15 fits as well.
LIKELY QUESTION: Why do you believe Table 4 used 15 episodes?
ANSWER: All 30 per-task Table 4 cells are compatible with k/15. The historical generator uses NUM_EPISODES=15, and the same code lineage reproduces the paper's reported grid counts. This is evidence, not proof; we have asked the author for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Our split follows the paper text; the paper gives no state IDs, so the exact windows are our interpretation.
SAY: LIBERO has 50 fixed initial states per task. We fit on 0–14, which reproduces the paper's 8 successes / 7 failures, and test on the disjoint window 15–44. Earlier mechanism phases used 15–29 as development and 30–44 as held-out.
LIKELY QUESTION: Could the paper's test states simply be easier?
ANSWER: A window scan over our all-50-state run (Phase 6A) gives no contiguous 30-state window above 22/30 for the paper configuration. State choice alone is unlikely to reach 28/30.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Each phase answered one question before the next was chosen.
SAY: The order matters. Mechanism work came before the full-protocol reproduction, and the archaeology came only after the protocol-faithful runs still showed a gap.
LIKELY QUESTION: Why was the mechanism analysis done before the full-protocol reproduction?
ANSWER: The first 15-episode pilots showed no clear effect. Before spending GPU hours on a 132-configuration sweep, we wanted to know whether the intervention could plausibly change behavior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Three independent sessions of global COAST on the same held-out states all land at 19–21/30; unsteered runs land at 17–21/30.
SAY: The fixed paper configuration gave 19 and 20 of 30. Running the paper's oracle procedure over 132 configurations picked L11, α 0.5, β 0.3, which gave 21 of 30. All three are inside the range of our unsteered runs, and far from 28.
LIKELY QUESTION: Maybe you just got unlucky in a single run?
ANSWER: At a true rate of about 0.67, P(≥ 28/30) in one run is 0.0007 (Phase 6A). Pooled over three sessions, 60/90 differs from 28/30 at Fisher p = 0.004. Single-run noise does not explain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Policy sampling noise, not steering, is the dominant source of run-to-run variation at N = 15–30.
SAY: π0.5 samples flow-matching noise from an unseeded CUDA generator. With our seeded paired-noise instrumentation, the same 15 states gave 13, 7 and 10 successes depending only on the master seed. On the fit states, five unsteered sweep baselines ranged from 4 to 11 of 15.
LIKELY QUESTION: Then why not always use paired noise?
ANSWER: We did for the mechanism phases (1D–4A). It makes conditions comparable, but one paired seed is still a sample of size one over noise draws. The protocol-reproduction phases used the released unseeded path, to match the paper's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Because the conceptor term is tiny on visited states, the gate reduces to multiplying h by about 1 − β.
SAY: Expand the gate: h′ = (1−β)h + βCh, so Δh = β(Ch − h). If h has little energy inside C, Ch is small and Δh ≈ −βh. We instrumented the hook: over 9,220 applications the relative change is 0.0994 and the cosine with h is −0.9996. Phase 7A found the same on three other tasks.
LIKELY QUESTION: Isn't shrinking the residual stream by 10% a real intervention?
ANSWER: Yes. It changes actions by about 1.0 on a fixed input. The claim is not 'no effect'; it is that the effect's direction comes from h itself, not from the success-specific subspace. That is what Phase 2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Removing the conceptor, or randomizing its eigenvectors, left episode outcomes essentially unchanged.
SAY: Shrinkage replaces C with zero; random-matched keeps C's eigenvalues and randomizes its eigenvectors. With paired noise, shrinkage matched COAST on 14 of 15 states in both splits, and random matched COAST on 15 of 15 in development and 13 of 15 held-out. Across 30 states, real COAST was never the only condition that differed.
LIKELY QUESTION: Does this prove COAST is just shrinkage?
ANSWER: No. It holds for one task, layer 5, β 0.1 and this conceptor, whose spectrum is weak (λ_max 0.35, median 0.001). Larger β, other layers or other tasks could differ. Phase 7A extends the random-control result to three tasks, with a different builder.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 released code could not have produced some of the paper's numbers, so we searched the public history for the code that did.
SAY: Four observations pushed us there. The per-step α of 10 cannot be expressed in main. The steering code reached main only after submission. The tuned-config file is empty. The Base column equals the fit-set rate for every task.
LIKELY QUESTION: Couldn't the authors simply have used unreleased code?
ANSWER: Yes, that is the most plausible reading, and it is why we looked. The public branches turned out to contain a pipeline whose labels and counts match the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 chronology matters: the likely table generator ran before the code could select held-out init states.
SAY: We inventoried 22 branches and 50 PR heads, inspected 10 branches commit by commit, and searched every ref. The miranda-v2 LIBERO sweep appeared on April 13. Before PR #48 on April 23, the LIBERO client always started from init state 0, so a 15-episode run used states 0–14 — the fit states.
LIKELY QUESTION: Did you modify any upstream refs?
ANSWER: No. PR heads were fetched read-only into a local namespace, and the candidate ran in an isolated, detached worktree with no commits.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Several independent textual and arithmetic matches point to the same pipeline.
SAY: The grid count 152 and the 'Selected Grid 18' match the sweep code exactly. The per-step α = 10 is a loop label. All positive-only cells sit in that code's small grid. Every Table 4 cell is a multiple of 1/15; if the denominator were 30, the chance of that is 4 × 10⁻⁹. The Table 15 caption matches the reporting script.
LIKELY QUESTION: Couldn't k/15 happen by chance?
ANSWER: If each cell were k/30, all 30 numerators would need to be even: P = 4.0 × 10⁻⁹. The test also discriminates: Table 8 (π0-FAST MetaWorld, a 16-environment pipeline) shows k/16.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 paper's KS3 Global number is reachable — but only under fit-state semantics, where controls score just as high.
SAY: We ran the candidate code unmodified on the authors' own fit activations. Global L5 scored 13 and 12 of 15, close to the paper's 14. In the same sessions, unsteered runs scored 11, 10 and 12, and the random control 11 and 12. These are the fit states, so this is not a held-out result.
LIKELY QUESTION: So is the paper's number 'reproduced'?
ANSWER: The number is approximately reproduced under the historical pipeline's own semantics — 15 rollouts on the fitting states. That measures something different from the paper's stated 30-rollout held-out test, and it does not separate steering from no steering.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No public implementation matches the paper text on every component; each differs on different rows.
SAY: Main has the right evaluation mechanism but a different builder. miranda-v2 has a closer builder on pooling and centering, but no held-out split, 15 episodes, a different contrastive product, denoising step 0 only, and a per-step strategy where α is only a label.
LIKELY QUESTION: Do the builder differences matter behaviorally?
ANSWER: At the tested configuration, apparently not much. V0 and the paper-text V3 gave identical outcomes on 15/15 paired states (1D), and every builder we measured acts as ≈ (1−β)h. The evaluation-side differences matter more for the headline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Three more tasks, both evaluation semantics, the same conceptor in both arms.
SAY: We chose tasks only from paper values: the largest, median and smallest paper gain among eligible tasks. Each ran baseline, the paper's exact Global configuration, and the candidate's random control, on the historical fit states and on disjoint held-out states, twice. Only the state window differs between arms.
LIKELY QUESTION: Why use the historical pipeline instead of main here?
ANSWER: To test the protocol question cleanly: the same code and conceptor that plausibly generated the tables, evaluated on two state windows. Differences between arms can then only come from the evaluation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 robust, general finding is not a protocol gap; it is that the paper-selected conceptor does no better than a random one on held-out states.
SAY: On held-out states, Global and Random are identical when pooled: 109 of 180 each, both somewhat above baseline at 92. No task met the pre-registered rule for a clear advantage. The fit-to-held-out gap was +0.03, −0.15 and +0.13: not systematic. On the fit states, the paper's Global values were not reached in the pooled runs.
LIKELY QUESTION: Global beats baseline by +0.09 pooled; isn't that a steering effect?
ANSWER: It is a nonspecific one: the random conceptor gives exactly the same pooled count, and CMH p = 0.086. Whatever helps is shared with a random subspace at the same layer and β — consistent with contraction, not with success-specific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Separate what is measured from what is open, and state explicitly what we do not claim.
SAY: Four statements are supported by our records. Six artifacts would settle the rest, and all of them are with the authors. We make no claim that the paper is invalid, that anything was fabricated, or that COAST fails in general.
LIKELY QUESTION: Is this a negative result about COAST?
ANSWER: It is a negative result about one component under our protocol: on held-out states the conceptor-specific part adds nothing detectable over a random control, in four tasks, with one checkpoint. It is not a verdict on the method or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 remaining unknowns can only be answered by the authors, and the questions are now specific.
SAY: We ask four things: whether Tables 4/17 came from the 15-episode sweep, whether a separate 30-rollout held-out run exists, what per-step α = 10 means, and which builder and checkpoint were used. The framing is about protocol, not correctness.
LIKELY QUESTION: What happens if the author confirms fit-state best-of-sweep reporting?
ANSWER: Then Table 4 would measure selection on the fitting rollouts, and our held-out results (5A–5C, 7A) would be the first held-out estimates. The research question becomes whether any COAST variant helps on held-out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 next step is diagnostic, not a new method; a method idea is kept separate and labelled untested.
SAY: Phase 7B asks whether a directional, norm-preserving component is what the operator lacks, under the same held-out protocol with controls and a power target. Only if that holds does a new intervention make sense, for example h′ = h + γD(h) with D preserving the norm and isolating a success-specific direction.
LIKELY QUESTION: Why not start the new method now?
ANSWER: Any new method must beat baseline and a matched random or shrinkage control on disjoint held-out states, with repeats. With 60 episodes per arm, only differences of about 0.2–0.25 are detectable, so the evaluation design has to come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Gap measured, source largely explained, generalization checked; method work comes after diagnosis.
SAY: If one thing should stay: the reported number is reachable only under fit-state semantics, where no-steering controls score just as well; on held-out states we find no conceptor-specific effect in four tasks.
LIKELY QUESTION: What would change your conclusion?
ANSWER: The authors' summary.json, NPZ and a held-out evaluation showing a conceptor-specific gain; or a Phase 7B result where a directional component beats matched controls on held-out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C17"/>
        </a:solidFill>
      </p:bgPr>
    </p:bg>
    <p:spTree>
      <p:nvGrpSpPr>
        <p:cNvPr id="1" name=""/>
        <p:cNvGrpSpPr/>
        <p:nvPr/>
      </p:nvGrpSpPr>
      <p:grpSpPr>
        <a:xfrm>
          <a:off x="0" y="0"/>
          <a:ext cx="0" cy="0"/>
          <a:chOff x="0" y="0"/>
          <a:chExt cx="0" cy="0"/>
        </a:xfrm>
      </p:grpSpPr>
      <p:sp>
        <p:nvSpPr>
          <p:cNvPr id="2" name="Text 0"/>
          <p:cNvSpPr txBox="1"/>
          <p:nvPr/>
        </p:nvSpPr>
        <p:spPr>
          <a:xfrm>
            <a:off x="731520" y="1234440"/>
            <a:ext cx="6400800" cy="274320"/>
          </a:xfrm>
          <a:prstGeom prst="rect">
            <a:avLst/>
          </a:prstGeom>
          <a:noFill/>
          <a:ln/>
        </p:spPr>
        <p:txBody>
          <a:bodyPr wrap="square" lIns="0" tIns="0" rIns="0" bIns="0" rtlCol="0" anchor="t"/>
          <a:lstStyle/>
          <a:p>
            <a:pPr algn="l" indent="0" marL="0">
              <a:buNone/>
            </a:pPr>
            <a:r>
              <a:rPr lang="en-US" sz="1300" b="1" spc="300" kern="0" dirty="0">
                <a:solidFill>
                  <a:srgbClr val="38BDF8"/>
                </a:solidFill>
                <a:latin typeface="Arial" pitchFamily="34" charset="0"/>
                <a:ea typeface="Arial" pitchFamily="34" charset="-122"/>
                <a:cs typeface="Arial" pitchFamily="34" charset="-120"/>
              </a:rPr>
              <a:t>RESEARCH MEETING · 2026-09-25</a:t>
            </a:r>
            <a:endParaRPr lang="en-US" sz="1300" dirty="0"/>
          </a:p>
        </p:txBody>
      </p:sp>
      <p:sp>
        <p:nvSpPr>
          <p:cNvPr id="3" name="Text 1"/>
          <p:cNvSpPr txBox="1"/>
          <p:nvPr/>
        </p:nvSpPr>
        <p:spPr>
          <a:xfrm>
            <a:off x="731520" y="1645920"/>
            <a:ext cx="7132320" cy="731520"/>
          </a:xfrm>
          <a:prstGeom prst="rect">
            <a:avLst/>
          </a:prstGeom>
          <a:noFill/>
          <a:ln/>
        </p:spPr>
        <p:txBody>
          <a:bodyPr wrap="square" lIns="0" tIns="0" rIns="0" bIns="0" rtlCol="0" anchor="t"/>
          <a:lstStyle/>
          <a:p>
            <a:pPr algn="l" indent="0" marL="0">
              <a:buNone/>
            </a:pPr>
            <a:r>
              <a:rPr lang="en-US" sz="4000" b="1" dirty="0">
                <a:solidFill>
                  <a:srgbClr val="F1F5F9"/>
                </a:solidFill>
                <a:latin typeface="Arial" pitchFamily="34" charset="0"/>
                <a:ea typeface="Arial" pitchFamily="34" charset="-122"/>
                <a:cs typeface="Arial" pitchFamily="34" charset="-120"/>
              </a:rPr>
              <a:t>COAST Reproduction Study</a:t>
            </a:r>
            <a:endParaRPr lang="en-US" sz="4000" dirty="0"/>
          </a:p>
        </p:txBody>
      </p:sp>
      <p:sp>
        <p:nvSpPr>
          <p:cNvPr id="4" name="Text 2"/>
          <p:cNvSpPr txBox="1"/>
          <p:nvPr/>
        </p:nvSpPr>
        <p:spPr>
          <a:xfrm>
            <a:off x="731520" y="2468880"/>
            <a:ext cx="7132320" cy="457200"/>
          </a:xfrm>
          <a:prstGeom prst="rect">
            <a:avLst/>
          </a:prstGeom>
          <a:noFill/>
          <a:ln/>
        </p:spPr>
        <p:txBody>
          <a:bodyPr wrap="square" lIns="0" tIns="0" rIns="0" bIns="0" rtlCol="0" anchor="t"/>
          <a:lstStyle/>
          <a:p>
            <a:pPr algn="l" indent="0" marL="0">
              <a:buNone/>
            </a:pPr>
            <a:r>
              <a:rPr lang="en-US" sz="2200" dirty="0">
                <a:solidFill>
                  <a:srgbClr val="F1F5F9"/>
                </a:solidFill>
                <a:latin typeface="Arial" pitchFamily="34" charset="0"/>
                <a:ea typeface="Arial" pitchFamily="34" charset="-122"/>
                <a:cs typeface="Arial" pitchFamily="34" charset="-120"/>
              </a:rPr>
              <a:t>From Reproduction Gap to Mechanistic Diagnosis</a:t>
            </a:r>
            <a:endParaRPr lang="en-US" sz="2200" dirty="0"/>
          </a:p>
        </p:txBody>
      </p:sp>
      <p:sp>
        <p:nvSpPr>
          <p:cNvPr id="5" name="Text 3"/>
          <p:cNvSpPr txBox="1"/>
          <p:nvPr/>
        </p:nvSpPr>
        <p:spPr>
          <a:xfrm>
            <a:off x="731520" y="3017520"/>
            <a:ext cx="7132320" cy="365760"/>
          </a:xfrm>
          <a:prstGeom prst="rect">
            <a:avLst/>
          </a:prstGeom>
          <a:noFill/>
          <a:ln/>
        </p:spPr>
        <p:txBody>
          <a:bodyPr wrap="square" lIns="0" tIns="0" rIns="0" bIns="0" rtlCol="0" anchor="t"/>
          <a:lstStyle/>
          <a:p>
            <a:pPr algn="l" indent="0" marL="0">
              <a:buNone/>
            </a:pPr>
            <a:r>
              <a:rPr lang="en-US" sz="1900" dirty="0">
                <a:solidFill>
                  <a:srgbClr val="38BDF8"/>
                </a:solidFill>
                <a:latin typeface="Arial" pitchFamily="34" charset="0"/>
                <a:ea typeface="Arial" pitchFamily="34" charset="-122"/>
                <a:cs typeface="Arial" pitchFamily="34" charset="-120"/>
              </a:rPr>
              <a:t>π0.5 · LIBERO-10 · KS3 and Cross-Task Validation</a:t>
            </a:r>
            <a:endParaRPr lang="en-US" sz="1900" dirty="0"/>
          </a:p>
        </p:txBody>
      </p:sp>
      <p:sp>
        <p:nvSpPr>
          <p:cNvPr id="6" name="Text 4"/>
          <p:cNvSpPr txBox="1"/>
          <p:nvPr/>
        </p:nvSpPr>
        <p:spPr>
          <a:xfrm>
            <a:off x="731520" y="4343400"/>
            <a:ext cx="6400800" cy="365760"/>
          </a:xfrm>
          <a:prstGeom prst="rect">
            <a:avLst/>
          </a:prstGeom>
          <a:noFill/>
          <a:ln/>
        </p:spPr>
        <p:txBody>
          <a:bodyPr wrap="square" lIns="0" tIns="0" rIns="0" bIns="0" rtlCol="0" anchor="t"/>
          <a:lstStyle/>
          <a:p>
            <a:pPr algn="l" indent="0" marL="0">
              <a:buNone/>
            </a:pPr>
            <a:r>
              <a:rPr lang="en-US" sz="2200" b="1" dirty="0">
                <a:solidFill>
                  <a:srgbClr val="F1F5F9"/>
                </a:solidFill>
                <a:latin typeface="Arial" pitchFamily="34" charset="0"/>
                <a:ea typeface="Arial" pitchFamily="34" charset="-122"/>
                <a:cs typeface="Arial" pitchFamily="34" charset="-120"/>
              </a:rPr>
              <a:t>Stanley Chueh</a:t>
            </a:r>
            <a:endParaRPr lang="en-US" sz="2200" dirty="0"/>
          </a:p>
        </p:txBody>
      </p:sp>
      <p:sp>
        <p:nvSpPr>
          <p:cNvPr id="7" name="Text 5"/>
          <p:cNvSpPr txBox="1"/>
          <p:nvPr/>
        </p:nvSpPr>
        <p:spPr>
          <a:xfrm>
            <a:off x="731520" y="4754880"/>
            <a:ext cx="6583680" cy="685800"/>
          </a:xfrm>
          <a:prstGeom prst="rect">
            <a:avLst/>
          </a:prstGeom>
          <a:noFill/>
          <a:ln/>
        </p:spPr>
        <p:txBody>
          <a:bodyPr wrap="square" lIns="0" tIns="0" rIns="0" bIns="0" rtlCol="0" anchor="t"/>
          <a:lstStyle/>
          <a:p>
            <a:pPr algn="l" indent="0" marL="0">
              <a:buNone/>
            </a:pPr>
            <a:r>
              <a:rPr lang="en-US" sz="1400" dirty="0">
                <a:solidFill>
                  <a:srgbClr val="A7B4C8"/>
                </a:solidFill>
                <a:latin typeface="Arial" pitchFamily="34" charset="0"/>
                <a:ea typeface="Arial" pitchFamily="34" charset="-122"/>
                <a:cs typeface="Arial" pitchFamily="34" charset="-120"/>
              </a:rPr>
              <a:t>Reproducing arXiv:2605.17144 v1 — Contrastive Conceptor Activation Steering (COAST)</a:t>
            </a:r>
            <a:endParaRPr lang="en-US" sz="1400" dirty="0"/>
          </a:p>
          <a:p>
            <a:pPr algn="l" indent="0" marL="0">
              <a:buNone/>
            </a:pPr>
            <a:r>
              <a:rPr lang="en-US" sz="1400" dirty="0">
                <a:solidFill>
                  <a:srgbClr val="6B7A93"/>
                </a:solidFill>
                <a:latin typeface="Arial" pitchFamily="34" charset="0"/>
                <a:ea typeface="Arial" pitchFamily="34" charset="-122"/>
                <a:cs typeface="Arial" pitchFamily="34" charset="-120"/>
              </a:rPr>
              <a:t>Paper authors: Miao, Kim, Yang, Ungar</a:t>
            </a:r>
            <a:endParaRPr lang="en-US" sz="1400" dirty="0"/>
          </a:p>
        </p:txBody>
      </p:sp>
      <p:sp>
        <p:nvSpPr>
          <p:cNvPr id="8" name="Shape 6"/>
          <p:cNvSpPr/>
          <p:nvPr/>
        </p:nvSpPr>
        <p:spPr>
          <a:xfrm>
            <a:off x="731520" y="5715000"/>
            <a:ext cx="3301837" cy="310896"/>
          </a:xfrm>
          <a:prstGeom prst="roundRect">
            <a:avLst>
              <a:gd name="adj" fmla="val 50000"/>
            </a:avLst>
          </a:prstGeom>
          <a:solidFill>
            <a:srgbClr val="131E33"/>
          </a:solidFill>
          <a:ln w="12700">
            <a:solidFill>
              <a:srgbClr val="4CC38A"/>
            </a:solidFill>
            <a:prstDash val="solid"/>
          </a:ln>
        </p:spPr>
      </p:sp>
      <p:sp>
        <p:nvSpPr>
          <p:cNvPr id="9" name="Text 7"/>
          <p:cNvSpPr txBox="1"/>
          <p:nvPr/>
        </p:nvSpPr>
        <p:spPr>
          <a:xfrm>
            <a:off x="731520" y="5715000"/>
            <a:ext cx="3301837" cy="310896"/>
          </a:xfrm>
          <a:prstGeom prst="rect">
            <a:avLst/>
          </a:prstGeom>
          <a:noFill/>
          <a:ln/>
        </p:spPr>
        <p:txBody>
          <a:bodyPr wrap="square" lIns="0" tIns="0" rIns="0" bIns="0" rtlCol="0" anchor="ctr"/>
          <a:lstStyle/>
          <a:p>
            <a:pPr algn="ctr" indent="0" marL="0">
              <a:buNone/>
            </a:pPr>
            <a:r>
              <a:rPr lang="en-US" sz="1200" b="1" spc="100" kern="0" dirty="0">
                <a:solidFill>
                  <a:srgbClr val="4CC38A"/>
                </a:solidFill>
                <a:latin typeface="Arial" pitchFamily="34" charset="0"/>
                <a:ea typeface="Arial" pitchFamily="34" charset="-122"/>
                <a:cs typeface="Arial" pitchFamily="34" charset="-120"/>
              </a:rPr>
              <a:t>UPDATED THROUGH PHASE 7A</a:t>
            </a:r>
            <a:endParaRPr lang="en-US" sz="1200" dirty="0"/>
          </a:p>
        </p:txBody>
      </p:sp>
      <p:sp>
        <p:nvSpPr>
          <p:cNvPr id="10" name="Shape 8"/>
          <p:cNvSpPr/>
          <p:nvPr/>
        </p:nvSpPr>
        <p:spPr>
          <a:xfrm>
            <a:off x="7973568" y="1664208"/>
            <a:ext cx="237744" cy="237744"/>
          </a:xfrm>
          <a:prstGeom prst="ellipse">
            <a:avLst/>
          </a:prstGeom>
          <a:solidFill>
            <a:srgbClr val="0B1220"/>
          </a:solidFill>
          <a:ln w="22225">
            <a:solidFill>
              <a:srgbClr val="F1F5F9"/>
            </a:solidFill>
            <a:prstDash val="solid"/>
          </a:ln>
        </p:spPr>
      </p:sp>
      <p:sp>
        <p:nvSpPr>
          <p:cNvPr id="11" name="Shape 9"/>
          <p:cNvSpPr/>
          <p:nvPr/>
        </p:nvSpPr>
        <p:spPr>
          <a:xfrm>
            <a:off x="8339328" y="1664208"/>
            <a:ext cx="237744" cy="237744"/>
          </a:xfrm>
          <a:prstGeom prst="ellipse">
            <a:avLst/>
          </a:prstGeom>
          <a:solidFill>
            <a:srgbClr val="0B1220"/>
          </a:solidFill>
          <a:ln w="22225">
            <a:solidFill>
              <a:srgbClr val="F1F5F9"/>
            </a:solidFill>
            <a:prstDash val="solid"/>
          </a:ln>
        </p:spPr>
      </p:sp>
      <p:sp>
        <p:nvSpPr>
          <p:cNvPr id="12" name="Shape 10"/>
          <p:cNvSpPr/>
          <p:nvPr/>
        </p:nvSpPr>
        <p:spPr>
          <a:xfrm>
            <a:off x="8705088" y="1664208"/>
            <a:ext cx="237744" cy="237744"/>
          </a:xfrm>
          <a:prstGeom prst="ellipse">
            <a:avLst/>
          </a:prstGeom>
          <a:solidFill>
            <a:srgbClr val="0B1220"/>
          </a:solidFill>
          <a:ln w="22225">
            <a:solidFill>
              <a:srgbClr val="F1F5F9"/>
            </a:solidFill>
            <a:prstDash val="solid"/>
          </a:ln>
        </p:spPr>
      </p:sp>
      <p:sp>
        <p:nvSpPr>
          <p:cNvPr id="13" name="Shape 11"/>
          <p:cNvSpPr/>
          <p:nvPr/>
        </p:nvSpPr>
        <p:spPr>
          <a:xfrm>
            <a:off x="9070848" y="1664208"/>
            <a:ext cx="237744" cy="237744"/>
          </a:xfrm>
          <a:prstGeom prst="ellipse">
            <a:avLst/>
          </a:prstGeom>
          <a:solidFill>
            <a:srgbClr val="0B1220"/>
          </a:solidFill>
          <a:ln w="22225">
            <a:solidFill>
              <a:srgbClr val="F1F5F9"/>
            </a:solidFill>
            <a:prstDash val="solid"/>
          </a:ln>
        </p:spPr>
      </p:sp>
      <p:sp>
        <p:nvSpPr>
          <p:cNvPr id="14" name="Shape 12"/>
          <p:cNvSpPr/>
          <p:nvPr/>
        </p:nvSpPr>
        <p:spPr>
          <a:xfrm>
            <a:off x="9436608" y="1664208"/>
            <a:ext cx="237744" cy="237744"/>
          </a:xfrm>
          <a:prstGeom prst="ellipse">
            <a:avLst/>
          </a:prstGeom>
          <a:solidFill>
            <a:srgbClr val="0B1220"/>
          </a:solidFill>
          <a:ln w="22225">
            <a:solidFill>
              <a:srgbClr val="F1F5F9"/>
            </a:solidFill>
            <a:prstDash val="solid"/>
          </a:ln>
        </p:spPr>
      </p:sp>
      <p:sp>
        <p:nvSpPr>
          <p:cNvPr id="15" name="Shape 13"/>
          <p:cNvSpPr/>
          <p:nvPr/>
        </p:nvSpPr>
        <p:spPr>
          <a:xfrm>
            <a:off x="9802368" y="1664208"/>
            <a:ext cx="237744" cy="237744"/>
          </a:xfrm>
          <a:prstGeom prst="ellipse">
            <a:avLst/>
          </a:prstGeom>
          <a:solidFill>
            <a:srgbClr val="0B1220"/>
          </a:solidFill>
          <a:ln w="22225">
            <a:solidFill>
              <a:srgbClr val="F1F5F9"/>
            </a:solidFill>
            <a:prstDash val="solid"/>
          </a:ln>
        </p:spPr>
      </p:sp>
      <p:sp>
        <p:nvSpPr>
          <p:cNvPr id="16" name="Shape 14"/>
          <p:cNvSpPr/>
          <p:nvPr/>
        </p:nvSpPr>
        <p:spPr>
          <a:xfrm>
            <a:off x="10168128" y="1664208"/>
            <a:ext cx="237744" cy="237744"/>
          </a:xfrm>
          <a:prstGeom prst="ellipse">
            <a:avLst/>
          </a:prstGeom>
          <a:solidFill>
            <a:srgbClr val="0B1220"/>
          </a:solidFill>
          <a:ln w="22225">
            <a:solidFill>
              <a:srgbClr val="F1F5F9"/>
            </a:solidFill>
            <a:prstDash val="solid"/>
          </a:ln>
        </p:spPr>
      </p:sp>
      <p:sp>
        <p:nvSpPr>
          <p:cNvPr id="17" name="Shape 15"/>
          <p:cNvSpPr/>
          <p:nvPr/>
        </p:nvSpPr>
        <p:spPr>
          <a:xfrm>
            <a:off x="10533888" y="1664208"/>
            <a:ext cx="237744" cy="237744"/>
          </a:xfrm>
          <a:prstGeom prst="ellipse">
            <a:avLst/>
          </a:prstGeom>
          <a:solidFill>
            <a:srgbClr val="0B1220"/>
          </a:solidFill>
          <a:ln w="22225">
            <a:solidFill>
              <a:srgbClr val="F1F5F9"/>
            </a:solidFill>
            <a:prstDash val="solid"/>
          </a:ln>
        </p:spPr>
      </p:sp>
      <p:sp>
        <p:nvSpPr>
          <p:cNvPr id="18" name="Shape 16"/>
          <p:cNvSpPr/>
          <p:nvPr/>
        </p:nvSpPr>
        <p:spPr>
          <a:xfrm>
            <a:off x="10899648" y="1664208"/>
            <a:ext cx="237744" cy="237744"/>
          </a:xfrm>
          <a:prstGeom prst="ellipse">
            <a:avLst/>
          </a:prstGeom>
          <a:solidFill>
            <a:srgbClr val="0B1220"/>
          </a:solidFill>
          <a:ln w="22225">
            <a:solidFill>
              <a:srgbClr val="F1F5F9"/>
            </a:solidFill>
            <a:prstDash val="solid"/>
          </a:ln>
        </p:spPr>
      </p:sp>
      <p:sp>
        <p:nvSpPr>
          <p:cNvPr id="19" name="Shape 17"/>
          <p:cNvSpPr/>
          <p:nvPr/>
        </p:nvSpPr>
        <p:spPr>
          <a:xfrm>
            <a:off x="11265408" y="1664208"/>
            <a:ext cx="237744" cy="237744"/>
          </a:xfrm>
          <a:prstGeom prst="ellipse">
            <a:avLst/>
          </a:prstGeom>
          <a:solidFill>
            <a:srgbClr val="0B1220"/>
          </a:solidFill>
          <a:ln w="22225">
            <a:solidFill>
              <a:srgbClr val="F1F5F9"/>
            </a:solidFill>
            <a:prstDash val="solid"/>
          </a:ln>
        </p:spPr>
      </p:sp>
      <p:sp>
        <p:nvSpPr>
          <p:cNvPr id="20" name="Shape 18"/>
          <p:cNvSpPr/>
          <p:nvPr/>
        </p:nvSpPr>
        <p:spPr>
          <a:xfrm>
            <a:off x="7973568" y="2029968"/>
            <a:ext cx="237744" cy="237744"/>
          </a:xfrm>
          <a:prstGeom prst="ellipse">
            <a:avLst/>
          </a:prstGeom>
          <a:solidFill>
            <a:srgbClr val="0B1220"/>
          </a:solidFill>
          <a:ln w="22225">
            <a:solidFill>
              <a:srgbClr val="F1F5F9"/>
            </a:solidFill>
            <a:prstDash val="solid"/>
          </a:ln>
        </p:spPr>
      </p:sp>
      <p:sp>
        <p:nvSpPr>
          <p:cNvPr id="21" name="Shape 19"/>
          <p:cNvSpPr/>
          <p:nvPr/>
        </p:nvSpPr>
        <p:spPr>
          <a:xfrm>
            <a:off x="8339328" y="2029968"/>
            <a:ext cx="237744" cy="237744"/>
          </a:xfrm>
          <a:prstGeom prst="ellipse">
            <a:avLst/>
          </a:prstGeom>
          <a:solidFill>
            <a:srgbClr val="0B1220"/>
          </a:solidFill>
          <a:ln w="22225">
            <a:solidFill>
              <a:srgbClr val="F1F5F9"/>
            </a:solidFill>
            <a:prstDash val="solid"/>
          </a:ln>
        </p:spPr>
      </p:sp>
      <p:sp>
        <p:nvSpPr>
          <p:cNvPr id="22" name="Shape 20"/>
          <p:cNvSpPr/>
          <p:nvPr/>
        </p:nvSpPr>
        <p:spPr>
          <a:xfrm>
            <a:off x="8705088" y="2029968"/>
            <a:ext cx="237744" cy="237744"/>
          </a:xfrm>
          <a:prstGeom prst="ellipse">
            <a:avLst/>
          </a:prstGeom>
          <a:solidFill>
            <a:srgbClr val="0B1220"/>
          </a:solidFill>
          <a:ln w="22225">
            <a:solidFill>
              <a:srgbClr val="F1F5F9"/>
            </a:solidFill>
            <a:prstDash val="solid"/>
          </a:ln>
        </p:spPr>
      </p:sp>
      <p:sp>
        <p:nvSpPr>
          <p:cNvPr id="23" name="Shape 21"/>
          <p:cNvSpPr/>
          <p:nvPr/>
        </p:nvSpPr>
        <p:spPr>
          <a:xfrm>
            <a:off x="9070848" y="2029968"/>
            <a:ext cx="237744" cy="237744"/>
          </a:xfrm>
          <a:prstGeom prst="ellipse">
            <a:avLst/>
          </a:prstGeom>
          <a:solidFill>
            <a:srgbClr val="0B1220"/>
          </a:solidFill>
          <a:ln w="22225">
            <a:solidFill>
              <a:srgbClr val="F1F5F9"/>
            </a:solidFill>
            <a:prstDash val="solid"/>
          </a:ln>
        </p:spPr>
      </p:sp>
      <p:sp>
        <p:nvSpPr>
          <p:cNvPr id="24" name="Shape 22"/>
          <p:cNvSpPr/>
          <p:nvPr/>
        </p:nvSpPr>
        <p:spPr>
          <a:xfrm>
            <a:off x="9436608" y="2029968"/>
            <a:ext cx="237744" cy="237744"/>
          </a:xfrm>
          <a:prstGeom prst="ellipse">
            <a:avLst/>
          </a:prstGeom>
          <a:solidFill>
            <a:srgbClr val="0B1220"/>
          </a:solidFill>
          <a:ln w="22225">
            <a:solidFill>
              <a:srgbClr val="F1F5F9"/>
            </a:solidFill>
            <a:prstDash val="solid"/>
          </a:ln>
        </p:spPr>
      </p:sp>
      <p:sp>
        <p:nvSpPr>
          <p:cNvPr id="25" name="Shape 23"/>
          <p:cNvSpPr/>
          <p:nvPr/>
        </p:nvSpPr>
        <p:spPr>
          <a:xfrm>
            <a:off x="9802368" y="2029968"/>
            <a:ext cx="237744" cy="237744"/>
          </a:xfrm>
          <a:prstGeom prst="ellipse">
            <a:avLst/>
          </a:prstGeom>
          <a:solidFill>
            <a:srgbClr val="38BDF8"/>
          </a:solidFill>
          <a:ln w="9525">
            <a:solidFill>
              <a:srgbClr val="38BDF8"/>
            </a:solidFill>
            <a:prstDash val="solid"/>
          </a:ln>
        </p:spPr>
      </p:sp>
      <p:sp>
        <p:nvSpPr>
          <p:cNvPr id="26" name="Shape 24"/>
          <p:cNvSpPr/>
          <p:nvPr/>
        </p:nvSpPr>
        <p:spPr>
          <a:xfrm>
            <a:off x="10168128" y="2029968"/>
            <a:ext cx="237744" cy="237744"/>
          </a:xfrm>
          <a:prstGeom prst="ellipse">
            <a:avLst/>
          </a:prstGeom>
          <a:solidFill>
            <a:srgbClr val="38BDF8"/>
          </a:solidFill>
          <a:ln w="9525">
            <a:solidFill>
              <a:srgbClr val="38BDF8"/>
            </a:solidFill>
            <a:prstDash val="solid"/>
          </a:ln>
        </p:spPr>
      </p:sp>
      <p:sp>
        <p:nvSpPr>
          <p:cNvPr id="27" name="Shape 25"/>
          <p:cNvSpPr/>
          <p:nvPr/>
        </p:nvSpPr>
        <p:spPr>
          <a:xfrm>
            <a:off x="10533888" y="2029968"/>
            <a:ext cx="237744" cy="237744"/>
          </a:xfrm>
          <a:prstGeom prst="ellipse">
            <a:avLst/>
          </a:prstGeom>
          <a:solidFill>
            <a:srgbClr val="38BDF8"/>
          </a:solidFill>
          <a:ln w="9525">
            <a:solidFill>
              <a:srgbClr val="38BDF8"/>
            </a:solidFill>
            <a:prstDash val="solid"/>
          </a:ln>
        </p:spPr>
      </p:sp>
      <p:sp>
        <p:nvSpPr>
          <p:cNvPr id="28" name="Shape 26"/>
          <p:cNvSpPr/>
          <p:nvPr/>
        </p:nvSpPr>
        <p:spPr>
          <a:xfrm>
            <a:off x="10899648" y="2029968"/>
            <a:ext cx="237744" cy="237744"/>
          </a:xfrm>
          <a:prstGeom prst="ellipse">
            <a:avLst/>
          </a:prstGeom>
          <a:solidFill>
            <a:srgbClr val="38BDF8"/>
          </a:solidFill>
          <a:ln w="9525">
            <a:solidFill>
              <a:srgbClr val="38BDF8"/>
            </a:solidFill>
            <a:prstDash val="solid"/>
          </a:ln>
        </p:spPr>
      </p:sp>
      <p:sp>
        <p:nvSpPr>
          <p:cNvPr id="29" name="Shape 27"/>
          <p:cNvSpPr/>
          <p:nvPr/>
        </p:nvSpPr>
        <p:spPr>
          <a:xfrm>
            <a:off x="11265408" y="2029968"/>
            <a:ext cx="237744" cy="237744"/>
          </a:xfrm>
          <a:prstGeom prst="ellipse">
            <a:avLst/>
          </a:prstGeom>
          <a:solidFill>
            <a:srgbClr val="38BDF8"/>
          </a:solidFill>
          <a:ln w="9525">
            <a:solidFill>
              <a:srgbClr val="38BDF8"/>
            </a:solidFill>
            <a:prstDash val="solid"/>
          </a:ln>
        </p:spPr>
      </p:sp>
      <p:sp>
        <p:nvSpPr>
          <p:cNvPr id="30" name="Shape 28"/>
          <p:cNvSpPr/>
          <p:nvPr/>
        </p:nvSpPr>
        <p:spPr>
          <a:xfrm>
            <a:off x="7973568" y="2395728"/>
            <a:ext cx="237744" cy="237744"/>
          </a:xfrm>
          <a:prstGeom prst="ellipse">
            <a:avLst/>
          </a:prstGeom>
          <a:solidFill>
            <a:srgbClr val="38BDF8"/>
          </a:solidFill>
          <a:ln w="9525">
            <a:solidFill>
              <a:srgbClr val="38BDF8"/>
            </a:solidFill>
            <a:prstDash val="solid"/>
          </a:ln>
        </p:spPr>
      </p:sp>
      <p:sp>
        <p:nvSpPr>
          <p:cNvPr id="31" name="Shape 29"/>
          <p:cNvSpPr/>
          <p:nvPr/>
        </p:nvSpPr>
        <p:spPr>
          <a:xfrm>
            <a:off x="8339328" y="2395728"/>
            <a:ext cx="237744" cy="237744"/>
          </a:xfrm>
          <a:prstGeom prst="ellipse">
            <a:avLst/>
          </a:prstGeom>
          <a:solidFill>
            <a:srgbClr val="38BDF8"/>
          </a:solidFill>
          <a:ln w="9525">
            <a:solidFill>
              <a:srgbClr val="38BDF8"/>
            </a:solidFill>
            <a:prstDash val="solid"/>
          </a:ln>
        </p:spPr>
      </p:sp>
      <p:sp>
        <p:nvSpPr>
          <p:cNvPr id="32" name="Shape 30"/>
          <p:cNvSpPr/>
          <p:nvPr/>
        </p:nvSpPr>
        <p:spPr>
          <a:xfrm>
            <a:off x="8705088" y="2395728"/>
            <a:ext cx="237744" cy="237744"/>
          </a:xfrm>
          <a:prstGeom prst="ellipse">
            <a:avLst/>
          </a:prstGeom>
          <a:solidFill>
            <a:srgbClr val="38BDF8"/>
          </a:solidFill>
          <a:ln w="9525">
            <a:solidFill>
              <a:srgbClr val="38BDF8"/>
            </a:solidFill>
            <a:prstDash val="solid"/>
          </a:ln>
        </p:spPr>
      </p:sp>
      <p:sp>
        <p:nvSpPr>
          <p:cNvPr id="33" name="Shape 31"/>
          <p:cNvSpPr/>
          <p:nvPr/>
        </p:nvSpPr>
        <p:spPr>
          <a:xfrm>
            <a:off x="9070848" y="2395728"/>
            <a:ext cx="237744" cy="237744"/>
          </a:xfrm>
          <a:prstGeom prst="ellipse">
            <a:avLst/>
          </a:prstGeom>
          <a:solidFill>
            <a:srgbClr val="38BDF8"/>
          </a:solidFill>
          <a:ln w="9525">
            <a:solidFill>
              <a:srgbClr val="38BDF8"/>
            </a:solidFill>
            <a:prstDash val="solid"/>
          </a:ln>
        </p:spPr>
      </p:sp>
      <p:sp>
        <p:nvSpPr>
          <p:cNvPr id="34" name="Shape 32"/>
          <p:cNvSpPr/>
          <p:nvPr/>
        </p:nvSpPr>
        <p:spPr>
          <a:xfrm>
            <a:off x="9436608" y="2395728"/>
            <a:ext cx="237744" cy="237744"/>
          </a:xfrm>
          <a:prstGeom prst="ellipse">
            <a:avLst/>
          </a:prstGeom>
          <a:solidFill>
            <a:srgbClr val="38BDF8"/>
          </a:solidFill>
          <a:ln w="9525">
            <a:solidFill>
              <a:srgbClr val="38BDF8"/>
            </a:solidFill>
            <a:prstDash val="solid"/>
          </a:ln>
        </p:spPr>
      </p:sp>
      <p:sp>
        <p:nvSpPr>
          <p:cNvPr id="35" name="Shape 33"/>
          <p:cNvSpPr/>
          <p:nvPr/>
        </p:nvSpPr>
        <p:spPr>
          <a:xfrm>
            <a:off x="9802368" y="2395728"/>
            <a:ext cx="237744" cy="237744"/>
          </a:xfrm>
          <a:prstGeom prst="ellipse">
            <a:avLst/>
          </a:prstGeom>
          <a:solidFill>
            <a:srgbClr val="38BDF8"/>
          </a:solidFill>
          <a:ln w="9525">
            <a:solidFill>
              <a:srgbClr val="38BDF8"/>
            </a:solidFill>
            <a:prstDash val="solid"/>
          </a:ln>
        </p:spPr>
      </p:sp>
      <p:sp>
        <p:nvSpPr>
          <p:cNvPr id="36" name="Shape 34"/>
          <p:cNvSpPr/>
          <p:nvPr/>
        </p:nvSpPr>
        <p:spPr>
          <a:xfrm>
            <a:off x="10168128" y="2395728"/>
            <a:ext cx="237744" cy="237744"/>
          </a:xfrm>
          <a:prstGeom prst="ellipse">
            <a:avLst/>
          </a:prstGeom>
          <a:solidFill>
            <a:srgbClr val="38BDF8"/>
          </a:solidFill>
          <a:ln w="9525">
            <a:solidFill>
              <a:srgbClr val="38BDF8"/>
            </a:solidFill>
            <a:prstDash val="solid"/>
          </a:ln>
        </p:spPr>
      </p:sp>
      <p:sp>
        <p:nvSpPr>
          <p:cNvPr id="37" name="Shape 35"/>
          <p:cNvSpPr/>
          <p:nvPr/>
        </p:nvSpPr>
        <p:spPr>
          <a:xfrm>
            <a:off x="10533888" y="2395728"/>
            <a:ext cx="237744" cy="237744"/>
          </a:xfrm>
          <a:prstGeom prst="ellipse">
            <a:avLst/>
          </a:prstGeom>
          <a:solidFill>
            <a:srgbClr val="38BDF8"/>
          </a:solidFill>
          <a:ln w="9525">
            <a:solidFill>
              <a:srgbClr val="38BDF8"/>
            </a:solidFill>
            <a:prstDash val="solid"/>
          </a:ln>
        </p:spPr>
      </p:sp>
      <p:sp>
        <p:nvSpPr>
          <p:cNvPr id="38" name="Shape 36"/>
          <p:cNvSpPr/>
          <p:nvPr/>
        </p:nvSpPr>
        <p:spPr>
          <a:xfrm>
            <a:off x="10899648" y="2395728"/>
            <a:ext cx="237744" cy="237744"/>
          </a:xfrm>
          <a:prstGeom prst="ellipse">
            <a:avLst/>
          </a:prstGeom>
          <a:solidFill>
            <a:srgbClr val="38BDF8"/>
          </a:solidFill>
          <a:ln w="9525">
            <a:solidFill>
              <a:srgbClr val="38BDF8"/>
            </a:solidFill>
            <a:prstDash val="solid"/>
          </a:ln>
        </p:spPr>
      </p:sp>
      <p:sp>
        <p:nvSpPr>
          <p:cNvPr id="39" name="Shape 37"/>
          <p:cNvSpPr/>
          <p:nvPr/>
        </p:nvSpPr>
        <p:spPr>
          <a:xfrm>
            <a:off x="11265408" y="2395728"/>
            <a:ext cx="237744" cy="237744"/>
          </a:xfrm>
          <a:prstGeom prst="ellipse">
            <a:avLst/>
          </a:prstGeom>
          <a:solidFill>
            <a:srgbClr val="38BDF8"/>
          </a:solidFill>
          <a:ln w="9525">
            <a:solidFill>
              <a:srgbClr val="38BDF8"/>
            </a:solidFill>
            <a:prstDash val="solid"/>
          </a:ln>
        </p:spPr>
      </p:sp>
      <p:sp>
        <p:nvSpPr>
          <p:cNvPr id="40" name="Shape 38"/>
          <p:cNvSpPr/>
          <p:nvPr/>
        </p:nvSpPr>
        <p:spPr>
          <a:xfrm>
            <a:off x="7973568" y="2761488"/>
            <a:ext cx="237744" cy="237744"/>
          </a:xfrm>
          <a:prstGeom prst="ellipse">
            <a:avLst/>
          </a:prstGeom>
          <a:solidFill>
            <a:srgbClr val="38BDF8"/>
          </a:solidFill>
          <a:ln w="9525">
            <a:solidFill>
              <a:srgbClr val="38BDF8"/>
            </a:solidFill>
            <a:prstDash val="solid"/>
          </a:ln>
        </p:spPr>
      </p:sp>
      <p:sp>
        <p:nvSpPr>
          <p:cNvPr id="41" name="Shape 39"/>
          <p:cNvSpPr/>
          <p:nvPr/>
        </p:nvSpPr>
        <p:spPr>
          <a:xfrm>
            <a:off x="8339328" y="2761488"/>
            <a:ext cx="237744" cy="237744"/>
          </a:xfrm>
          <a:prstGeom prst="ellipse">
            <a:avLst/>
          </a:prstGeom>
          <a:solidFill>
            <a:srgbClr val="38BDF8"/>
          </a:solidFill>
          <a:ln w="9525">
            <a:solidFill>
              <a:srgbClr val="38BDF8"/>
            </a:solidFill>
            <a:prstDash val="solid"/>
          </a:ln>
        </p:spPr>
      </p:sp>
      <p:sp>
        <p:nvSpPr>
          <p:cNvPr id="42" name="Shape 40"/>
          <p:cNvSpPr/>
          <p:nvPr/>
        </p:nvSpPr>
        <p:spPr>
          <a:xfrm>
            <a:off x="8705088" y="2761488"/>
            <a:ext cx="237744" cy="237744"/>
          </a:xfrm>
          <a:prstGeom prst="ellipse">
            <a:avLst/>
          </a:prstGeom>
          <a:solidFill>
            <a:srgbClr val="38BDF8"/>
          </a:solidFill>
          <a:ln w="9525">
            <a:solidFill>
              <a:srgbClr val="38BDF8"/>
            </a:solidFill>
            <a:prstDash val="solid"/>
          </a:ln>
        </p:spPr>
      </p:sp>
      <p:sp>
        <p:nvSpPr>
          <p:cNvPr id="43" name="Shape 41"/>
          <p:cNvSpPr/>
          <p:nvPr/>
        </p:nvSpPr>
        <p:spPr>
          <a:xfrm>
            <a:off x="9070848" y="2761488"/>
            <a:ext cx="237744" cy="237744"/>
          </a:xfrm>
          <a:prstGeom prst="ellipse">
            <a:avLst/>
          </a:prstGeom>
          <a:solidFill>
            <a:srgbClr val="38BDF8"/>
          </a:solidFill>
          <a:ln w="9525">
            <a:solidFill>
              <a:srgbClr val="38BDF8"/>
            </a:solidFill>
            <a:prstDash val="solid"/>
          </a:ln>
        </p:spPr>
      </p:sp>
      <p:sp>
        <p:nvSpPr>
          <p:cNvPr id="44" name="Shape 42"/>
          <p:cNvSpPr/>
          <p:nvPr/>
        </p:nvSpPr>
        <p:spPr>
          <a:xfrm>
            <a:off x="9436608" y="2761488"/>
            <a:ext cx="237744" cy="237744"/>
          </a:xfrm>
          <a:prstGeom prst="ellipse">
            <a:avLst/>
          </a:prstGeom>
          <a:solidFill>
            <a:srgbClr val="38BDF8"/>
          </a:solidFill>
          <a:ln w="9525">
            <a:solidFill>
              <a:srgbClr val="38BDF8"/>
            </a:solidFill>
            <a:prstDash val="solid"/>
          </a:ln>
        </p:spPr>
      </p:sp>
      <p:sp>
        <p:nvSpPr>
          <p:cNvPr id="45" name="Shape 43"/>
          <p:cNvSpPr/>
          <p:nvPr/>
        </p:nvSpPr>
        <p:spPr>
          <a:xfrm>
            <a:off x="9802368" y="2761488"/>
            <a:ext cx="237744" cy="237744"/>
          </a:xfrm>
          <a:prstGeom prst="ellipse">
            <a:avLst/>
          </a:prstGeom>
          <a:solidFill>
            <a:srgbClr val="38BDF8"/>
          </a:solidFill>
          <a:ln w="9525">
            <a:solidFill>
              <a:srgbClr val="38BDF8"/>
            </a:solidFill>
            <a:prstDash val="solid"/>
          </a:ln>
        </p:spPr>
      </p:sp>
      <p:sp>
        <p:nvSpPr>
          <p:cNvPr id="46" name="Shape 44"/>
          <p:cNvSpPr/>
          <p:nvPr/>
        </p:nvSpPr>
        <p:spPr>
          <a:xfrm>
            <a:off x="10168128" y="2761488"/>
            <a:ext cx="237744" cy="237744"/>
          </a:xfrm>
          <a:prstGeom prst="ellipse">
            <a:avLst/>
          </a:prstGeom>
          <a:solidFill>
            <a:srgbClr val="38BDF8"/>
          </a:solidFill>
          <a:ln w="9525">
            <a:solidFill>
              <a:srgbClr val="38BDF8"/>
            </a:solidFill>
            <a:prstDash val="solid"/>
          </a:ln>
        </p:spPr>
      </p:sp>
      <p:sp>
        <p:nvSpPr>
          <p:cNvPr id="47" name="Shape 45"/>
          <p:cNvSpPr/>
          <p:nvPr/>
        </p:nvSpPr>
        <p:spPr>
          <a:xfrm>
            <a:off x="10533888" y="2761488"/>
            <a:ext cx="237744" cy="237744"/>
          </a:xfrm>
          <a:prstGeom prst="ellipse">
            <a:avLst/>
          </a:prstGeom>
          <a:solidFill>
            <a:srgbClr val="38BDF8"/>
          </a:solidFill>
          <a:ln w="9525">
            <a:solidFill>
              <a:srgbClr val="38BDF8"/>
            </a:solidFill>
            <a:prstDash val="solid"/>
          </a:ln>
        </p:spPr>
      </p:sp>
      <p:sp>
        <p:nvSpPr>
          <p:cNvPr id="48" name="Shape 46"/>
          <p:cNvSpPr/>
          <p:nvPr/>
        </p:nvSpPr>
        <p:spPr>
          <a:xfrm>
            <a:off x="10899648" y="2761488"/>
            <a:ext cx="237744" cy="237744"/>
          </a:xfrm>
          <a:prstGeom prst="ellipse">
            <a:avLst/>
          </a:prstGeom>
          <a:solidFill>
            <a:srgbClr val="38BDF8"/>
          </a:solidFill>
          <a:ln w="9525">
            <a:solidFill>
              <a:srgbClr val="38BDF8"/>
            </a:solidFill>
            <a:prstDash val="solid"/>
          </a:ln>
        </p:spPr>
      </p:sp>
      <p:sp>
        <p:nvSpPr>
          <p:cNvPr id="49" name="Shape 47"/>
          <p:cNvSpPr/>
          <p:nvPr/>
        </p:nvSpPr>
        <p:spPr>
          <a:xfrm>
            <a:off x="11265408" y="2761488"/>
            <a:ext cx="237744" cy="237744"/>
          </a:xfrm>
          <a:prstGeom prst="ellipse">
            <a:avLst/>
          </a:prstGeom>
          <a:solidFill>
            <a:srgbClr val="38BDF8"/>
          </a:solidFill>
          <a:ln w="9525">
            <a:solidFill>
              <a:srgbClr val="38BDF8"/>
            </a:solidFill>
            <a:prstDash val="solid"/>
          </a:ln>
        </p:spPr>
      </p:sp>
      <p:sp>
        <p:nvSpPr>
          <p:cNvPr id="50" name="Shape 48"/>
          <p:cNvSpPr/>
          <p:nvPr/>
        </p:nvSpPr>
        <p:spPr>
          <a:xfrm>
            <a:off x="7973568" y="3127248"/>
            <a:ext cx="237744" cy="237744"/>
          </a:xfrm>
          <a:prstGeom prst="ellipse">
            <a:avLst/>
          </a:prstGeom>
          <a:solidFill>
            <a:srgbClr val="38BDF8"/>
          </a:solidFill>
          <a:ln w="9525">
            <a:solidFill>
              <a:srgbClr val="38BDF8"/>
            </a:solidFill>
            <a:prstDash val="solid"/>
          </a:ln>
        </p:spPr>
      </p:sp>
      <p:sp>
        <p:nvSpPr>
          <p:cNvPr id="51" name="Shape 49"/>
          <p:cNvSpPr/>
          <p:nvPr/>
        </p:nvSpPr>
        <p:spPr>
          <a:xfrm>
            <a:off x="8339328" y="3127248"/>
            <a:ext cx="237744" cy="237744"/>
          </a:xfrm>
          <a:prstGeom prst="ellipse">
            <a:avLst/>
          </a:prstGeom>
          <a:solidFill>
            <a:srgbClr val="38BDF8"/>
          </a:solidFill>
          <a:ln w="9525">
            <a:solidFill>
              <a:srgbClr val="38BDF8"/>
            </a:solidFill>
            <a:prstDash val="solid"/>
          </a:ln>
        </p:spPr>
      </p:sp>
      <p:sp>
        <p:nvSpPr>
          <p:cNvPr id="52" name="Shape 50"/>
          <p:cNvSpPr/>
          <p:nvPr/>
        </p:nvSpPr>
        <p:spPr>
          <a:xfrm>
            <a:off x="8705088" y="3127248"/>
            <a:ext cx="237744" cy="237744"/>
          </a:xfrm>
          <a:prstGeom prst="ellipse">
            <a:avLst/>
          </a:prstGeom>
          <a:solidFill>
            <a:srgbClr val="38BDF8"/>
          </a:solidFill>
          <a:ln w="9525">
            <a:solidFill>
              <a:srgbClr val="38BDF8"/>
            </a:solidFill>
            <a:prstDash val="solid"/>
          </a:ln>
        </p:spPr>
      </p:sp>
      <p:sp>
        <p:nvSpPr>
          <p:cNvPr id="53" name="Shape 51"/>
          <p:cNvSpPr/>
          <p:nvPr/>
        </p:nvSpPr>
        <p:spPr>
          <a:xfrm>
            <a:off x="9070848" y="3127248"/>
            <a:ext cx="237744" cy="237744"/>
          </a:xfrm>
          <a:prstGeom prst="ellipse">
            <a:avLst/>
          </a:prstGeom>
          <a:solidFill>
            <a:srgbClr val="38BDF8"/>
          </a:solidFill>
          <a:ln w="9525">
            <a:solidFill>
              <a:srgbClr val="38BDF8"/>
            </a:solidFill>
            <a:prstDash val="solid"/>
          </a:ln>
        </p:spPr>
      </p:sp>
      <p:sp>
        <p:nvSpPr>
          <p:cNvPr id="54" name="Shape 52"/>
          <p:cNvSpPr/>
          <p:nvPr/>
        </p:nvSpPr>
        <p:spPr>
          <a:xfrm>
            <a:off x="9436608" y="3127248"/>
            <a:ext cx="237744" cy="237744"/>
          </a:xfrm>
          <a:prstGeom prst="ellipse">
            <a:avLst/>
          </a:prstGeom>
          <a:solidFill>
            <a:srgbClr val="38BDF8"/>
          </a:solidFill>
          <a:ln w="9525">
            <a:solidFill>
              <a:srgbClr val="38BDF8"/>
            </a:solidFill>
            <a:prstDash val="solid"/>
          </a:ln>
        </p:spPr>
      </p:sp>
      <p:sp>
        <p:nvSpPr>
          <p:cNvPr id="55" name="Shape 53"/>
          <p:cNvSpPr/>
          <p:nvPr/>
        </p:nvSpPr>
        <p:spPr>
          <a:xfrm>
            <a:off x="9802368" y="3127248"/>
            <a:ext cx="237744" cy="237744"/>
          </a:xfrm>
          <a:prstGeom prst="ellipse">
            <a:avLst/>
          </a:prstGeom>
          <a:solidFill>
            <a:srgbClr val="26354F"/>
          </a:solidFill>
          <a:ln w="9525">
            <a:solidFill>
              <a:srgbClr val="26354F"/>
            </a:solidFill>
            <a:prstDash val="solid"/>
          </a:ln>
        </p:spPr>
      </p:sp>
      <p:sp>
        <p:nvSpPr>
          <p:cNvPr id="56" name="Shape 54"/>
          <p:cNvSpPr/>
          <p:nvPr/>
        </p:nvSpPr>
        <p:spPr>
          <a:xfrm>
            <a:off x="10168128" y="3127248"/>
            <a:ext cx="237744" cy="237744"/>
          </a:xfrm>
          <a:prstGeom prst="ellipse">
            <a:avLst/>
          </a:prstGeom>
          <a:solidFill>
            <a:srgbClr val="26354F"/>
          </a:solidFill>
          <a:ln w="9525">
            <a:solidFill>
              <a:srgbClr val="26354F"/>
            </a:solidFill>
            <a:prstDash val="solid"/>
          </a:ln>
        </p:spPr>
      </p:sp>
      <p:sp>
        <p:nvSpPr>
          <p:cNvPr id="57" name="Shape 55"/>
          <p:cNvSpPr/>
          <p:nvPr/>
        </p:nvSpPr>
        <p:spPr>
          <a:xfrm>
            <a:off x="10533888" y="3127248"/>
            <a:ext cx="237744" cy="237744"/>
          </a:xfrm>
          <a:prstGeom prst="ellipse">
            <a:avLst/>
          </a:prstGeom>
          <a:solidFill>
            <a:srgbClr val="26354F"/>
          </a:solidFill>
          <a:ln w="9525">
            <a:solidFill>
              <a:srgbClr val="26354F"/>
            </a:solidFill>
            <a:prstDash val="solid"/>
          </a:ln>
        </p:spPr>
      </p:sp>
      <p:sp>
        <p:nvSpPr>
          <p:cNvPr id="58" name="Shape 56"/>
          <p:cNvSpPr/>
          <p:nvPr/>
        </p:nvSpPr>
        <p:spPr>
          <a:xfrm>
            <a:off x="10899648" y="3127248"/>
            <a:ext cx="237744" cy="237744"/>
          </a:xfrm>
          <a:prstGeom prst="ellipse">
            <a:avLst/>
          </a:prstGeom>
          <a:solidFill>
            <a:srgbClr val="26354F"/>
          </a:solidFill>
          <a:ln w="9525">
            <a:solidFill>
              <a:srgbClr val="26354F"/>
            </a:solidFill>
            <a:prstDash val="solid"/>
          </a:ln>
        </p:spPr>
      </p:sp>
      <p:sp>
        <p:nvSpPr>
          <p:cNvPr id="59" name="Shape 57"/>
          <p:cNvSpPr/>
          <p:nvPr/>
        </p:nvSpPr>
        <p:spPr>
          <a:xfrm>
            <a:off x="11265408" y="3127248"/>
            <a:ext cx="237744" cy="237744"/>
          </a:xfrm>
          <a:prstGeom prst="ellipse">
            <a:avLst/>
          </a:prstGeom>
          <a:solidFill>
            <a:srgbClr val="26354F"/>
          </a:solidFill>
          <a:ln w="9525">
            <a:solidFill>
              <a:srgbClr val="26354F"/>
            </a:solidFill>
            <a:prstDash val="solid"/>
          </a:ln>
        </p:spPr>
      </p:sp>
      <p:sp>
        <p:nvSpPr>
          <p:cNvPr id="60" name="Text 58"/>
          <p:cNvSpPr txBox="1"/>
          <p:nvPr/>
        </p:nvSpPr>
        <p:spPr>
          <a:xfrm>
            <a:off x="7882128" y="3703320"/>
            <a:ext cx="3840480" cy="274320"/>
          </a:xfrm>
          <a:prstGeom prst="rect">
            <a:avLst/>
          </a:prstGeom>
          <a:noFill/>
          <a:ln/>
        </p:spPr>
        <p:txBody>
          <a:bodyPr wrap="square" lIns="0" tIns="0" rIns="0" bIns="0" rtlCol="0" anchor="t"/>
          <a:lstStyle/>
          <a:p>
            <a:pPr algn="l" indent="0" marL="0">
              <a:buNone/>
            </a:pPr>
            <a:r>
              <a:rPr lang="en-US" sz="1300" dirty="0">
                <a:solidFill>
                  <a:srgbClr val="A7B4C8"/>
                </a:solidFill>
                <a:latin typeface="Arial" pitchFamily="34" charset="0"/>
                <a:ea typeface="Arial" pitchFamily="34" charset="-122"/>
                <a:cs typeface="Arial" pitchFamily="34" charset="-120"/>
              </a:rPr>
              <a:t>50 LIBERO initial states per task</a:t>
            </a:r>
            <a:endParaRPr lang="en-US" sz="1300" dirty="0"/>
          </a:p>
        </p:txBody>
      </p:sp>
      <p:sp>
        <p:nvSpPr>
          <p:cNvPr id="61" name="Shape 59"/>
          <p:cNvSpPr/>
          <p:nvPr/>
        </p:nvSpPr>
        <p:spPr>
          <a:xfrm>
            <a:off x="7886700" y="4119372"/>
            <a:ext cx="155448" cy="155448"/>
          </a:xfrm>
          <a:prstGeom prst="ellipse">
            <a:avLst/>
          </a:prstGeom>
          <a:solidFill>
            <a:srgbClr val="0B1220"/>
          </a:solidFill>
          <a:ln w="25400">
            <a:solidFill>
              <a:srgbClr val="F1F5F9"/>
            </a:solidFill>
            <a:prstDash val="solid"/>
          </a:ln>
        </p:spPr>
      </p:sp>
      <p:sp>
        <p:nvSpPr>
          <p:cNvPr id="62" name="Text 60"/>
          <p:cNvSpPr txBox="1"/>
          <p:nvPr/>
        </p:nvSpPr>
        <p:spPr>
          <a:xfrm>
            <a:off x="8138160" y="406908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fit / selection · states 0–14</a:t>
            </a:r>
            <a:endParaRPr lang="en-US" sz="1300" dirty="0"/>
          </a:p>
        </p:txBody>
      </p:sp>
      <p:sp>
        <p:nvSpPr>
          <p:cNvPr id="63" name="Shape 61"/>
          <p:cNvSpPr/>
          <p:nvPr/>
        </p:nvSpPr>
        <p:spPr>
          <a:xfrm>
            <a:off x="7886700" y="4439412"/>
            <a:ext cx="155448" cy="155448"/>
          </a:xfrm>
          <a:prstGeom prst="ellipse">
            <a:avLst/>
          </a:prstGeom>
          <a:solidFill>
            <a:srgbClr val="38BDF8"/>
          </a:solidFill>
          <a:ln w="9525">
            <a:solidFill>
              <a:srgbClr val="38BDF8"/>
            </a:solidFill>
            <a:prstDash val="solid"/>
          </a:ln>
        </p:spPr>
      </p:sp>
      <p:sp>
        <p:nvSpPr>
          <p:cNvPr id="64" name="Text 62"/>
          <p:cNvSpPr txBox="1"/>
          <p:nvPr/>
        </p:nvSpPr>
        <p:spPr>
          <a:xfrm>
            <a:off x="8138160" y="438912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held-out test · states 15–44</a:t>
            </a:r>
            <a:endParaRPr lang="en-US" sz="1300" dirty="0"/>
          </a:p>
        </p:txBody>
      </p:sp>
      <p:sp>
        <p:nvSpPr>
          <p:cNvPr id="65" name="Shape 63"/>
          <p:cNvSpPr/>
          <p:nvPr/>
        </p:nvSpPr>
        <p:spPr>
          <a:xfrm>
            <a:off x="7886700" y="4759452"/>
            <a:ext cx="155448" cy="155448"/>
          </a:xfrm>
          <a:prstGeom prst="ellipse">
            <a:avLst/>
          </a:prstGeom>
          <a:solidFill>
            <a:srgbClr val="26354F"/>
          </a:solidFill>
          <a:ln w="9525">
            <a:solidFill>
              <a:srgbClr val="26354F"/>
            </a:solidFill>
            <a:prstDash val="solid"/>
          </a:ln>
        </p:spPr>
      </p:sp>
      <p:sp>
        <p:nvSpPr>
          <p:cNvPr id="66" name="Text 64"/>
          <p:cNvSpPr txBox="1"/>
          <p:nvPr/>
        </p:nvSpPr>
        <p:spPr>
          <a:xfrm>
            <a:off x="8138160" y="470916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unused · states 45–49</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RESEARCH OBJECTIVE</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One question, three layers</a:t>
            </a:r>
            <a:endParaRPr lang="en-US" sz="3000" dirty="0"/>
          </a:p>
        </p:txBody>
      </p:sp>
      <p:sp>
        <p:nvSpPr>
          <p:cNvPr id="4" name="Text 2"/>
          <p:cNvSpPr txBox="1"/>
          <p:nvPr/>
        </p:nvSpPr>
        <p:spPr>
          <a:xfrm>
            <a:off x="1097280" y="1417320"/>
            <a:ext cx="9997135" cy="1188720"/>
          </a:xfrm>
          <a:prstGeom prst="rect">
            <a:avLst/>
          </a:prstGeom>
          <a:noFill/>
          <a:ln/>
        </p:spPr>
        <p:txBody>
          <a:bodyPr wrap="square" lIns="0" tIns="0" rIns="0" bIns="0" rtlCol="0" anchor="ctr"/>
          <a:lstStyle/>
          <a:p>
            <a:pPr algn="ctr" indent="0" marL="0">
              <a:buNone/>
            </a:pPr>
            <a:r>
              <a:rPr lang="en-US" sz="3000" b="1" dirty="0">
                <a:solidFill>
                  <a:srgbClr val="F1F5F9"/>
                </a:solidFill>
                <a:latin typeface="Arial" pitchFamily="34" charset="0"/>
                <a:ea typeface="Arial" pitchFamily="34" charset="-122"/>
                <a:cs typeface="Arial" pitchFamily="34" charset="-120"/>
              </a:rPr>
              <a:t>“Can we independently reproduce the LIBERO results reported by COAST?”</a:t>
            </a:r>
            <a:endParaRPr lang="en-US" sz="3000" dirty="0"/>
          </a:p>
        </p:txBody>
      </p:sp>
      <p:sp>
        <p:nvSpPr>
          <p:cNvPr id="5" name="Shape 3"/>
          <p:cNvSpPr/>
          <p:nvPr/>
        </p:nvSpPr>
        <p:spPr>
          <a:xfrm>
            <a:off x="594360" y="3063240"/>
            <a:ext cx="3246120" cy="2514600"/>
          </a:xfrm>
          <a:prstGeom prst="roundRect">
            <a:avLst>
              <a:gd name="adj" fmla="val 2909"/>
            </a:avLst>
          </a:prstGeom>
          <a:solidFill>
            <a:srgbClr val="131E33"/>
          </a:solidFill>
          <a:ln/>
        </p:spPr>
      </p:sp>
      <p:sp>
        <p:nvSpPr>
          <p:cNvPr id="6" name="Shape 4"/>
          <p:cNvSpPr/>
          <p:nvPr/>
        </p:nvSpPr>
        <p:spPr>
          <a:xfrm>
            <a:off x="795528" y="3264408"/>
            <a:ext cx="420624" cy="420624"/>
          </a:xfrm>
          <a:prstGeom prst="ellipse">
            <a:avLst/>
          </a:prstGeom>
          <a:solidFill>
            <a:srgbClr val="1A2842"/>
          </a:solidFill>
          <a:ln w="9525">
            <a:solidFill>
              <a:srgbClr val="1A2842"/>
            </a:solidFill>
            <a:prstDash val="solid"/>
          </a:ln>
        </p:spPr>
      </p:sp>
      <p:sp>
        <p:nvSpPr>
          <p:cNvPr id="7" name="Text 5"/>
          <p:cNvSpPr txBox="1"/>
          <p:nvPr/>
        </p:nvSpPr>
        <p:spPr>
          <a:xfrm>
            <a:off x="795528" y="3264408"/>
            <a:ext cx="420624" cy="420624"/>
          </a:xfrm>
          <a:prstGeom prst="rect">
            <a:avLst/>
          </a:prstGeom>
          <a:noFill/>
          <a:ln/>
        </p:spPr>
        <p:txBody>
          <a:bodyPr wrap="square" lIns="0" tIns="0" rIns="0" bIns="0" rtlCol="0" anchor="ctr"/>
          <a:lstStyle/>
          <a:p>
            <a:pPr algn="ctr" indent="0" marL="0">
              <a:buNone/>
            </a:pPr>
            <a:r>
              <a:rPr lang="en-US" sz="1800" b="1" dirty="0">
                <a:solidFill>
                  <a:srgbClr val="38BDF8"/>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371600" y="3291840"/>
            <a:ext cx="2331720" cy="411480"/>
          </a:xfrm>
          <a:prstGeom prst="rect">
            <a:avLst/>
          </a:prstGeom>
          <a:noFill/>
          <a:ln/>
        </p:spPr>
        <p:txBody>
          <a:bodyPr wrap="square" lIns="0" tIns="0" rIns="0" bIns="0" rtlCol="0" anchor="ctr"/>
          <a:lstStyle/>
          <a:p>
            <a:pPr algn="l" indent="0" marL="0">
              <a:buNone/>
            </a:pPr>
            <a:r>
              <a:rPr lang="en-US" sz="2000" b="1" dirty="0">
                <a:solidFill>
                  <a:srgbClr val="F1F5F9"/>
                </a:solidFill>
                <a:latin typeface="Arial" pitchFamily="34" charset="0"/>
                <a:ea typeface="Arial" pitchFamily="34" charset="-122"/>
                <a:cs typeface="Arial" pitchFamily="34" charset="-120"/>
              </a:rPr>
              <a:t>Reproduction</a:t>
            </a:r>
            <a:endParaRPr lang="en-US" sz="2000" dirty="0"/>
          </a:p>
        </p:txBody>
      </p:sp>
      <p:sp>
        <p:nvSpPr>
          <p:cNvPr id="9" name="Text 7"/>
          <p:cNvSpPr txBox="1"/>
          <p:nvPr/>
        </p:nvSpPr>
        <p:spPr>
          <a:xfrm>
            <a:off x="868680" y="3931920"/>
            <a:ext cx="2697480" cy="1005840"/>
          </a:xfrm>
          <a:prstGeom prst="rect">
            <a:avLst/>
          </a:prstGeom>
          <a:noFill/>
          <a:ln/>
        </p:spPr>
        <p:txBody>
          <a:bodyPr wrap="square" lIns="0" tIns="0" rIns="0" bIns="0" rtlCol="0" anchor="t"/>
          <a:lstStyle/>
          <a:p>
            <a:pPr algn="l" indent="0" marL="0">
              <a:buNone/>
            </a:pPr>
            <a:r>
              <a:rPr lang="en-US" sz="1700" dirty="0">
                <a:solidFill>
                  <a:srgbClr val="A7B4C8"/>
                </a:solidFill>
                <a:latin typeface="Arial" pitchFamily="34" charset="0"/>
                <a:ea typeface="Arial" pitchFamily="34" charset="-122"/>
                <a:cs typeface="Arial" pitchFamily="34" charset="-120"/>
              </a:rPr>
              <a:t>Do the released code and the paper protocol give the reported KS3 numbers?</a:t>
            </a:r>
            <a:endParaRPr lang="en-US" sz="1700" dirty="0"/>
          </a:p>
        </p:txBody>
      </p:sp>
      <p:sp>
        <p:nvSpPr>
          <p:cNvPr id="10" name="Shape 8"/>
          <p:cNvSpPr/>
          <p:nvPr/>
        </p:nvSpPr>
        <p:spPr>
          <a:xfrm>
            <a:off x="868680" y="5029200"/>
            <a:ext cx="2697480" cy="310896"/>
          </a:xfrm>
          <a:prstGeom prst="roundRect">
            <a:avLst>
              <a:gd name="adj" fmla="val 50000"/>
            </a:avLst>
          </a:prstGeom>
          <a:solidFill>
            <a:srgbClr val="131E33"/>
          </a:solidFill>
          <a:ln w="12700">
            <a:solidFill>
              <a:srgbClr val="EF6B6B"/>
            </a:solidFill>
            <a:prstDash val="solid"/>
          </a:ln>
        </p:spPr>
      </p:sp>
      <p:sp>
        <p:nvSpPr>
          <p:cNvPr id="11" name="Text 9"/>
          <p:cNvSpPr txBox="1"/>
          <p:nvPr/>
        </p:nvSpPr>
        <p:spPr>
          <a:xfrm>
            <a:off x="868680" y="5029200"/>
            <a:ext cx="2697480" cy="310896"/>
          </a:xfrm>
          <a:prstGeom prst="rect">
            <a:avLst/>
          </a:prstGeom>
          <a:noFill/>
          <a:ln/>
        </p:spPr>
        <p:txBody>
          <a:bodyPr wrap="square" lIns="0" tIns="0" rIns="0" bIns="0" rtlCol="0" anchor="ctr"/>
          <a:lstStyle/>
          <a:p>
            <a:pPr algn="ctr" indent="0" marL="0">
              <a:buNone/>
            </a:pPr>
            <a:r>
              <a:rPr lang="en-US" sz="1250" b="1" dirty="0">
                <a:solidFill>
                  <a:srgbClr val="EF6B6B"/>
                </a:solidFill>
                <a:latin typeface="Arial" pitchFamily="34" charset="0"/>
                <a:ea typeface="Arial" pitchFamily="34" charset="-122"/>
                <a:cs typeface="Arial" pitchFamily="34" charset="-120"/>
              </a:rPr>
              <a:t>Gap measured · 5A–5C</a:t>
            </a:r>
            <a:endParaRPr lang="en-US" sz="1250" dirty="0"/>
          </a:p>
        </p:txBody>
      </p:sp>
      <p:sp>
        <p:nvSpPr>
          <p:cNvPr id="12" name="Shape 10"/>
          <p:cNvSpPr/>
          <p:nvPr/>
        </p:nvSpPr>
        <p:spPr>
          <a:xfrm>
            <a:off x="3950208" y="4320540"/>
            <a:ext cx="457200" cy="0"/>
          </a:xfrm>
          <a:prstGeom prst="line">
            <a:avLst/>
          </a:prstGeom>
          <a:noFill/>
          <a:ln w="31750">
            <a:solidFill>
              <a:srgbClr val="6B7A93"/>
            </a:solidFill>
            <a:prstDash val="solid"/>
            <a:tailEnd type="triangle"/>
          </a:ln>
        </p:spPr>
      </p:sp>
      <p:sp>
        <p:nvSpPr>
          <p:cNvPr id="13" name="Shape 11"/>
          <p:cNvSpPr/>
          <p:nvPr/>
        </p:nvSpPr>
        <p:spPr>
          <a:xfrm>
            <a:off x="4517136" y="3063240"/>
            <a:ext cx="3246120" cy="2514600"/>
          </a:xfrm>
          <a:prstGeom prst="roundRect">
            <a:avLst>
              <a:gd name="adj" fmla="val 2909"/>
            </a:avLst>
          </a:prstGeom>
          <a:solidFill>
            <a:srgbClr val="131E33"/>
          </a:solidFill>
          <a:ln/>
        </p:spPr>
      </p:sp>
      <p:sp>
        <p:nvSpPr>
          <p:cNvPr id="14" name="Shape 12"/>
          <p:cNvSpPr/>
          <p:nvPr/>
        </p:nvSpPr>
        <p:spPr>
          <a:xfrm>
            <a:off x="4718304" y="3264408"/>
            <a:ext cx="420624" cy="420624"/>
          </a:xfrm>
          <a:prstGeom prst="ellipse">
            <a:avLst/>
          </a:prstGeom>
          <a:solidFill>
            <a:srgbClr val="1A2842"/>
          </a:solidFill>
          <a:ln w="9525">
            <a:solidFill>
              <a:srgbClr val="1A2842"/>
            </a:solidFill>
            <a:prstDash val="solid"/>
          </a:ln>
        </p:spPr>
      </p:sp>
      <p:sp>
        <p:nvSpPr>
          <p:cNvPr id="15" name="Text 13"/>
          <p:cNvSpPr txBox="1"/>
          <p:nvPr/>
        </p:nvSpPr>
        <p:spPr>
          <a:xfrm>
            <a:off x="4718304" y="3264408"/>
            <a:ext cx="420624" cy="420624"/>
          </a:xfrm>
          <a:prstGeom prst="rect">
            <a:avLst/>
          </a:prstGeom>
          <a:noFill/>
          <a:ln/>
        </p:spPr>
        <p:txBody>
          <a:bodyPr wrap="square" lIns="0" tIns="0" rIns="0" bIns="0" rtlCol="0" anchor="ctr"/>
          <a:lstStyle/>
          <a:p>
            <a:pPr algn="ctr" indent="0" marL="0">
              <a:buNone/>
            </a:pPr>
            <a:r>
              <a:rPr lang="en-US" sz="1800" b="1" dirty="0">
                <a:solidFill>
                  <a:srgbClr val="38BDF8"/>
                </a:solidFill>
                <a:latin typeface="Arial" pitchFamily="34" charset="0"/>
                <a:ea typeface="Arial" pitchFamily="34" charset="-122"/>
                <a:cs typeface="Arial" pitchFamily="34" charset="-120"/>
              </a:rPr>
              <a:t>2</a:t>
            </a:r>
            <a:endParaRPr lang="en-US" sz="1800" dirty="0"/>
          </a:p>
        </p:txBody>
      </p:sp>
      <p:sp>
        <p:nvSpPr>
          <p:cNvPr id="16" name="Text 14"/>
          <p:cNvSpPr txBox="1"/>
          <p:nvPr/>
        </p:nvSpPr>
        <p:spPr>
          <a:xfrm>
            <a:off x="5294376" y="3291840"/>
            <a:ext cx="2331720" cy="411480"/>
          </a:xfrm>
          <a:prstGeom prst="rect">
            <a:avLst/>
          </a:prstGeom>
          <a:noFill/>
          <a:ln/>
        </p:spPr>
        <p:txBody>
          <a:bodyPr wrap="square" lIns="0" tIns="0" rIns="0" bIns="0" rtlCol="0" anchor="ctr"/>
          <a:lstStyle/>
          <a:p>
            <a:pPr algn="l" indent="0" marL="0">
              <a:buNone/>
            </a:pPr>
            <a:r>
              <a:rPr lang="en-US" sz="2000" b="1" dirty="0">
                <a:solidFill>
                  <a:srgbClr val="F1F5F9"/>
                </a:solidFill>
                <a:latin typeface="Arial" pitchFamily="34" charset="0"/>
                <a:ea typeface="Arial" pitchFamily="34" charset="-122"/>
                <a:cs typeface="Arial" pitchFamily="34" charset="-120"/>
              </a:rPr>
              <a:t>Mechanism</a:t>
            </a:r>
            <a:endParaRPr lang="en-US" sz="2000" dirty="0"/>
          </a:p>
        </p:txBody>
      </p:sp>
      <p:sp>
        <p:nvSpPr>
          <p:cNvPr id="17" name="Text 15"/>
          <p:cNvSpPr txBox="1"/>
          <p:nvPr/>
        </p:nvSpPr>
        <p:spPr>
          <a:xfrm>
            <a:off x="4791456" y="3931920"/>
            <a:ext cx="2697480" cy="1005840"/>
          </a:xfrm>
          <a:prstGeom prst="rect">
            <a:avLst/>
          </a:prstGeom>
          <a:noFill/>
          <a:ln/>
        </p:spPr>
        <p:txBody>
          <a:bodyPr wrap="square" lIns="0" tIns="0" rIns="0" bIns="0" rtlCol="0" anchor="t"/>
          <a:lstStyle/>
          <a:p>
            <a:pPr algn="l" indent="0" marL="0">
              <a:buNone/>
            </a:pPr>
            <a:r>
              <a:rPr lang="en-US" sz="1700" dirty="0">
                <a:solidFill>
                  <a:srgbClr val="A7B4C8"/>
                </a:solidFill>
                <a:latin typeface="Arial" pitchFamily="34" charset="0"/>
                <a:ea typeface="Arial" pitchFamily="34" charset="-122"/>
                <a:cs typeface="Arial" pitchFamily="34" charset="-120"/>
              </a:rPr>
              <a:t>What does the intervention actually do to the hidden state?</a:t>
            </a:r>
            <a:endParaRPr lang="en-US" sz="1700" dirty="0"/>
          </a:p>
        </p:txBody>
      </p:sp>
      <p:sp>
        <p:nvSpPr>
          <p:cNvPr id="18" name="Shape 16"/>
          <p:cNvSpPr/>
          <p:nvPr/>
        </p:nvSpPr>
        <p:spPr>
          <a:xfrm>
            <a:off x="4791456" y="5029200"/>
            <a:ext cx="2697480" cy="310896"/>
          </a:xfrm>
          <a:prstGeom prst="roundRect">
            <a:avLst>
              <a:gd name="adj" fmla="val 50000"/>
            </a:avLst>
          </a:prstGeom>
          <a:solidFill>
            <a:srgbClr val="131E33"/>
          </a:solidFill>
          <a:ln w="12700">
            <a:solidFill>
              <a:srgbClr val="38BDF8"/>
            </a:solidFill>
            <a:prstDash val="solid"/>
          </a:ln>
        </p:spPr>
      </p:sp>
      <p:sp>
        <p:nvSpPr>
          <p:cNvPr id="19" name="Text 17"/>
          <p:cNvSpPr txBox="1"/>
          <p:nvPr/>
        </p:nvSpPr>
        <p:spPr>
          <a:xfrm>
            <a:off x="4791456" y="5029200"/>
            <a:ext cx="2697480" cy="310896"/>
          </a:xfrm>
          <a:prstGeom prst="rect">
            <a:avLst/>
          </a:prstGeom>
          <a:noFill/>
          <a:ln/>
        </p:spPr>
        <p:txBody>
          <a:bodyPr wrap="square" lIns="0" tIns="0" rIns="0" bIns="0" rtlCol="0" anchor="ctr"/>
          <a:lstStyle/>
          <a:p>
            <a:pPr algn="ctr" indent="0" marL="0">
              <a:buNone/>
            </a:pPr>
            <a:r>
              <a:rPr lang="en-US" sz="1250" b="1" dirty="0">
                <a:solidFill>
                  <a:srgbClr val="38BDF8"/>
                </a:solidFill>
                <a:latin typeface="Arial" pitchFamily="34" charset="0"/>
                <a:ea typeface="Arial" pitchFamily="34" charset="-122"/>
                <a:cs typeface="Arial" pitchFamily="34" charset="-120"/>
              </a:rPr>
              <a:t>Contraction-dominated · 1E–3A</a:t>
            </a:r>
            <a:endParaRPr lang="en-US" sz="1250" dirty="0"/>
          </a:p>
        </p:txBody>
      </p:sp>
      <p:sp>
        <p:nvSpPr>
          <p:cNvPr id="20" name="Shape 18"/>
          <p:cNvSpPr/>
          <p:nvPr/>
        </p:nvSpPr>
        <p:spPr>
          <a:xfrm>
            <a:off x="7872984" y="4320540"/>
            <a:ext cx="457200" cy="0"/>
          </a:xfrm>
          <a:prstGeom prst="line">
            <a:avLst/>
          </a:prstGeom>
          <a:noFill/>
          <a:ln w="31750">
            <a:solidFill>
              <a:srgbClr val="6B7A93"/>
            </a:solidFill>
            <a:prstDash val="solid"/>
            <a:tailEnd type="triangle"/>
          </a:ln>
        </p:spPr>
      </p:sp>
      <p:sp>
        <p:nvSpPr>
          <p:cNvPr id="21" name="Shape 19"/>
          <p:cNvSpPr/>
          <p:nvPr/>
        </p:nvSpPr>
        <p:spPr>
          <a:xfrm>
            <a:off x="8439912" y="3063240"/>
            <a:ext cx="3246120" cy="2514600"/>
          </a:xfrm>
          <a:prstGeom prst="roundRect">
            <a:avLst>
              <a:gd name="adj" fmla="val 2909"/>
            </a:avLst>
          </a:prstGeom>
          <a:solidFill>
            <a:srgbClr val="131E33"/>
          </a:solidFill>
          <a:ln/>
        </p:spPr>
      </p:sp>
      <p:sp>
        <p:nvSpPr>
          <p:cNvPr id="22" name="Shape 20"/>
          <p:cNvSpPr/>
          <p:nvPr/>
        </p:nvSpPr>
        <p:spPr>
          <a:xfrm>
            <a:off x="8641080" y="3264408"/>
            <a:ext cx="420624" cy="420624"/>
          </a:xfrm>
          <a:prstGeom prst="ellipse">
            <a:avLst/>
          </a:prstGeom>
          <a:solidFill>
            <a:srgbClr val="1A2842"/>
          </a:solidFill>
          <a:ln w="9525">
            <a:solidFill>
              <a:srgbClr val="1A2842"/>
            </a:solidFill>
            <a:prstDash val="solid"/>
          </a:ln>
        </p:spPr>
      </p:sp>
      <p:sp>
        <p:nvSpPr>
          <p:cNvPr id="23" name="Text 21"/>
          <p:cNvSpPr txBox="1"/>
          <p:nvPr/>
        </p:nvSpPr>
        <p:spPr>
          <a:xfrm>
            <a:off x="8641080" y="3264408"/>
            <a:ext cx="420624" cy="420624"/>
          </a:xfrm>
          <a:prstGeom prst="rect">
            <a:avLst/>
          </a:prstGeom>
          <a:noFill/>
          <a:ln/>
        </p:spPr>
        <p:txBody>
          <a:bodyPr wrap="square" lIns="0" tIns="0" rIns="0" bIns="0" rtlCol="0" anchor="ctr"/>
          <a:lstStyle/>
          <a:p>
            <a:pPr algn="ctr" indent="0" marL="0">
              <a:buNone/>
            </a:pPr>
            <a:r>
              <a:rPr lang="en-US" sz="1800" b="1" dirty="0">
                <a:solidFill>
                  <a:srgbClr val="38BDF8"/>
                </a:solidFill>
                <a:latin typeface="Arial" pitchFamily="34" charset="0"/>
                <a:ea typeface="Arial" pitchFamily="34" charset="-122"/>
                <a:cs typeface="Arial" pitchFamily="34" charset="-120"/>
              </a:rPr>
              <a:t>3</a:t>
            </a:r>
            <a:endParaRPr lang="en-US" sz="1800" dirty="0"/>
          </a:p>
        </p:txBody>
      </p:sp>
      <p:sp>
        <p:nvSpPr>
          <p:cNvPr id="24" name="Text 22"/>
          <p:cNvSpPr txBox="1"/>
          <p:nvPr/>
        </p:nvSpPr>
        <p:spPr>
          <a:xfrm>
            <a:off x="9217152" y="3291840"/>
            <a:ext cx="2331720" cy="411480"/>
          </a:xfrm>
          <a:prstGeom prst="rect">
            <a:avLst/>
          </a:prstGeom>
          <a:noFill/>
          <a:ln/>
        </p:spPr>
        <p:txBody>
          <a:bodyPr wrap="square" lIns="0" tIns="0" rIns="0" bIns="0" rtlCol="0" anchor="ctr"/>
          <a:lstStyle/>
          <a:p>
            <a:pPr algn="l" indent="0" marL="0">
              <a:buNone/>
            </a:pPr>
            <a:r>
              <a:rPr lang="en-US" sz="2000" b="1" dirty="0">
                <a:solidFill>
                  <a:srgbClr val="F1F5F9"/>
                </a:solidFill>
                <a:latin typeface="Arial" pitchFamily="34" charset="0"/>
                <a:ea typeface="Arial" pitchFamily="34" charset="-122"/>
                <a:cs typeface="Arial" pitchFamily="34" charset="-120"/>
              </a:rPr>
              <a:t>Generalization / Improvement</a:t>
            </a:r>
            <a:endParaRPr lang="en-US" sz="2000" dirty="0"/>
          </a:p>
        </p:txBody>
      </p:sp>
      <p:sp>
        <p:nvSpPr>
          <p:cNvPr id="25" name="Text 23"/>
          <p:cNvSpPr txBox="1"/>
          <p:nvPr/>
        </p:nvSpPr>
        <p:spPr>
          <a:xfrm>
            <a:off x="8714232" y="3931920"/>
            <a:ext cx="2697480" cy="1005840"/>
          </a:xfrm>
          <a:prstGeom prst="rect">
            <a:avLst/>
          </a:prstGeom>
          <a:noFill/>
          <a:ln/>
        </p:spPr>
        <p:txBody>
          <a:bodyPr wrap="square" lIns="0" tIns="0" rIns="0" bIns="0" rtlCol="0" anchor="t"/>
          <a:lstStyle/>
          <a:p>
            <a:pPr algn="l" indent="0" marL="0">
              <a:buNone/>
            </a:pPr>
            <a:r>
              <a:rPr lang="en-US" sz="1700" dirty="0">
                <a:solidFill>
                  <a:srgbClr val="A7B4C8"/>
                </a:solidFill>
                <a:latin typeface="Arial" pitchFamily="34" charset="0"/>
                <a:ea typeface="Arial" pitchFamily="34" charset="-122"/>
                <a:cs typeface="Arial" pitchFamily="34" charset="-120"/>
              </a:rPr>
              <a:t>Does the pattern hold on other tasks — and can the method be improved?</a:t>
            </a:r>
            <a:endParaRPr lang="en-US" sz="1700" dirty="0"/>
          </a:p>
        </p:txBody>
      </p:sp>
      <p:sp>
        <p:nvSpPr>
          <p:cNvPr id="26" name="Shape 24"/>
          <p:cNvSpPr/>
          <p:nvPr/>
        </p:nvSpPr>
        <p:spPr>
          <a:xfrm>
            <a:off x="8714232" y="5029200"/>
            <a:ext cx="2697480" cy="310896"/>
          </a:xfrm>
          <a:prstGeom prst="roundRect">
            <a:avLst>
              <a:gd name="adj" fmla="val 50000"/>
            </a:avLst>
          </a:prstGeom>
          <a:solidFill>
            <a:srgbClr val="131E33"/>
          </a:solidFill>
          <a:ln w="12700">
            <a:solidFill>
              <a:srgbClr val="F2C94C"/>
            </a:solidFill>
            <a:prstDash val="solid"/>
          </a:ln>
        </p:spPr>
      </p:sp>
      <p:sp>
        <p:nvSpPr>
          <p:cNvPr id="27" name="Text 25"/>
          <p:cNvSpPr txBox="1"/>
          <p:nvPr/>
        </p:nvSpPr>
        <p:spPr>
          <a:xfrm>
            <a:off x="8714232" y="5029200"/>
            <a:ext cx="2697480" cy="310896"/>
          </a:xfrm>
          <a:prstGeom prst="rect">
            <a:avLst/>
          </a:prstGeom>
          <a:noFill/>
          <a:ln/>
        </p:spPr>
        <p:txBody>
          <a:bodyPr wrap="square" lIns="0" tIns="0" rIns="0" bIns="0" rtlCol="0" anchor="ctr"/>
          <a:lstStyle/>
          <a:p>
            <a:pPr algn="ctr" indent="0" marL="0">
              <a:buNone/>
            </a:pPr>
            <a:r>
              <a:rPr lang="en-US" sz="1250" b="1" dirty="0">
                <a:solidFill>
                  <a:srgbClr val="F2C94C"/>
                </a:solidFill>
                <a:latin typeface="Arial" pitchFamily="34" charset="0"/>
                <a:ea typeface="Arial" pitchFamily="34" charset="-122"/>
                <a:cs typeface="Arial" pitchFamily="34" charset="-120"/>
              </a:rPr>
              <a:t>3 more tasks · 7A · method: future</a:t>
            </a:r>
            <a:endParaRPr lang="en-US" sz="1250" dirty="0"/>
          </a:p>
        </p:txBody>
      </p:sp>
      <p:sp>
        <p:nvSpPr>
          <p:cNvPr id="28" name="Text 26"/>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29" name="Text 27"/>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2 / 21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BACKGROUND</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COAST in one slide</a:t>
            </a:r>
            <a:endParaRPr lang="en-US" sz="3000" dirty="0"/>
          </a:p>
        </p:txBody>
      </p:sp>
      <p:sp>
        <p:nvSpPr>
          <p:cNvPr id="4" name="Shape 2"/>
          <p:cNvSpPr/>
          <p:nvPr/>
        </p:nvSpPr>
        <p:spPr>
          <a:xfrm>
            <a:off x="548640" y="1463040"/>
            <a:ext cx="1970166" cy="2606040"/>
          </a:xfrm>
          <a:prstGeom prst="roundRect">
            <a:avLst>
              <a:gd name="adj" fmla="val 3713"/>
            </a:avLst>
          </a:prstGeom>
          <a:solidFill>
            <a:srgbClr val="131E33"/>
          </a:solidFill>
          <a:ln/>
        </p:spPr>
      </p:sp>
      <p:sp>
        <p:nvSpPr>
          <p:cNvPr id="5" name="Text 3"/>
          <p:cNvSpPr txBox="1"/>
          <p:nvPr/>
        </p:nvSpPr>
        <p:spPr>
          <a:xfrm>
            <a:off x="713232" y="1627632"/>
            <a:ext cx="1695846" cy="310896"/>
          </a:xfrm>
          <a:prstGeom prst="rect">
            <a:avLst/>
          </a:prstGeom>
          <a:noFill/>
          <a:ln/>
        </p:spPr>
        <p:txBody>
          <a:bodyPr wrap="square" lIns="0" tIns="0" rIns="0" bIns="0" rtlCol="0" anchor="t"/>
          <a:lstStyle/>
          <a:p>
            <a:pPr algn="l" indent="0" marL="0">
              <a:buNone/>
            </a:pPr>
            <a:r>
              <a:rPr lang="en-US" sz="1600" b="1" dirty="0">
                <a:solidFill>
                  <a:srgbClr val="38BDF8"/>
                </a:solidFill>
                <a:latin typeface="Arial" pitchFamily="34" charset="0"/>
                <a:ea typeface="Arial" pitchFamily="34" charset="-122"/>
                <a:cs typeface="Arial" pitchFamily="34" charset="-120"/>
              </a:rPr>
              <a:t>1 · Collect</a:t>
            </a:r>
            <a:endParaRPr lang="en-US" sz="1600" dirty="0"/>
          </a:p>
        </p:txBody>
      </p:sp>
      <p:sp>
        <p:nvSpPr>
          <p:cNvPr id="6" name="Text 4"/>
          <p:cNvSpPr txBox="1"/>
          <p:nvPr/>
        </p:nvSpPr>
        <p:spPr>
          <a:xfrm>
            <a:off x="713232" y="2084832"/>
            <a:ext cx="1695846" cy="1097280"/>
          </a:xfrm>
          <a:prstGeom prst="rect">
            <a:avLst/>
          </a:prstGeom>
          <a:noFill/>
          <a:ln/>
        </p:spPr>
        <p:txBody>
          <a:bodyPr wrap="square" lIns="0" tIns="0" rIns="0" bIns="0" rtlCol="0" anchor="t"/>
          <a:lstStyle/>
          <a:p>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H</a:t>
            </a:r>
            <a:pPr algn="l" indent="0" marL="0">
              <a:spcAft>
                <a:spcPts val="600"/>
              </a:spcAft>
              <a:buNone/>
            </a:pPr>
            <a:r>
              <a:rPr lang="en-US" sz="1500" baseline="30000" dirty="0">
                <a:solidFill>
                  <a:srgbClr val="F1F5F9"/>
                </a:solidFill>
                <a:latin typeface="Cambria Math" pitchFamily="34" charset="0"/>
                <a:ea typeface="Cambria Math" pitchFamily="34" charset="-122"/>
                <a:cs typeface="Cambria Math" pitchFamily="34" charset="-120"/>
              </a:rPr>
              <a:t>+</a:t>
            </a:r>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  ∈  ℝ</a:t>
            </a:r>
            <a:pPr algn="l" indent="0" marL="0">
              <a:spcAft>
                <a:spcPts val="600"/>
              </a:spcAft>
              <a:buNone/>
            </a:pPr>
            <a:r>
              <a:rPr lang="en-US" sz="1500" baseline="30000" dirty="0">
                <a:solidFill>
                  <a:srgbClr val="F1F5F9"/>
                </a:solidFill>
                <a:latin typeface="Cambria Math" pitchFamily="34" charset="0"/>
                <a:ea typeface="Cambria Math" pitchFamily="34" charset="-122"/>
                <a:cs typeface="Cambria Math" pitchFamily="34" charset="-120"/>
              </a:rPr>
              <a:t>N₊ × d</a:t>
            </a:r>
            <a:endParaRPr lang="en-US" sz="1500" dirty="0"/>
          </a:p>
          <a:p>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H</a:t>
            </a:r>
            <a:pPr algn="l" indent="0" marL="0">
              <a:spcAft>
                <a:spcPts val="600"/>
              </a:spcAft>
              <a:buNone/>
            </a:pPr>
            <a:r>
              <a:rPr lang="en-US" sz="1500" baseline="30000" dirty="0">
                <a:solidFill>
                  <a:srgbClr val="F1F5F9"/>
                </a:solidFill>
                <a:latin typeface="Cambria Math" pitchFamily="34" charset="0"/>
                <a:ea typeface="Cambria Math" pitchFamily="34" charset="-122"/>
                <a:cs typeface="Cambria Math" pitchFamily="34" charset="-120"/>
              </a:rPr>
              <a:t>−</a:t>
            </a:r>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  ∈  ℝ</a:t>
            </a:r>
            <a:pPr algn="l" indent="0" marL="0">
              <a:spcAft>
                <a:spcPts val="600"/>
              </a:spcAft>
              <a:buNone/>
            </a:pPr>
            <a:r>
              <a:rPr lang="en-US" sz="1500" baseline="30000" dirty="0">
                <a:solidFill>
                  <a:srgbClr val="F1F5F9"/>
                </a:solidFill>
                <a:latin typeface="Cambria Math" pitchFamily="34" charset="0"/>
                <a:ea typeface="Cambria Math" pitchFamily="34" charset="-122"/>
                <a:cs typeface="Cambria Math" pitchFamily="34" charset="-120"/>
              </a:rPr>
              <a:t>N₋ × d</a:t>
            </a:r>
            <a:endParaRPr lang="en-US" sz="1500" dirty="0"/>
          </a:p>
        </p:txBody>
      </p:sp>
      <p:sp>
        <p:nvSpPr>
          <p:cNvPr id="7" name="Text 5"/>
          <p:cNvSpPr txBox="1"/>
          <p:nvPr/>
        </p:nvSpPr>
        <p:spPr>
          <a:xfrm>
            <a:off x="713232" y="3246120"/>
            <a:ext cx="1695846" cy="777240"/>
          </a:xfrm>
          <a:prstGeom prst="rect">
            <a:avLst/>
          </a:prstGeom>
          <a:noFill/>
          <a:ln/>
        </p:spPr>
        <p:txBody>
          <a:bodyPr wrap="square" lIns="0" tIns="0" rIns="0" bIns="0" rtlCol="0" anchor="t"/>
          <a:lstStyle/>
          <a:p>
            <a:pPr algn="l" indent="0" marL="0">
              <a:buNone/>
            </a:pPr>
            <a:r>
              <a:rPr lang="en-US" sz="1300" dirty="0">
                <a:solidFill>
                  <a:srgbClr val="A7B4C8"/>
                </a:solidFill>
                <a:latin typeface="Arial" pitchFamily="34" charset="0"/>
                <a:ea typeface="Arial" pitchFamily="34" charset="-122"/>
                <a:cs typeface="Arial" pitchFamily="34" charset="-120"/>
              </a:rPr>
              <a:t>successful / failed rollouts; rows = token-pooled h at layer ℓ</a:t>
            </a:r>
            <a:endParaRPr lang="en-US" sz="1300" dirty="0"/>
          </a:p>
        </p:txBody>
      </p:sp>
      <p:sp>
        <p:nvSpPr>
          <p:cNvPr id="8" name="Shape 6"/>
          <p:cNvSpPr/>
          <p:nvPr/>
        </p:nvSpPr>
        <p:spPr>
          <a:xfrm>
            <a:off x="2555382" y="2766060"/>
            <a:ext cx="237744" cy="0"/>
          </a:xfrm>
          <a:prstGeom prst="line">
            <a:avLst/>
          </a:prstGeom>
          <a:noFill/>
          <a:ln w="25400">
            <a:solidFill>
              <a:srgbClr val="6B7A93"/>
            </a:solidFill>
            <a:prstDash val="solid"/>
            <a:tailEnd type="triangle"/>
          </a:ln>
        </p:spPr>
      </p:sp>
      <p:sp>
        <p:nvSpPr>
          <p:cNvPr id="9" name="Shape 7"/>
          <p:cNvSpPr/>
          <p:nvPr/>
        </p:nvSpPr>
        <p:spPr>
          <a:xfrm>
            <a:off x="2829702" y="1463040"/>
            <a:ext cx="1970166" cy="2606040"/>
          </a:xfrm>
          <a:prstGeom prst="roundRect">
            <a:avLst>
              <a:gd name="adj" fmla="val 3713"/>
            </a:avLst>
          </a:prstGeom>
          <a:solidFill>
            <a:srgbClr val="131E33"/>
          </a:solidFill>
          <a:ln/>
        </p:spPr>
      </p:sp>
      <p:sp>
        <p:nvSpPr>
          <p:cNvPr id="10" name="Text 8"/>
          <p:cNvSpPr txBox="1"/>
          <p:nvPr/>
        </p:nvSpPr>
        <p:spPr>
          <a:xfrm>
            <a:off x="2994294" y="1627632"/>
            <a:ext cx="1695846" cy="310896"/>
          </a:xfrm>
          <a:prstGeom prst="rect">
            <a:avLst/>
          </a:prstGeom>
          <a:noFill/>
          <a:ln/>
        </p:spPr>
        <p:txBody>
          <a:bodyPr wrap="square" lIns="0" tIns="0" rIns="0" bIns="0" rtlCol="0" anchor="t"/>
          <a:lstStyle/>
          <a:p>
            <a:pPr algn="l" indent="0" marL="0">
              <a:buNone/>
            </a:pPr>
            <a:r>
              <a:rPr lang="en-US" sz="1600" b="1" dirty="0">
                <a:solidFill>
                  <a:srgbClr val="38BDF8"/>
                </a:solidFill>
                <a:latin typeface="Arial" pitchFamily="34" charset="0"/>
                <a:ea typeface="Arial" pitchFamily="34" charset="-122"/>
                <a:cs typeface="Arial" pitchFamily="34" charset="-120"/>
              </a:rPr>
              <a:t>2 · Correlate</a:t>
            </a:r>
            <a:endParaRPr lang="en-US" sz="1600" dirty="0"/>
          </a:p>
        </p:txBody>
      </p:sp>
      <p:sp>
        <p:nvSpPr>
          <p:cNvPr id="11" name="Text 9"/>
          <p:cNvSpPr txBox="1"/>
          <p:nvPr/>
        </p:nvSpPr>
        <p:spPr>
          <a:xfrm>
            <a:off x="2994294" y="2084832"/>
            <a:ext cx="1695846" cy="1097280"/>
          </a:xfrm>
          <a:prstGeom prst="rect">
            <a:avLst/>
          </a:prstGeom>
          <a:noFill/>
          <a:ln/>
        </p:spPr>
        <p:txBody>
          <a:bodyPr wrap="square" lIns="0" tIns="0" rIns="0" bIns="0" rtlCol="0" anchor="t"/>
          <a:lstStyle/>
          <a:p>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R = (1/N) Σ</a:t>
            </a:r>
            <a:pPr algn="l" indent="0" marL="0">
              <a:spcAft>
                <a:spcPts val="600"/>
              </a:spcAft>
              <a:buNone/>
            </a:pPr>
            <a:r>
              <a:rPr lang="en-US" sz="1500" baseline="-40000" dirty="0">
                <a:solidFill>
                  <a:srgbClr val="F1F5F9"/>
                </a:solidFill>
                <a:latin typeface="Cambria Math" pitchFamily="34" charset="0"/>
                <a:ea typeface="Cambria Math" pitchFamily="34" charset="-122"/>
                <a:cs typeface="Cambria Math" pitchFamily="34" charset="-120"/>
              </a:rPr>
              <a:t>i</a:t>
            </a:r>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 x</a:t>
            </a:r>
            <a:pPr algn="l" indent="0" marL="0">
              <a:spcAft>
                <a:spcPts val="600"/>
              </a:spcAft>
              <a:buNone/>
            </a:pPr>
            <a:r>
              <a:rPr lang="en-US" sz="1500" baseline="-40000" dirty="0">
                <a:solidFill>
                  <a:srgbClr val="F1F5F9"/>
                </a:solidFill>
                <a:latin typeface="Cambria Math" pitchFamily="34" charset="0"/>
                <a:ea typeface="Cambria Math" pitchFamily="34" charset="-122"/>
                <a:cs typeface="Cambria Math" pitchFamily="34" charset="-120"/>
              </a:rPr>
              <a:t>i</a:t>
            </a:r>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 x</a:t>
            </a:r>
            <a:pPr algn="l" indent="0" marL="0">
              <a:spcAft>
                <a:spcPts val="600"/>
              </a:spcAft>
              <a:buNone/>
            </a:pPr>
            <a:r>
              <a:rPr lang="en-US" sz="1500" baseline="-40000" dirty="0">
                <a:solidFill>
                  <a:srgbClr val="F1F5F9"/>
                </a:solidFill>
                <a:latin typeface="Cambria Math" pitchFamily="34" charset="0"/>
                <a:ea typeface="Cambria Math" pitchFamily="34" charset="-122"/>
                <a:cs typeface="Cambria Math" pitchFamily="34" charset="-120"/>
              </a:rPr>
              <a:t>i</a:t>
            </a:r>
            <a:pPr algn="l" indent="0" marL="0">
              <a:spcAft>
                <a:spcPts val="600"/>
              </a:spcAft>
              <a:buNone/>
            </a:pPr>
            <a:r>
              <a:rPr lang="en-US" sz="1500" baseline="30000" dirty="0">
                <a:solidFill>
                  <a:srgbClr val="F1F5F9"/>
                </a:solidFill>
                <a:latin typeface="Cambria Math" pitchFamily="34" charset="0"/>
                <a:ea typeface="Cambria Math" pitchFamily="34" charset="-122"/>
                <a:cs typeface="Cambria Math" pitchFamily="34" charset="-120"/>
              </a:rPr>
              <a:t>T</a:t>
            </a:r>
            <a:endParaRPr lang="en-US" sz="1500" dirty="0"/>
          </a:p>
          <a:p>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x</a:t>
            </a:r>
            <a:pPr algn="l" indent="0" marL="0">
              <a:spcAft>
                <a:spcPts val="600"/>
              </a:spcAft>
              <a:buNone/>
            </a:pPr>
            <a:r>
              <a:rPr lang="en-US" sz="1500" baseline="-40000" dirty="0">
                <a:solidFill>
                  <a:srgbClr val="F1F5F9"/>
                </a:solidFill>
                <a:latin typeface="Cambria Math" pitchFamily="34" charset="0"/>
                <a:ea typeface="Cambria Math" pitchFamily="34" charset="-122"/>
                <a:cs typeface="Cambria Math" pitchFamily="34" charset="-120"/>
              </a:rPr>
              <a:t>i</a:t>
            </a:r>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 = h</a:t>
            </a:r>
            <a:pPr algn="l" indent="0" marL="0">
              <a:spcAft>
                <a:spcPts val="600"/>
              </a:spcAft>
              <a:buNone/>
            </a:pPr>
            <a:r>
              <a:rPr lang="en-US" sz="1500" baseline="-40000" dirty="0">
                <a:solidFill>
                  <a:srgbClr val="F1F5F9"/>
                </a:solidFill>
                <a:latin typeface="Cambria Math" pitchFamily="34" charset="0"/>
                <a:ea typeface="Cambria Math" pitchFamily="34" charset="-122"/>
                <a:cs typeface="Cambria Math" pitchFamily="34" charset="-120"/>
              </a:rPr>
              <a:t>i</a:t>
            </a:r>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 − μ</a:t>
            </a:r>
            <a:endParaRPr lang="en-US" sz="1500" dirty="0"/>
          </a:p>
          <a:p>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R ∈ ℝ</a:t>
            </a:r>
            <a:pPr algn="l" indent="0" marL="0">
              <a:spcAft>
                <a:spcPts val="600"/>
              </a:spcAft>
              <a:buNone/>
            </a:pPr>
            <a:r>
              <a:rPr lang="en-US" sz="1500" baseline="30000" dirty="0">
                <a:solidFill>
                  <a:srgbClr val="F1F5F9"/>
                </a:solidFill>
                <a:latin typeface="Cambria Math" pitchFamily="34" charset="0"/>
                <a:ea typeface="Cambria Math" pitchFamily="34" charset="-122"/>
                <a:cs typeface="Cambria Math" pitchFamily="34" charset="-120"/>
              </a:rPr>
              <a:t>d × d</a:t>
            </a:r>
            <a:endParaRPr lang="en-US" sz="1500" dirty="0"/>
          </a:p>
        </p:txBody>
      </p:sp>
      <p:sp>
        <p:nvSpPr>
          <p:cNvPr id="12" name="Text 10"/>
          <p:cNvSpPr txBox="1"/>
          <p:nvPr/>
        </p:nvSpPr>
        <p:spPr>
          <a:xfrm>
            <a:off x="2994294" y="3246120"/>
            <a:ext cx="1695846" cy="777240"/>
          </a:xfrm>
          <a:prstGeom prst="rect">
            <a:avLst/>
          </a:prstGeom>
          <a:noFill/>
          <a:ln/>
        </p:spPr>
        <p:txBody>
          <a:bodyPr wrap="square" lIns="0" tIns="0" rIns="0" bIns="0" rtlCol="0" anchor="t"/>
          <a:lstStyle/>
          <a:p>
            <a:pPr algn="l" indent="0" marL="0">
              <a:buNone/>
            </a:pPr>
            <a:r>
              <a:rPr lang="en-US" sz="1300" dirty="0">
                <a:solidFill>
                  <a:srgbClr val="A7B4C8"/>
                </a:solidFill>
                <a:latin typeface="Arial" pitchFamily="34" charset="0"/>
                <a:ea typeface="Arial" pitchFamily="34" charset="-122"/>
                <a:cs typeface="Arial" pitchFamily="34" charset="-120"/>
              </a:rPr>
              <a:t>one R per class, mean-centered</a:t>
            </a:r>
            <a:endParaRPr lang="en-US" sz="1300" dirty="0"/>
          </a:p>
        </p:txBody>
      </p:sp>
      <p:sp>
        <p:nvSpPr>
          <p:cNvPr id="13" name="Shape 11"/>
          <p:cNvSpPr/>
          <p:nvPr/>
        </p:nvSpPr>
        <p:spPr>
          <a:xfrm>
            <a:off x="4836444" y="2766060"/>
            <a:ext cx="237744" cy="0"/>
          </a:xfrm>
          <a:prstGeom prst="line">
            <a:avLst/>
          </a:prstGeom>
          <a:noFill/>
          <a:ln w="25400">
            <a:solidFill>
              <a:srgbClr val="6B7A93"/>
            </a:solidFill>
            <a:prstDash val="solid"/>
            <a:tailEnd type="triangle"/>
          </a:ln>
        </p:spPr>
      </p:sp>
      <p:sp>
        <p:nvSpPr>
          <p:cNvPr id="14" name="Shape 12"/>
          <p:cNvSpPr/>
          <p:nvPr/>
        </p:nvSpPr>
        <p:spPr>
          <a:xfrm>
            <a:off x="5110764" y="1463040"/>
            <a:ext cx="1970166" cy="2606040"/>
          </a:xfrm>
          <a:prstGeom prst="roundRect">
            <a:avLst>
              <a:gd name="adj" fmla="val 3713"/>
            </a:avLst>
          </a:prstGeom>
          <a:solidFill>
            <a:srgbClr val="131E33"/>
          </a:solidFill>
          <a:ln/>
        </p:spPr>
      </p:sp>
      <p:sp>
        <p:nvSpPr>
          <p:cNvPr id="15" name="Text 13"/>
          <p:cNvSpPr txBox="1"/>
          <p:nvPr/>
        </p:nvSpPr>
        <p:spPr>
          <a:xfrm>
            <a:off x="5275356" y="1627632"/>
            <a:ext cx="1695846" cy="310896"/>
          </a:xfrm>
          <a:prstGeom prst="rect">
            <a:avLst/>
          </a:prstGeom>
          <a:noFill/>
          <a:ln/>
        </p:spPr>
        <p:txBody>
          <a:bodyPr wrap="square" lIns="0" tIns="0" rIns="0" bIns="0" rtlCol="0" anchor="t"/>
          <a:lstStyle/>
          <a:p>
            <a:pPr algn="l" indent="0" marL="0">
              <a:buNone/>
            </a:pPr>
            <a:r>
              <a:rPr lang="en-US" sz="1600" b="1" dirty="0">
                <a:solidFill>
                  <a:srgbClr val="38BDF8"/>
                </a:solidFill>
                <a:latin typeface="Arial" pitchFamily="34" charset="0"/>
                <a:ea typeface="Arial" pitchFamily="34" charset="-122"/>
                <a:cs typeface="Arial" pitchFamily="34" charset="-120"/>
              </a:rPr>
              <a:t>3 · Conceptor</a:t>
            </a:r>
            <a:endParaRPr lang="en-US" sz="1600" dirty="0"/>
          </a:p>
        </p:txBody>
      </p:sp>
      <p:sp>
        <p:nvSpPr>
          <p:cNvPr id="16" name="Text 14"/>
          <p:cNvSpPr txBox="1"/>
          <p:nvPr/>
        </p:nvSpPr>
        <p:spPr>
          <a:xfrm>
            <a:off x="5275356" y="2084832"/>
            <a:ext cx="1695846" cy="1097280"/>
          </a:xfrm>
          <a:prstGeom prst="rect">
            <a:avLst/>
          </a:prstGeom>
          <a:noFill/>
          <a:ln/>
        </p:spPr>
        <p:txBody>
          <a:bodyPr wrap="square" lIns="0" tIns="0" rIns="0" bIns="0" rtlCol="0" anchor="t"/>
          <a:lstStyle/>
          <a:p>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C = R (R + α</a:t>
            </a:r>
            <a:pPr algn="l" indent="0" marL="0">
              <a:spcAft>
                <a:spcPts val="600"/>
              </a:spcAft>
              <a:buNone/>
            </a:pPr>
            <a:r>
              <a:rPr lang="en-US" sz="1500" baseline="30000" dirty="0">
                <a:solidFill>
                  <a:srgbClr val="F1F5F9"/>
                </a:solidFill>
                <a:latin typeface="Cambria Math" pitchFamily="34" charset="0"/>
                <a:ea typeface="Cambria Math" pitchFamily="34" charset="-122"/>
                <a:cs typeface="Cambria Math" pitchFamily="34" charset="-120"/>
              </a:rPr>
              <a:t>−2</a:t>
            </a:r>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 I)</a:t>
            </a:r>
            <a:pPr algn="l" indent="0" marL="0">
              <a:spcAft>
                <a:spcPts val="600"/>
              </a:spcAft>
              <a:buNone/>
            </a:pPr>
            <a:r>
              <a:rPr lang="en-US" sz="1500" baseline="30000" dirty="0">
                <a:solidFill>
                  <a:srgbClr val="F1F5F9"/>
                </a:solidFill>
                <a:latin typeface="Cambria Math" pitchFamily="34" charset="0"/>
                <a:ea typeface="Cambria Math" pitchFamily="34" charset="-122"/>
                <a:cs typeface="Cambria Math" pitchFamily="34" charset="-120"/>
              </a:rPr>
              <a:t>−1</a:t>
            </a:r>
            <a:endParaRPr lang="en-US" sz="1500" dirty="0"/>
          </a:p>
        </p:txBody>
      </p:sp>
      <p:sp>
        <p:nvSpPr>
          <p:cNvPr id="17" name="Text 15"/>
          <p:cNvSpPr txBox="1"/>
          <p:nvPr/>
        </p:nvSpPr>
        <p:spPr>
          <a:xfrm>
            <a:off x="5275356" y="3246120"/>
            <a:ext cx="1695846" cy="777240"/>
          </a:xfrm>
          <a:prstGeom prst="rect">
            <a:avLst/>
          </a:prstGeom>
          <a:noFill/>
          <a:ln/>
        </p:spPr>
        <p:txBody>
          <a:bodyPr wrap="square" lIns="0" tIns="0" rIns="0" bIns="0" rtlCol="0" anchor="t"/>
          <a:lstStyle/>
          <a:p>
            <a:pPr algn="l" indent="0" marL="0">
              <a:buNone/>
            </a:pPr>
            <a:r>
              <a:rPr lang="en-US" sz="1300" dirty="0">
                <a:solidFill>
                  <a:srgbClr val="A7B4C8"/>
                </a:solidFill>
                <a:latin typeface="Arial" pitchFamily="34" charset="0"/>
                <a:ea typeface="Arial" pitchFamily="34" charset="-122"/>
                <a:cs typeface="Arial" pitchFamily="34" charset="-120"/>
              </a:rPr>
              <a:t>eigenvalues λ / (λ + α</a:t>
            </a:r>
            <a:pPr algn="l" indent="0" marL="0">
              <a:buNone/>
            </a:pPr>
            <a:r>
              <a:rPr lang="en-US" sz="1300" baseline="30000" dirty="0">
                <a:solidFill>
                  <a:srgbClr val="A7B4C8"/>
                </a:solidFill>
                <a:latin typeface="Arial" pitchFamily="34" charset="0"/>
                <a:ea typeface="Arial" pitchFamily="34" charset="-122"/>
                <a:cs typeface="Arial" pitchFamily="34" charset="-120"/>
              </a:rPr>
              <a:t>−2</a:t>
            </a:r>
            <a:pPr algn="l" indent="0" marL="0">
              <a:buNone/>
            </a:pPr>
            <a:r>
              <a:rPr lang="en-US" sz="1300" dirty="0">
                <a:solidFill>
                  <a:srgbClr val="A7B4C8"/>
                </a:solidFill>
                <a:latin typeface="Arial" pitchFamily="34" charset="0"/>
                <a:ea typeface="Arial" pitchFamily="34" charset="-122"/>
                <a:cs typeface="Arial" pitchFamily="34" charset="-120"/>
              </a:rPr>
              <a:t>) ∈ [0, 1): a soft projection</a:t>
            </a:r>
            <a:endParaRPr lang="en-US" sz="1300" dirty="0"/>
          </a:p>
        </p:txBody>
      </p:sp>
      <p:sp>
        <p:nvSpPr>
          <p:cNvPr id="18" name="Shape 16"/>
          <p:cNvSpPr/>
          <p:nvPr/>
        </p:nvSpPr>
        <p:spPr>
          <a:xfrm>
            <a:off x="7117507" y="2766060"/>
            <a:ext cx="237744" cy="0"/>
          </a:xfrm>
          <a:prstGeom prst="line">
            <a:avLst/>
          </a:prstGeom>
          <a:noFill/>
          <a:ln w="25400">
            <a:solidFill>
              <a:srgbClr val="6B7A93"/>
            </a:solidFill>
            <a:prstDash val="solid"/>
            <a:tailEnd type="triangle"/>
          </a:ln>
        </p:spPr>
      </p:sp>
      <p:sp>
        <p:nvSpPr>
          <p:cNvPr id="19" name="Shape 17"/>
          <p:cNvSpPr/>
          <p:nvPr/>
        </p:nvSpPr>
        <p:spPr>
          <a:xfrm>
            <a:off x="7391827" y="1463040"/>
            <a:ext cx="1970166" cy="2606040"/>
          </a:xfrm>
          <a:prstGeom prst="roundRect">
            <a:avLst>
              <a:gd name="adj" fmla="val 3713"/>
            </a:avLst>
          </a:prstGeom>
          <a:solidFill>
            <a:srgbClr val="131E33"/>
          </a:solidFill>
          <a:ln/>
        </p:spPr>
      </p:sp>
      <p:sp>
        <p:nvSpPr>
          <p:cNvPr id="20" name="Text 18"/>
          <p:cNvSpPr txBox="1"/>
          <p:nvPr/>
        </p:nvSpPr>
        <p:spPr>
          <a:xfrm>
            <a:off x="7556419" y="1627632"/>
            <a:ext cx="1695846" cy="310896"/>
          </a:xfrm>
          <a:prstGeom prst="rect">
            <a:avLst/>
          </a:prstGeom>
          <a:noFill/>
          <a:ln/>
        </p:spPr>
        <p:txBody>
          <a:bodyPr wrap="square" lIns="0" tIns="0" rIns="0" bIns="0" rtlCol="0" anchor="t"/>
          <a:lstStyle/>
          <a:p>
            <a:pPr algn="l" indent="0" marL="0">
              <a:buNone/>
            </a:pPr>
            <a:r>
              <a:rPr lang="en-US" sz="1600" b="1" dirty="0">
                <a:solidFill>
                  <a:srgbClr val="38BDF8"/>
                </a:solidFill>
                <a:latin typeface="Arial" pitchFamily="34" charset="0"/>
                <a:ea typeface="Arial" pitchFamily="34" charset="-122"/>
                <a:cs typeface="Arial" pitchFamily="34" charset="-120"/>
              </a:rPr>
              <a:t>4 · Contrast</a:t>
            </a:r>
            <a:endParaRPr lang="en-US" sz="1600" dirty="0"/>
          </a:p>
        </p:txBody>
      </p:sp>
      <p:sp>
        <p:nvSpPr>
          <p:cNvPr id="21" name="Text 19"/>
          <p:cNvSpPr txBox="1"/>
          <p:nvPr/>
        </p:nvSpPr>
        <p:spPr>
          <a:xfrm>
            <a:off x="7556419" y="2084832"/>
            <a:ext cx="1695846" cy="1097280"/>
          </a:xfrm>
          <a:prstGeom prst="rect">
            <a:avLst/>
          </a:prstGeom>
          <a:noFill/>
          <a:ln/>
        </p:spPr>
        <p:txBody>
          <a:bodyPr wrap="square" lIns="0" tIns="0" rIns="0" bIns="0" rtlCol="0" anchor="t"/>
          <a:lstStyle/>
          <a:p>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C</a:t>
            </a:r>
            <a:pPr algn="l" indent="0" marL="0">
              <a:spcAft>
                <a:spcPts val="600"/>
              </a:spcAft>
              <a:buNone/>
            </a:pPr>
            <a:r>
              <a:rPr lang="en-US" sz="1500" baseline="-40000" dirty="0">
                <a:solidFill>
                  <a:srgbClr val="F1F5F9"/>
                </a:solidFill>
                <a:latin typeface="Cambria Math" pitchFamily="34" charset="0"/>
                <a:ea typeface="Cambria Math" pitchFamily="34" charset="-122"/>
                <a:cs typeface="Cambria Math" pitchFamily="34" charset="-120"/>
              </a:rPr>
              <a:t>steer</a:t>
            </a:r>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 = C</a:t>
            </a:r>
            <a:pPr algn="l" indent="0" marL="0">
              <a:spcAft>
                <a:spcPts val="600"/>
              </a:spcAft>
              <a:buNone/>
            </a:pPr>
            <a:r>
              <a:rPr lang="en-US" sz="1500" baseline="30000" dirty="0">
                <a:solidFill>
                  <a:srgbClr val="F1F5F9"/>
                </a:solidFill>
                <a:latin typeface="Cambria Math" pitchFamily="34" charset="0"/>
                <a:ea typeface="Cambria Math" pitchFamily="34" charset="-122"/>
                <a:cs typeface="Cambria Math" pitchFamily="34" charset="-120"/>
              </a:rPr>
              <a:t>+</a:t>
            </a:r>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 ∧ ¬C</a:t>
            </a:r>
            <a:pPr algn="l" indent="0" marL="0">
              <a:spcAft>
                <a:spcPts val="600"/>
              </a:spcAft>
              <a:buNone/>
            </a:pPr>
            <a:r>
              <a:rPr lang="en-US" sz="1500" baseline="30000" dirty="0">
                <a:solidFill>
                  <a:srgbClr val="F1F5F9"/>
                </a:solidFill>
                <a:latin typeface="Cambria Math" pitchFamily="34" charset="0"/>
                <a:ea typeface="Cambria Math" pitchFamily="34" charset="-122"/>
                <a:cs typeface="Cambria Math" pitchFamily="34" charset="-120"/>
              </a:rPr>
              <a:t>−</a:t>
            </a:r>
            <a:endParaRPr lang="en-US" sz="1500" dirty="0"/>
          </a:p>
          <a:p>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¬C = I − C</a:t>
            </a:r>
            <a:endParaRPr lang="en-US" sz="1500" dirty="0"/>
          </a:p>
        </p:txBody>
      </p:sp>
      <p:sp>
        <p:nvSpPr>
          <p:cNvPr id="22" name="Text 20"/>
          <p:cNvSpPr txBox="1"/>
          <p:nvPr/>
        </p:nvSpPr>
        <p:spPr>
          <a:xfrm>
            <a:off x="7556419" y="3246120"/>
            <a:ext cx="1695846" cy="777240"/>
          </a:xfrm>
          <a:prstGeom prst="rect">
            <a:avLst/>
          </a:prstGeom>
          <a:noFill/>
          <a:ln/>
        </p:spPr>
        <p:txBody>
          <a:bodyPr wrap="square" lIns="0" tIns="0" rIns="0" bIns="0" rtlCol="0" anchor="t"/>
          <a:lstStyle/>
          <a:p>
            <a:pPr algn="l" indent="0" marL="0">
              <a:buNone/>
            </a:pPr>
            <a:r>
              <a:rPr lang="en-US" sz="1300" dirty="0">
                <a:solidFill>
                  <a:srgbClr val="A7B4C8"/>
                </a:solidFill>
                <a:latin typeface="Arial" pitchFamily="34" charset="0"/>
                <a:ea typeface="Arial" pitchFamily="34" charset="-122"/>
                <a:cs typeface="Arial" pitchFamily="34" charset="-120"/>
              </a:rPr>
              <a:t>A ∧ B =</a:t>
            </a:r>
            <a:endParaRPr lang="en-US" sz="1300" dirty="0"/>
          </a:p>
          <a:p>
            <a:pPr algn="l" indent="0" marL="0">
              <a:buNone/>
            </a:pPr>
            <a:r>
              <a:rPr lang="en-US" sz="1300" dirty="0">
                <a:solidFill>
                  <a:srgbClr val="A7B4C8"/>
                </a:solidFill>
                <a:latin typeface="Arial" pitchFamily="34" charset="0"/>
                <a:ea typeface="Arial" pitchFamily="34" charset="-122"/>
                <a:cs typeface="Arial" pitchFamily="34" charset="-120"/>
              </a:rPr>
              <a:t>(A</a:t>
            </a:r>
            <a:pPr algn="l" indent="0" marL="0">
              <a:buNone/>
            </a:pPr>
            <a:r>
              <a:rPr lang="en-US" sz="1300" baseline="30000" dirty="0">
                <a:solidFill>
                  <a:srgbClr val="A7B4C8"/>
                </a:solidFill>
                <a:latin typeface="Arial" pitchFamily="34" charset="0"/>
                <a:ea typeface="Arial" pitchFamily="34" charset="-122"/>
                <a:cs typeface="Arial" pitchFamily="34" charset="-120"/>
              </a:rPr>
              <a:t>−1</a:t>
            </a:r>
            <a:pPr algn="l" indent="0" marL="0">
              <a:buNone/>
            </a:pPr>
            <a:r>
              <a:rPr lang="en-US" sz="1300" dirty="0">
                <a:solidFill>
                  <a:srgbClr val="A7B4C8"/>
                </a:solidFill>
                <a:latin typeface="Arial" pitchFamily="34" charset="0"/>
                <a:ea typeface="Arial" pitchFamily="34" charset="-122"/>
                <a:cs typeface="Arial" pitchFamily="34" charset="-120"/>
              </a:rPr>
              <a:t> + B</a:t>
            </a:r>
            <a:pPr algn="l" indent="0" marL="0">
              <a:buNone/>
            </a:pPr>
            <a:r>
              <a:rPr lang="en-US" sz="1300" baseline="30000" dirty="0">
                <a:solidFill>
                  <a:srgbClr val="A7B4C8"/>
                </a:solidFill>
                <a:latin typeface="Arial" pitchFamily="34" charset="0"/>
                <a:ea typeface="Arial" pitchFamily="34" charset="-122"/>
                <a:cs typeface="Arial" pitchFamily="34" charset="-120"/>
              </a:rPr>
              <a:t>−1</a:t>
            </a:r>
            <a:pPr algn="l" indent="0" marL="0">
              <a:buNone/>
            </a:pPr>
            <a:r>
              <a:rPr lang="en-US" sz="1300" dirty="0">
                <a:solidFill>
                  <a:srgbClr val="A7B4C8"/>
                </a:solidFill>
                <a:latin typeface="Arial" pitchFamily="34" charset="0"/>
                <a:ea typeface="Arial" pitchFamily="34" charset="-122"/>
                <a:cs typeface="Arial" pitchFamily="34" charset="-120"/>
              </a:rPr>
              <a:t> − I)</a:t>
            </a:r>
            <a:pPr algn="l" indent="0" marL="0">
              <a:buNone/>
            </a:pPr>
            <a:r>
              <a:rPr lang="en-US" sz="1300" baseline="30000" dirty="0">
                <a:solidFill>
                  <a:srgbClr val="A7B4C8"/>
                </a:solidFill>
                <a:latin typeface="Arial" pitchFamily="34" charset="0"/>
                <a:ea typeface="Arial" pitchFamily="34" charset="-122"/>
                <a:cs typeface="Arial" pitchFamily="34" charset="-120"/>
              </a:rPr>
              <a:t>−1</a:t>
            </a:r>
            <a:endParaRPr lang="en-US" sz="1300" dirty="0"/>
          </a:p>
        </p:txBody>
      </p:sp>
      <p:sp>
        <p:nvSpPr>
          <p:cNvPr id="23" name="Shape 21"/>
          <p:cNvSpPr/>
          <p:nvPr/>
        </p:nvSpPr>
        <p:spPr>
          <a:xfrm>
            <a:off x="9398569" y="2766060"/>
            <a:ext cx="237744" cy="0"/>
          </a:xfrm>
          <a:prstGeom prst="line">
            <a:avLst/>
          </a:prstGeom>
          <a:noFill/>
          <a:ln w="25400">
            <a:solidFill>
              <a:srgbClr val="6B7A93"/>
            </a:solidFill>
            <a:prstDash val="solid"/>
            <a:tailEnd type="triangle"/>
          </a:ln>
        </p:spPr>
      </p:sp>
      <p:sp>
        <p:nvSpPr>
          <p:cNvPr id="24" name="Shape 22"/>
          <p:cNvSpPr/>
          <p:nvPr/>
        </p:nvSpPr>
        <p:spPr>
          <a:xfrm>
            <a:off x="9672889" y="1463040"/>
            <a:ext cx="1970166" cy="2606040"/>
          </a:xfrm>
          <a:prstGeom prst="roundRect">
            <a:avLst>
              <a:gd name="adj" fmla="val 3713"/>
            </a:avLst>
          </a:prstGeom>
          <a:solidFill>
            <a:srgbClr val="0E4A66"/>
          </a:solidFill>
          <a:ln w="12700">
            <a:solidFill>
              <a:srgbClr val="38BDF8"/>
            </a:solidFill>
            <a:prstDash val="solid"/>
          </a:ln>
        </p:spPr>
      </p:sp>
      <p:sp>
        <p:nvSpPr>
          <p:cNvPr id="25" name="Text 23"/>
          <p:cNvSpPr txBox="1"/>
          <p:nvPr/>
        </p:nvSpPr>
        <p:spPr>
          <a:xfrm>
            <a:off x="9837481" y="1627632"/>
            <a:ext cx="1695846" cy="310896"/>
          </a:xfrm>
          <a:prstGeom prst="rect">
            <a:avLst/>
          </a:prstGeom>
          <a:noFill/>
          <a:ln/>
        </p:spPr>
        <p:txBody>
          <a:bodyPr wrap="square" lIns="0" tIns="0" rIns="0" bIns="0" rtlCol="0" anchor="t"/>
          <a:lstStyle/>
          <a:p>
            <a:pPr algn="l" indent="0" marL="0">
              <a:buNone/>
            </a:pPr>
            <a:r>
              <a:rPr lang="en-US" sz="1600" b="1" dirty="0">
                <a:solidFill>
                  <a:srgbClr val="38BDF8"/>
                </a:solidFill>
                <a:latin typeface="Arial" pitchFamily="34" charset="0"/>
                <a:ea typeface="Arial" pitchFamily="34" charset="-122"/>
                <a:cs typeface="Arial" pitchFamily="34" charset="-120"/>
              </a:rPr>
              <a:t>5 · Steer</a:t>
            </a:r>
            <a:endParaRPr lang="en-US" sz="1600" dirty="0"/>
          </a:p>
        </p:txBody>
      </p:sp>
      <p:sp>
        <p:nvSpPr>
          <p:cNvPr id="26" name="Text 24"/>
          <p:cNvSpPr txBox="1"/>
          <p:nvPr/>
        </p:nvSpPr>
        <p:spPr>
          <a:xfrm>
            <a:off x="9837481" y="2084832"/>
            <a:ext cx="1695846" cy="1097280"/>
          </a:xfrm>
          <a:prstGeom prst="rect">
            <a:avLst/>
          </a:prstGeom>
          <a:noFill/>
          <a:ln/>
        </p:spPr>
        <p:txBody>
          <a:bodyPr wrap="square" lIns="0" tIns="0" rIns="0" bIns="0" rtlCol="0" anchor="t"/>
          <a:lstStyle/>
          <a:p>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M = (1 − β) I + β C</a:t>
            </a:r>
            <a:pPr algn="l" indent="0" marL="0">
              <a:spcAft>
                <a:spcPts val="600"/>
              </a:spcAft>
              <a:buNone/>
            </a:pPr>
            <a:r>
              <a:rPr lang="en-US" sz="1500" baseline="-40000" dirty="0">
                <a:solidFill>
                  <a:srgbClr val="F1F5F9"/>
                </a:solidFill>
                <a:latin typeface="Cambria Math" pitchFamily="34" charset="0"/>
                <a:ea typeface="Cambria Math" pitchFamily="34" charset="-122"/>
                <a:cs typeface="Cambria Math" pitchFamily="34" charset="-120"/>
              </a:rPr>
              <a:t>steer</a:t>
            </a:r>
            <a:endParaRPr lang="en-US" sz="1500" dirty="0"/>
          </a:p>
          <a:p>
            <a:pPr algn="l" indent="0" marL="0">
              <a:spcAft>
                <a:spcPts val="600"/>
              </a:spcAft>
              <a:buNone/>
            </a:pPr>
            <a:r>
              <a:rPr lang="en-US" sz="1500" dirty="0">
                <a:solidFill>
                  <a:srgbClr val="F1F5F9"/>
                </a:solidFill>
                <a:latin typeface="Cambria Math" pitchFamily="34" charset="0"/>
                <a:ea typeface="Cambria Math" pitchFamily="34" charset="-122"/>
                <a:cs typeface="Cambria Math" pitchFamily="34" charset="-120"/>
              </a:rPr>
              <a:t>h′ = M h</a:t>
            </a:r>
            <a:endParaRPr lang="en-US" sz="1500" dirty="0"/>
          </a:p>
        </p:txBody>
      </p:sp>
      <p:sp>
        <p:nvSpPr>
          <p:cNvPr id="27" name="Text 25"/>
          <p:cNvSpPr txBox="1"/>
          <p:nvPr/>
        </p:nvSpPr>
        <p:spPr>
          <a:xfrm>
            <a:off x="9837481" y="3246120"/>
            <a:ext cx="1695846" cy="777240"/>
          </a:xfrm>
          <a:prstGeom prst="rect">
            <a:avLst/>
          </a:prstGeom>
          <a:noFill/>
          <a:ln/>
        </p:spPr>
        <p:txBody>
          <a:bodyPr wrap="square" lIns="0" tIns="0" rIns="0" bIns="0" rtlCol="0" anchor="t"/>
          <a:lstStyle/>
          <a:p>
            <a:pPr algn="l" indent="0" marL="0">
              <a:buNone/>
            </a:pPr>
            <a:r>
              <a:rPr lang="en-US" sz="1300" dirty="0">
                <a:solidFill>
                  <a:srgbClr val="A7B4C8"/>
                </a:solidFill>
                <a:latin typeface="Arial" pitchFamily="34" charset="0"/>
                <a:ea typeface="Arial" pitchFamily="34" charset="-122"/>
                <a:cs typeface="Arial" pitchFamily="34" charset="-120"/>
              </a:rPr>
              <a:t>at every denoising step</a:t>
            </a:r>
            <a:endParaRPr lang="en-US" sz="1300" dirty="0"/>
          </a:p>
        </p:txBody>
      </p:sp>
      <p:sp>
        <p:nvSpPr>
          <p:cNvPr id="28" name="Shape 26"/>
          <p:cNvSpPr/>
          <p:nvPr/>
        </p:nvSpPr>
        <p:spPr>
          <a:xfrm>
            <a:off x="548640" y="4297680"/>
            <a:ext cx="11094415" cy="566928"/>
          </a:xfrm>
          <a:prstGeom prst="roundRect">
            <a:avLst>
              <a:gd name="adj" fmla="val 12903"/>
            </a:avLst>
          </a:prstGeom>
          <a:solidFill>
            <a:srgbClr val="131E33"/>
          </a:solidFill>
          <a:ln/>
        </p:spPr>
      </p:sp>
      <p:sp>
        <p:nvSpPr>
          <p:cNvPr id="29" name="Text 27"/>
          <p:cNvSpPr txBox="1"/>
          <p:nvPr/>
        </p:nvSpPr>
        <p:spPr>
          <a:xfrm>
            <a:off x="777240" y="4297680"/>
            <a:ext cx="10637215" cy="566928"/>
          </a:xfrm>
          <a:prstGeom prst="rect">
            <a:avLst/>
          </a:prstGeom>
          <a:noFill/>
          <a:ln/>
        </p:spPr>
        <p:txBody>
          <a:bodyPr wrap="square" lIns="0" tIns="0" rIns="0" bIns="0" rtlCol="0" anchor="ctr"/>
          <a:lstStyle/>
          <a:p>
            <a:pPr algn="l" indent="0" marL="0">
              <a:buNone/>
            </a:pPr>
            <a:r>
              <a:rPr lang="en-US" sz="1600" dirty="0">
                <a:solidFill>
                  <a:srgbClr val="A7B4C8"/>
                </a:solidFill>
                <a:latin typeface="Arial" pitchFamily="34" charset="0"/>
                <a:ea typeface="Arial" pitchFamily="34" charset="-122"/>
                <a:cs typeface="Arial" pitchFamily="34" charset="-120"/>
              </a:rPr>
              <a:t>d = 1024 (action-expert width)  ·  10 action tokens  ·  10 Euler denoising steps  ·  layer ℓ ∈ {0, 5, 11, 17} of 18</a:t>
            </a:r>
            <a:endParaRPr lang="en-US" sz="1600" dirty="0"/>
          </a:p>
        </p:txBody>
      </p:sp>
      <p:sp>
        <p:nvSpPr>
          <p:cNvPr id="30" name="Text 28"/>
          <p:cNvSpPr txBox="1"/>
          <p:nvPr/>
        </p:nvSpPr>
        <p:spPr>
          <a:xfrm>
            <a:off x="548640" y="5120640"/>
            <a:ext cx="1463040" cy="365760"/>
          </a:xfrm>
          <a:prstGeom prst="rect">
            <a:avLst/>
          </a:prstGeom>
          <a:noFill/>
          <a:ln/>
        </p:spPr>
        <p:txBody>
          <a:bodyPr wrap="square" lIns="0" tIns="0" rIns="0" bIns="0" rtlCol="0" anchor="ctr"/>
          <a:lstStyle/>
          <a:p>
            <a:pPr algn="l" indent="0" marL="0">
              <a:buNone/>
            </a:pPr>
            <a:r>
              <a:rPr lang="en-US" sz="1600" b="1" dirty="0">
                <a:solidFill>
                  <a:srgbClr val="F1F5F9"/>
                </a:solidFill>
                <a:latin typeface="Arial" pitchFamily="34" charset="0"/>
                <a:ea typeface="Arial" pitchFamily="34" charset="-122"/>
                <a:cs typeface="Arial" pitchFamily="34" charset="-120"/>
              </a:rPr>
              <a:t>Strategies</a:t>
            </a:r>
            <a:endParaRPr lang="en-US" sz="1600" dirty="0"/>
          </a:p>
        </p:txBody>
      </p:sp>
      <p:sp>
        <p:nvSpPr>
          <p:cNvPr id="31" name="Shape 29"/>
          <p:cNvSpPr/>
          <p:nvPr/>
        </p:nvSpPr>
        <p:spPr>
          <a:xfrm>
            <a:off x="2103120" y="5102352"/>
            <a:ext cx="3063240" cy="420624"/>
          </a:xfrm>
          <a:prstGeom prst="roundRect">
            <a:avLst>
              <a:gd name="adj" fmla="val 17391"/>
            </a:avLst>
          </a:prstGeom>
          <a:solidFill>
            <a:srgbClr val="131E33"/>
          </a:solidFill>
          <a:ln w="12700">
            <a:solidFill>
              <a:srgbClr val="26354F"/>
            </a:solidFill>
            <a:prstDash val="solid"/>
          </a:ln>
        </p:spPr>
      </p:sp>
      <p:sp>
        <p:nvSpPr>
          <p:cNvPr id="32" name="Text 30"/>
          <p:cNvSpPr txBox="1"/>
          <p:nvPr/>
        </p:nvSpPr>
        <p:spPr>
          <a:xfrm>
            <a:off x="2240280" y="5102352"/>
            <a:ext cx="2834640" cy="42062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Global</a:t>
            </a:r>
            <a:pPr algn="l" indent="0" marL="0">
              <a:buNone/>
            </a:pPr>
            <a:r>
              <a:rPr lang="en-US" sz="1500" dirty="0">
                <a:solidFill>
                  <a:srgbClr val="F1F5F9"/>
                </a:solidFill>
                <a:latin typeface="Arial" pitchFamily="34" charset="0"/>
                <a:ea typeface="Arial" pitchFamily="34" charset="-122"/>
                <a:cs typeface="Arial" pitchFamily="34" charset="-120"/>
              </a:rPr>
              <a:t> — one C</a:t>
            </a:r>
            <a:pPr algn="l" indent="0" marL="0">
              <a:buNone/>
            </a:pPr>
            <a:r>
              <a:rPr lang="en-US" sz="1500" baseline="-40000" dirty="0">
                <a:solidFill>
                  <a:srgbClr val="F1F5F9"/>
                </a:solidFill>
                <a:latin typeface="Arial" pitchFamily="34" charset="0"/>
                <a:ea typeface="Arial" pitchFamily="34" charset="-122"/>
                <a:cs typeface="Arial" pitchFamily="34" charset="-120"/>
              </a:rPr>
              <a:t>steer</a:t>
            </a:r>
            <a:pPr algn="l" indent="0" marL="0">
              <a:buNone/>
            </a:pPr>
            <a:r>
              <a:rPr lang="en-US" sz="1500" dirty="0">
                <a:solidFill>
                  <a:srgbClr val="F1F5F9"/>
                </a:solidFill>
                <a:latin typeface="Arial" pitchFamily="34" charset="0"/>
                <a:ea typeface="Arial" pitchFamily="34" charset="-122"/>
                <a:cs typeface="Arial" pitchFamily="34" charset="-120"/>
              </a:rPr>
              <a:t> for all steps</a:t>
            </a:r>
            <a:endParaRPr lang="en-US" sz="1500" dirty="0"/>
          </a:p>
        </p:txBody>
      </p:sp>
      <p:sp>
        <p:nvSpPr>
          <p:cNvPr id="33" name="Shape 31"/>
          <p:cNvSpPr/>
          <p:nvPr/>
        </p:nvSpPr>
        <p:spPr>
          <a:xfrm>
            <a:off x="5349240" y="5102352"/>
            <a:ext cx="3063240" cy="420624"/>
          </a:xfrm>
          <a:prstGeom prst="roundRect">
            <a:avLst>
              <a:gd name="adj" fmla="val 17391"/>
            </a:avLst>
          </a:prstGeom>
          <a:solidFill>
            <a:srgbClr val="131E33"/>
          </a:solidFill>
          <a:ln w="12700">
            <a:solidFill>
              <a:srgbClr val="26354F"/>
            </a:solidFill>
            <a:prstDash val="solid"/>
          </a:ln>
        </p:spPr>
      </p:sp>
      <p:sp>
        <p:nvSpPr>
          <p:cNvPr id="34" name="Text 32"/>
          <p:cNvSpPr txBox="1"/>
          <p:nvPr/>
        </p:nvSpPr>
        <p:spPr>
          <a:xfrm>
            <a:off x="5486400" y="5102352"/>
            <a:ext cx="2834640" cy="42062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Per-step</a:t>
            </a:r>
            <a:pPr algn="l" indent="0" marL="0">
              <a:buNone/>
            </a:pPr>
            <a:r>
              <a:rPr lang="en-US" sz="1500" dirty="0">
                <a:solidFill>
                  <a:srgbClr val="F1F5F9"/>
                </a:solidFill>
                <a:latin typeface="Arial" pitchFamily="34" charset="0"/>
                <a:ea typeface="Arial" pitchFamily="34" charset="-122"/>
                <a:cs typeface="Arial" pitchFamily="34" charset="-120"/>
              </a:rPr>
              <a:t> — one C per step</a:t>
            </a:r>
            <a:endParaRPr lang="en-US" sz="1500" dirty="0"/>
          </a:p>
        </p:txBody>
      </p:sp>
      <p:sp>
        <p:nvSpPr>
          <p:cNvPr id="35" name="Shape 33"/>
          <p:cNvSpPr/>
          <p:nvPr/>
        </p:nvSpPr>
        <p:spPr>
          <a:xfrm>
            <a:off x="8595360" y="5102352"/>
            <a:ext cx="3063240" cy="420624"/>
          </a:xfrm>
          <a:prstGeom prst="roundRect">
            <a:avLst>
              <a:gd name="adj" fmla="val 17391"/>
            </a:avLst>
          </a:prstGeom>
          <a:solidFill>
            <a:srgbClr val="131E33"/>
          </a:solidFill>
          <a:ln w="12700">
            <a:solidFill>
              <a:srgbClr val="26354F"/>
            </a:solidFill>
            <a:prstDash val="solid"/>
          </a:ln>
        </p:spPr>
      </p:sp>
      <p:sp>
        <p:nvSpPr>
          <p:cNvPr id="36" name="Text 34"/>
          <p:cNvSpPr txBox="1"/>
          <p:nvPr/>
        </p:nvSpPr>
        <p:spPr>
          <a:xfrm>
            <a:off x="8732520" y="5102352"/>
            <a:ext cx="2834640" cy="42062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Positive-only</a:t>
            </a:r>
            <a:pPr algn="l" indent="0" marL="0">
              <a:buNone/>
            </a:pPr>
            <a:r>
              <a:rPr lang="en-US" sz="1500" dirty="0">
                <a:solidFill>
                  <a:srgbClr val="F1F5F9"/>
                </a:solidFill>
                <a:latin typeface="Arial" pitchFamily="34" charset="0"/>
                <a:ea typeface="Arial" pitchFamily="34" charset="-122"/>
                <a:cs typeface="Arial" pitchFamily="34" charset="-120"/>
              </a:rPr>
              <a:t> — C = C</a:t>
            </a:r>
            <a:pPr algn="l" indent="0" marL="0">
              <a:buNone/>
            </a:pPr>
            <a:r>
              <a:rPr lang="en-US" sz="1500" baseline="30000" dirty="0">
                <a:solidFill>
                  <a:srgbClr val="F1F5F9"/>
                </a:solidFill>
                <a:latin typeface="Arial" pitchFamily="34" charset="0"/>
                <a:ea typeface="Arial" pitchFamily="34" charset="-122"/>
                <a:cs typeface="Arial" pitchFamily="34" charset="-120"/>
              </a:rPr>
              <a:t>+</a:t>
            </a:r>
            <a:endParaRPr lang="en-US" sz="1500" dirty="0"/>
          </a:p>
        </p:txBody>
      </p:sp>
      <p:sp>
        <p:nvSpPr>
          <p:cNvPr id="37" name="Text 35"/>
          <p:cNvSpPr txBox="1"/>
          <p:nvPr/>
        </p:nvSpPr>
        <p:spPr>
          <a:xfrm>
            <a:off x="548640" y="5669280"/>
            <a:ext cx="11094415" cy="274320"/>
          </a:xfrm>
          <a:prstGeom prst="rect">
            <a:avLst/>
          </a:prstGeom>
          <a:noFill/>
          <a:ln/>
        </p:spPr>
        <p:txBody>
          <a:bodyPr wrap="square" lIns="0" tIns="0" rIns="0" bIns="0" rtlCol="0" anchor="t"/>
          <a:lstStyle/>
          <a:p>
            <a:pPr algn="l" indent="0" marL="0">
              <a:buNone/>
            </a:pPr>
            <a:r>
              <a:rPr lang="en-US" sz="1300" dirty="0">
                <a:solidFill>
                  <a:srgbClr val="F2C94C"/>
                </a:solidFill>
                <a:latin typeface="Arial" pitchFamily="34" charset="0"/>
                <a:ea typeface="Arial" pitchFamily="34" charset="-122"/>
                <a:cs typeface="Arial" pitchFamily="34" charset="-120"/>
              </a:rPr>
              <a:t>Paper description. Implementations differ on several of these steps (slides 11, 15).</a:t>
            </a:r>
            <a:endParaRPr lang="en-US" sz="1300" dirty="0"/>
          </a:p>
        </p:txBody>
      </p:sp>
      <p:sp>
        <p:nvSpPr>
          <p:cNvPr id="38" name="Text 36"/>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Paper Sec. 3, App. A.7–A.9 [P]. Released code: src/openpi/serving/{conceptors,steering}.py</a:t>
            </a:r>
            <a:endParaRPr lang="en-US" sz="1000" dirty="0"/>
          </a:p>
        </p:txBody>
      </p:sp>
      <p:sp>
        <p:nvSpPr>
          <p:cNvPr id="39" name="Text 37"/>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40" name="Text 38"/>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3 / 21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WHAT THE PAPER REPORTS</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KS3, Table 4: steering lifts 0.53 → 0.93</a:t>
            </a:r>
            <a:endParaRPr lang="en-US" sz="3000" dirty="0"/>
          </a:p>
        </p:txBody>
      </p:sp>
      <p:sp>
        <p:nvSpPr>
          <p:cNvPr id="4" name="Shape 2"/>
          <p:cNvSpPr/>
          <p:nvPr/>
        </p:nvSpPr>
        <p:spPr>
          <a:xfrm>
            <a:off x="548640" y="1261872"/>
            <a:ext cx="2927970" cy="310896"/>
          </a:xfrm>
          <a:prstGeom prst="roundRect">
            <a:avLst>
              <a:gd name="adj" fmla="val 50000"/>
            </a:avLst>
          </a:prstGeom>
          <a:solidFill>
            <a:srgbClr val="131E33"/>
          </a:solidFill>
          <a:ln w="12700">
            <a:solidFill>
              <a:srgbClr val="F59E0B"/>
            </a:solidFill>
            <a:prstDash val="solid"/>
          </a:ln>
        </p:spPr>
      </p:sp>
      <p:sp>
        <p:nvSpPr>
          <p:cNvPr id="5" name="Text 3"/>
          <p:cNvSpPr txBox="1"/>
          <p:nvPr/>
        </p:nvSpPr>
        <p:spPr>
          <a:xfrm>
            <a:off x="548640" y="1261872"/>
            <a:ext cx="2927970" cy="310896"/>
          </a:xfrm>
          <a:prstGeom prst="rect">
            <a:avLst/>
          </a:prstGeom>
          <a:noFill/>
          <a:ln/>
        </p:spPr>
        <p:txBody>
          <a:bodyPr wrap="square" lIns="0" tIns="0" rIns="0" bIns="0" rtlCol="0" anchor="ctr"/>
          <a:lstStyle/>
          <a:p>
            <a:pPr algn="ctr" indent="0" marL="0">
              <a:buNone/>
            </a:pPr>
            <a:r>
              <a:rPr lang="en-US" sz="1200" b="1" spc="100" kern="0" dirty="0">
                <a:solidFill>
                  <a:srgbClr val="F59E0B"/>
                </a:solidFill>
                <a:latin typeface="Arial" pitchFamily="34" charset="0"/>
                <a:ea typeface="Arial" pitchFamily="34" charset="-122"/>
                <a:cs typeface="Arial" pitchFamily="34" charset="-120"/>
              </a:rPr>
              <a:t>PAPER-REPORTED VALUES</a:t>
            </a:r>
            <a:endParaRPr lang="en-US" sz="1200" dirty="0"/>
          </a:p>
        </p:txBody>
      </p:sp>
      <p:sp>
        <p:nvSpPr>
          <p:cNvPr id="6" name="Shape 4"/>
          <p:cNvSpPr/>
          <p:nvPr/>
        </p:nvSpPr>
        <p:spPr>
          <a:xfrm>
            <a:off x="2788920" y="1783080"/>
            <a:ext cx="0" cy="3730752"/>
          </a:xfrm>
          <a:prstGeom prst="line">
            <a:avLst/>
          </a:prstGeom>
          <a:noFill/>
          <a:ln w="9525">
            <a:solidFill>
              <a:srgbClr val="22314A"/>
            </a:solidFill>
            <a:prstDash val="solid"/>
          </a:ln>
        </p:spPr>
      </p:sp>
      <p:sp>
        <p:nvSpPr>
          <p:cNvPr id="7" name="Text 5"/>
          <p:cNvSpPr txBox="1"/>
          <p:nvPr/>
        </p:nvSpPr>
        <p:spPr>
          <a:xfrm>
            <a:off x="2514600" y="5586984"/>
            <a:ext cx="548640" cy="256032"/>
          </a:xfrm>
          <a:prstGeom prst="rect">
            <a:avLst/>
          </a:prstGeom>
          <a:noFill/>
          <a:ln/>
        </p:spPr>
        <p:txBody>
          <a:bodyPr wrap="square" lIns="0" tIns="0" rIns="0" bIns="0" rtlCol="0" anchor="t"/>
          <a:lstStyle/>
          <a:p>
            <a:pPr algn="ctr" indent="0" marL="0">
              <a:buNone/>
            </a:pPr>
            <a:r>
              <a:rPr lang="en-US" sz="1300" dirty="0">
                <a:solidFill>
                  <a:srgbClr val="6B7A93"/>
                </a:solidFill>
                <a:latin typeface="Arial" pitchFamily="34" charset="0"/>
                <a:ea typeface="Arial" pitchFamily="34" charset="-122"/>
                <a:cs typeface="Arial" pitchFamily="34" charset="-120"/>
              </a:rPr>
              <a:t>0.0</a:t>
            </a:r>
            <a:endParaRPr lang="en-US" sz="1300" dirty="0"/>
          </a:p>
        </p:txBody>
      </p:sp>
      <p:sp>
        <p:nvSpPr>
          <p:cNvPr id="8" name="Shape 6"/>
          <p:cNvSpPr/>
          <p:nvPr/>
        </p:nvSpPr>
        <p:spPr>
          <a:xfrm>
            <a:off x="4709160" y="1783080"/>
            <a:ext cx="0" cy="3730752"/>
          </a:xfrm>
          <a:prstGeom prst="line">
            <a:avLst/>
          </a:prstGeom>
          <a:noFill/>
          <a:ln w="9525">
            <a:solidFill>
              <a:srgbClr val="22314A"/>
            </a:solidFill>
            <a:prstDash val="solid"/>
          </a:ln>
        </p:spPr>
      </p:sp>
      <p:sp>
        <p:nvSpPr>
          <p:cNvPr id="9" name="Text 7"/>
          <p:cNvSpPr txBox="1"/>
          <p:nvPr/>
        </p:nvSpPr>
        <p:spPr>
          <a:xfrm>
            <a:off x="4434840" y="5586984"/>
            <a:ext cx="548640" cy="256032"/>
          </a:xfrm>
          <a:prstGeom prst="rect">
            <a:avLst/>
          </a:prstGeom>
          <a:noFill/>
          <a:ln/>
        </p:spPr>
        <p:txBody>
          <a:bodyPr wrap="square" lIns="0" tIns="0" rIns="0" bIns="0" rtlCol="0" anchor="t"/>
          <a:lstStyle/>
          <a:p>
            <a:pPr algn="ctr" indent="0" marL="0">
              <a:buNone/>
            </a:pPr>
            <a:r>
              <a:rPr lang="en-US" sz="1300" dirty="0">
                <a:solidFill>
                  <a:srgbClr val="6B7A93"/>
                </a:solidFill>
                <a:latin typeface="Arial" pitchFamily="34" charset="0"/>
                <a:ea typeface="Arial" pitchFamily="34" charset="-122"/>
                <a:cs typeface="Arial" pitchFamily="34" charset="-120"/>
              </a:rPr>
              <a:t>0.5</a:t>
            </a:r>
            <a:endParaRPr lang="en-US" sz="1300" dirty="0"/>
          </a:p>
        </p:txBody>
      </p:sp>
      <p:sp>
        <p:nvSpPr>
          <p:cNvPr id="10" name="Shape 8"/>
          <p:cNvSpPr/>
          <p:nvPr/>
        </p:nvSpPr>
        <p:spPr>
          <a:xfrm>
            <a:off x="6629400" y="1783080"/>
            <a:ext cx="0" cy="3730752"/>
          </a:xfrm>
          <a:prstGeom prst="line">
            <a:avLst/>
          </a:prstGeom>
          <a:noFill/>
          <a:ln w="9525">
            <a:solidFill>
              <a:srgbClr val="22314A"/>
            </a:solidFill>
            <a:prstDash val="solid"/>
          </a:ln>
        </p:spPr>
      </p:sp>
      <p:sp>
        <p:nvSpPr>
          <p:cNvPr id="11" name="Text 9"/>
          <p:cNvSpPr txBox="1"/>
          <p:nvPr/>
        </p:nvSpPr>
        <p:spPr>
          <a:xfrm>
            <a:off x="6355080" y="5586984"/>
            <a:ext cx="548640" cy="256032"/>
          </a:xfrm>
          <a:prstGeom prst="rect">
            <a:avLst/>
          </a:prstGeom>
          <a:noFill/>
          <a:ln/>
        </p:spPr>
        <p:txBody>
          <a:bodyPr wrap="square" lIns="0" tIns="0" rIns="0" bIns="0" rtlCol="0" anchor="t"/>
          <a:lstStyle/>
          <a:p>
            <a:pPr algn="ctr" indent="0" marL="0">
              <a:buNone/>
            </a:pPr>
            <a:r>
              <a:rPr lang="en-US" sz="1300" dirty="0">
                <a:solidFill>
                  <a:srgbClr val="6B7A93"/>
                </a:solidFill>
                <a:latin typeface="Arial" pitchFamily="34" charset="0"/>
                <a:ea typeface="Arial" pitchFamily="34" charset="-122"/>
                <a:cs typeface="Arial" pitchFamily="34" charset="-120"/>
              </a:rPr>
              <a:t>1.0</a:t>
            </a:r>
            <a:endParaRPr lang="en-US" sz="1300" dirty="0"/>
          </a:p>
        </p:txBody>
      </p:sp>
      <p:sp>
        <p:nvSpPr>
          <p:cNvPr id="12" name="Text 10"/>
          <p:cNvSpPr txBox="1"/>
          <p:nvPr/>
        </p:nvSpPr>
        <p:spPr>
          <a:xfrm>
            <a:off x="548640" y="1947672"/>
            <a:ext cx="2148840" cy="640080"/>
          </a:xfrm>
          <a:prstGeom prst="rect">
            <a:avLst/>
          </a:prstGeom>
          <a:noFill/>
          <a:ln/>
        </p:spPr>
        <p:txBody>
          <a:bodyPr wrap="square" lIns="0" tIns="0" rIns="0" bIns="0" rtlCol="0" anchor="t"/>
          <a:lstStyle/>
          <a:p>
            <a:pPr algn="l" indent="0" marL="0">
              <a:buNone/>
            </a:pPr>
            <a:r>
              <a:rPr lang="en-US" sz="1700" b="1" dirty="0">
                <a:solidFill>
                  <a:srgbClr val="F1F5F9"/>
                </a:solidFill>
                <a:latin typeface="Arial" pitchFamily="34" charset="0"/>
                <a:ea typeface="Arial" pitchFamily="34" charset="-122"/>
                <a:cs typeface="Arial" pitchFamily="34" charset="-120"/>
              </a:rPr>
              <a:t>Base (unsteered)</a:t>
            </a:r>
            <a:endParaRPr lang="en-US" sz="1700" dirty="0"/>
          </a:p>
        </p:txBody>
      </p:sp>
      <p:sp>
        <p:nvSpPr>
          <p:cNvPr id="13" name="Shape 11"/>
          <p:cNvSpPr/>
          <p:nvPr/>
        </p:nvSpPr>
        <p:spPr>
          <a:xfrm>
            <a:off x="2788920" y="2002536"/>
            <a:ext cx="2035454" cy="457200"/>
          </a:xfrm>
          <a:prstGeom prst="rect">
            <a:avLst/>
          </a:prstGeom>
          <a:solidFill>
            <a:srgbClr val="5A3A08"/>
          </a:solidFill>
          <a:ln w="12700">
            <a:solidFill>
              <a:srgbClr val="F59E0B"/>
            </a:solidFill>
            <a:prstDash val="solid"/>
          </a:ln>
        </p:spPr>
      </p:sp>
      <p:sp>
        <p:nvSpPr>
          <p:cNvPr id="14" name="Text 12"/>
          <p:cNvSpPr txBox="1"/>
          <p:nvPr/>
        </p:nvSpPr>
        <p:spPr>
          <a:xfrm>
            <a:off x="4934102" y="1929384"/>
            <a:ext cx="914400" cy="603504"/>
          </a:xfrm>
          <a:prstGeom prst="rect">
            <a:avLst/>
          </a:prstGeom>
          <a:noFill/>
          <a:ln/>
        </p:spPr>
        <p:txBody>
          <a:bodyPr wrap="square" lIns="0" tIns="0" rIns="0" bIns="0" rtlCol="0" anchor="ctr"/>
          <a:lstStyle/>
          <a:p>
            <a:pPr algn="l" indent="0" marL="0">
              <a:buNone/>
            </a:pPr>
            <a:r>
              <a:rPr lang="en-US" sz="3000" b="1" dirty="0">
                <a:solidFill>
                  <a:srgbClr val="F59E0B"/>
                </a:solidFill>
                <a:latin typeface="Arial" pitchFamily="34" charset="0"/>
                <a:ea typeface="Arial" pitchFamily="34" charset="-122"/>
                <a:cs typeface="Arial" pitchFamily="34" charset="-120"/>
              </a:rPr>
              <a:t>0.53</a:t>
            </a:r>
            <a:endParaRPr lang="en-US" sz="3000" dirty="0"/>
          </a:p>
        </p:txBody>
      </p:sp>
      <p:sp>
        <p:nvSpPr>
          <p:cNvPr id="15" name="Text 13"/>
          <p:cNvSpPr txBox="1"/>
          <p:nvPr/>
        </p:nvSpPr>
        <p:spPr>
          <a:xfrm>
            <a:off x="548640" y="2880360"/>
            <a:ext cx="2148840" cy="640080"/>
          </a:xfrm>
          <a:prstGeom prst="rect">
            <a:avLst/>
          </a:prstGeom>
          <a:noFill/>
          <a:ln/>
        </p:spPr>
        <p:txBody>
          <a:bodyPr wrap="square" lIns="0" tIns="0" rIns="0" bIns="0" rtlCol="0" anchor="t"/>
          <a:lstStyle/>
          <a:p>
            <a:pPr algn="l" indent="0" marL="0">
              <a:buNone/>
            </a:pPr>
            <a:r>
              <a:rPr lang="en-US" sz="1700" b="1" dirty="0">
                <a:solidFill>
                  <a:srgbClr val="F1F5F9"/>
                </a:solidFill>
                <a:latin typeface="Arial" pitchFamily="34" charset="0"/>
                <a:ea typeface="Arial" pitchFamily="34" charset="-122"/>
                <a:cs typeface="Arial" pitchFamily="34" charset="-120"/>
              </a:rPr>
              <a:t>Global</a:t>
            </a:r>
            <a:endParaRPr lang="en-US" sz="1700" dirty="0"/>
          </a:p>
          <a:p>
            <a:pPr algn="l" indent="0" marL="0">
              <a:buNone/>
            </a:pPr>
            <a:r>
              <a:rPr lang="en-US" sz="1700" dirty="0">
                <a:solidFill>
                  <a:srgbClr val="6B7A93"/>
                </a:solidFill>
                <a:latin typeface="Arial" pitchFamily="34" charset="0"/>
                <a:ea typeface="Arial" pitchFamily="34" charset="-122"/>
                <a:cs typeface="Arial" pitchFamily="34" charset="-120"/>
              </a:rPr>
              <a:t>L5 · α 0.5 · β 0.1</a:t>
            </a:r>
            <a:endParaRPr lang="en-US" sz="1700" dirty="0"/>
          </a:p>
        </p:txBody>
      </p:sp>
      <p:sp>
        <p:nvSpPr>
          <p:cNvPr id="16" name="Shape 14"/>
          <p:cNvSpPr/>
          <p:nvPr/>
        </p:nvSpPr>
        <p:spPr>
          <a:xfrm>
            <a:off x="2788920" y="2935224"/>
            <a:ext cx="3571646" cy="457200"/>
          </a:xfrm>
          <a:prstGeom prst="rect">
            <a:avLst/>
          </a:prstGeom>
          <a:solidFill>
            <a:srgbClr val="F59E0B"/>
          </a:solidFill>
          <a:ln w="12700">
            <a:solidFill>
              <a:srgbClr val="F59E0B"/>
            </a:solidFill>
            <a:prstDash val="solid"/>
          </a:ln>
        </p:spPr>
      </p:sp>
      <p:sp>
        <p:nvSpPr>
          <p:cNvPr id="17" name="Text 15"/>
          <p:cNvSpPr txBox="1"/>
          <p:nvPr/>
        </p:nvSpPr>
        <p:spPr>
          <a:xfrm>
            <a:off x="6470294" y="2862072"/>
            <a:ext cx="914400" cy="603504"/>
          </a:xfrm>
          <a:prstGeom prst="rect">
            <a:avLst/>
          </a:prstGeom>
          <a:noFill/>
          <a:ln/>
        </p:spPr>
        <p:txBody>
          <a:bodyPr wrap="square" lIns="0" tIns="0" rIns="0" bIns="0" rtlCol="0" anchor="ctr"/>
          <a:lstStyle/>
          <a:p>
            <a:pPr algn="l" indent="0" marL="0">
              <a:buNone/>
            </a:pPr>
            <a:r>
              <a:rPr lang="en-US" sz="3000" b="1" dirty="0">
                <a:solidFill>
                  <a:srgbClr val="F59E0B"/>
                </a:solidFill>
                <a:latin typeface="Arial" pitchFamily="34" charset="0"/>
                <a:ea typeface="Arial" pitchFamily="34" charset="-122"/>
                <a:cs typeface="Arial" pitchFamily="34" charset="-120"/>
              </a:rPr>
              <a:t>0.93</a:t>
            </a:r>
            <a:endParaRPr lang="en-US" sz="3000" dirty="0"/>
          </a:p>
        </p:txBody>
      </p:sp>
      <p:sp>
        <p:nvSpPr>
          <p:cNvPr id="18" name="Text 16"/>
          <p:cNvSpPr txBox="1"/>
          <p:nvPr/>
        </p:nvSpPr>
        <p:spPr>
          <a:xfrm>
            <a:off x="548640" y="3813048"/>
            <a:ext cx="2148840" cy="640080"/>
          </a:xfrm>
          <a:prstGeom prst="rect">
            <a:avLst/>
          </a:prstGeom>
          <a:noFill/>
          <a:ln/>
        </p:spPr>
        <p:txBody>
          <a:bodyPr wrap="square" lIns="0" tIns="0" rIns="0" bIns="0" rtlCol="0" anchor="t"/>
          <a:lstStyle/>
          <a:p>
            <a:pPr algn="l" indent="0" marL="0">
              <a:buNone/>
            </a:pPr>
            <a:r>
              <a:rPr lang="en-US" sz="1700" b="1" dirty="0">
                <a:solidFill>
                  <a:srgbClr val="F1F5F9"/>
                </a:solidFill>
                <a:latin typeface="Arial" pitchFamily="34" charset="0"/>
                <a:ea typeface="Arial" pitchFamily="34" charset="-122"/>
                <a:cs typeface="Arial" pitchFamily="34" charset="-120"/>
              </a:rPr>
              <a:t>Per-step</a:t>
            </a:r>
            <a:endParaRPr lang="en-US" sz="1700" dirty="0"/>
          </a:p>
          <a:p>
            <a:pPr algn="l" indent="0" marL="0">
              <a:buNone/>
            </a:pPr>
            <a:r>
              <a:rPr lang="en-US" sz="1700" dirty="0">
                <a:solidFill>
                  <a:srgbClr val="6B7A93"/>
                </a:solidFill>
                <a:latin typeface="Arial" pitchFamily="34" charset="0"/>
                <a:ea typeface="Arial" pitchFamily="34" charset="-122"/>
                <a:cs typeface="Arial" pitchFamily="34" charset="-120"/>
              </a:rPr>
              <a:t>L5 · α 10 · β 0.3</a:t>
            </a:r>
            <a:endParaRPr lang="en-US" sz="1700" dirty="0"/>
          </a:p>
        </p:txBody>
      </p:sp>
      <p:sp>
        <p:nvSpPr>
          <p:cNvPr id="19" name="Shape 17"/>
          <p:cNvSpPr/>
          <p:nvPr/>
        </p:nvSpPr>
        <p:spPr>
          <a:xfrm>
            <a:off x="2788920" y="3867912"/>
            <a:ext cx="3341218" cy="457200"/>
          </a:xfrm>
          <a:prstGeom prst="rect">
            <a:avLst/>
          </a:prstGeom>
          <a:solidFill>
            <a:srgbClr val="F59E0B"/>
          </a:solidFill>
          <a:ln w="12700">
            <a:solidFill>
              <a:srgbClr val="F59E0B"/>
            </a:solidFill>
            <a:prstDash val="solid"/>
          </a:ln>
        </p:spPr>
      </p:sp>
      <p:sp>
        <p:nvSpPr>
          <p:cNvPr id="20" name="Text 18"/>
          <p:cNvSpPr txBox="1"/>
          <p:nvPr/>
        </p:nvSpPr>
        <p:spPr>
          <a:xfrm>
            <a:off x="6239866" y="3794760"/>
            <a:ext cx="914400" cy="603504"/>
          </a:xfrm>
          <a:prstGeom prst="rect">
            <a:avLst/>
          </a:prstGeom>
          <a:noFill/>
          <a:ln/>
        </p:spPr>
        <p:txBody>
          <a:bodyPr wrap="square" lIns="0" tIns="0" rIns="0" bIns="0" rtlCol="0" anchor="ctr"/>
          <a:lstStyle/>
          <a:p>
            <a:pPr algn="l" indent="0" marL="0">
              <a:buNone/>
            </a:pPr>
            <a:r>
              <a:rPr lang="en-US" sz="3000" b="1" dirty="0">
                <a:solidFill>
                  <a:srgbClr val="F59E0B"/>
                </a:solidFill>
                <a:latin typeface="Arial" pitchFamily="34" charset="0"/>
                <a:ea typeface="Arial" pitchFamily="34" charset="-122"/>
                <a:cs typeface="Arial" pitchFamily="34" charset="-120"/>
              </a:rPr>
              <a:t>0.87</a:t>
            </a:r>
            <a:endParaRPr lang="en-US" sz="3000" dirty="0"/>
          </a:p>
        </p:txBody>
      </p:sp>
      <p:sp>
        <p:nvSpPr>
          <p:cNvPr id="21" name="Text 19"/>
          <p:cNvSpPr txBox="1"/>
          <p:nvPr/>
        </p:nvSpPr>
        <p:spPr>
          <a:xfrm>
            <a:off x="548640" y="4745736"/>
            <a:ext cx="2148840" cy="640080"/>
          </a:xfrm>
          <a:prstGeom prst="rect">
            <a:avLst/>
          </a:prstGeom>
          <a:noFill/>
          <a:ln/>
        </p:spPr>
        <p:txBody>
          <a:bodyPr wrap="square" lIns="0" tIns="0" rIns="0" bIns="0" rtlCol="0" anchor="t"/>
          <a:lstStyle/>
          <a:p>
            <a:pPr algn="l" indent="0" marL="0">
              <a:buNone/>
            </a:pPr>
            <a:r>
              <a:rPr lang="en-US" sz="1700" b="1" dirty="0">
                <a:solidFill>
                  <a:srgbClr val="F1F5F9"/>
                </a:solidFill>
                <a:latin typeface="Arial" pitchFamily="34" charset="0"/>
                <a:ea typeface="Arial" pitchFamily="34" charset="-122"/>
                <a:cs typeface="Arial" pitchFamily="34" charset="-120"/>
              </a:rPr>
              <a:t>Positive-only</a:t>
            </a:r>
            <a:endParaRPr lang="en-US" sz="1700" dirty="0"/>
          </a:p>
          <a:p>
            <a:pPr algn="l" indent="0" marL="0">
              <a:buNone/>
            </a:pPr>
            <a:r>
              <a:rPr lang="en-US" sz="1700" dirty="0">
                <a:solidFill>
                  <a:srgbClr val="6B7A93"/>
                </a:solidFill>
                <a:latin typeface="Arial" pitchFamily="34" charset="0"/>
                <a:ea typeface="Arial" pitchFamily="34" charset="-122"/>
                <a:cs typeface="Arial" pitchFamily="34" charset="-120"/>
              </a:rPr>
              <a:t>L11 · α 1.0 · β 0.1</a:t>
            </a:r>
            <a:endParaRPr lang="en-US" sz="1700" dirty="0"/>
          </a:p>
        </p:txBody>
      </p:sp>
      <p:sp>
        <p:nvSpPr>
          <p:cNvPr id="22" name="Shape 20"/>
          <p:cNvSpPr/>
          <p:nvPr/>
        </p:nvSpPr>
        <p:spPr>
          <a:xfrm>
            <a:off x="2788920" y="4800600"/>
            <a:ext cx="3072384" cy="457200"/>
          </a:xfrm>
          <a:prstGeom prst="rect">
            <a:avLst/>
          </a:prstGeom>
          <a:solidFill>
            <a:srgbClr val="F59E0B"/>
          </a:solidFill>
          <a:ln w="12700">
            <a:solidFill>
              <a:srgbClr val="F59E0B"/>
            </a:solidFill>
            <a:prstDash val="solid"/>
          </a:ln>
        </p:spPr>
      </p:sp>
      <p:sp>
        <p:nvSpPr>
          <p:cNvPr id="23" name="Text 21"/>
          <p:cNvSpPr txBox="1"/>
          <p:nvPr/>
        </p:nvSpPr>
        <p:spPr>
          <a:xfrm>
            <a:off x="5971032" y="4727448"/>
            <a:ext cx="914400" cy="603504"/>
          </a:xfrm>
          <a:prstGeom prst="rect">
            <a:avLst/>
          </a:prstGeom>
          <a:noFill/>
          <a:ln/>
        </p:spPr>
        <p:txBody>
          <a:bodyPr wrap="square" lIns="0" tIns="0" rIns="0" bIns="0" rtlCol="0" anchor="ctr"/>
          <a:lstStyle/>
          <a:p>
            <a:pPr algn="l" indent="0" marL="0">
              <a:buNone/>
            </a:pPr>
            <a:r>
              <a:rPr lang="en-US" sz="3000" b="1" dirty="0">
                <a:solidFill>
                  <a:srgbClr val="F59E0B"/>
                </a:solidFill>
                <a:latin typeface="Arial" pitchFamily="34" charset="0"/>
                <a:ea typeface="Arial" pitchFamily="34" charset="-122"/>
                <a:cs typeface="Arial" pitchFamily="34" charset="-120"/>
              </a:rPr>
              <a:t>0.80</a:t>
            </a:r>
            <a:endParaRPr lang="en-US" sz="3000" dirty="0"/>
          </a:p>
        </p:txBody>
      </p:sp>
      <p:sp>
        <p:nvSpPr>
          <p:cNvPr id="24" name="Text 22"/>
          <p:cNvSpPr txBox="1"/>
          <p:nvPr/>
        </p:nvSpPr>
        <p:spPr>
          <a:xfrm>
            <a:off x="548640" y="5897880"/>
            <a:ext cx="6949440" cy="274320"/>
          </a:xfrm>
          <a:prstGeom prst="rect">
            <a:avLst/>
          </a:prstGeom>
          <a:noFill/>
          <a:ln/>
        </p:spPr>
        <p:txBody>
          <a:bodyPr wrap="square" lIns="0" tIns="0" rIns="0" bIns="0" rtlCol="0" anchor="t"/>
          <a:lstStyle/>
          <a:p>
            <a:pPr algn="l" indent="0" marL="0">
              <a:buNone/>
            </a:pPr>
            <a:r>
              <a:rPr lang="en-US" sz="1300" dirty="0">
                <a:solidFill>
                  <a:srgbClr val="6B7A93"/>
                </a:solidFill>
                <a:latin typeface="Arial" pitchFamily="34" charset="0"/>
                <a:ea typeface="Arial" pitchFamily="34" charset="-122"/>
                <a:cs typeface="Arial" pitchFamily="34" charset="-120"/>
              </a:rPr>
              <a:t>KS3 success rate · π0.5 · LIBERO-10 · Table 4 (Base: Table 1)</a:t>
            </a:r>
            <a:endParaRPr lang="en-US" sz="1300" dirty="0"/>
          </a:p>
        </p:txBody>
      </p:sp>
      <p:sp>
        <p:nvSpPr>
          <p:cNvPr id="25" name="Shape 23"/>
          <p:cNvSpPr/>
          <p:nvPr/>
        </p:nvSpPr>
        <p:spPr>
          <a:xfrm>
            <a:off x="7818120" y="1783080"/>
            <a:ext cx="3824935" cy="2697480"/>
          </a:xfrm>
          <a:prstGeom prst="roundRect">
            <a:avLst>
              <a:gd name="adj" fmla="val 2712"/>
            </a:avLst>
          </a:prstGeom>
          <a:solidFill>
            <a:srgbClr val="131E33"/>
          </a:solidFill>
          <a:ln/>
        </p:spPr>
      </p:sp>
      <p:sp>
        <p:nvSpPr>
          <p:cNvPr id="26" name="Text 24"/>
          <p:cNvSpPr txBox="1"/>
          <p:nvPr/>
        </p:nvSpPr>
        <p:spPr>
          <a:xfrm>
            <a:off x="8046720" y="1920240"/>
            <a:ext cx="3367735" cy="329184"/>
          </a:xfrm>
          <a:prstGeom prst="rect">
            <a:avLst/>
          </a:prstGeom>
          <a:noFill/>
          <a:ln/>
        </p:spPr>
        <p:txBody>
          <a:bodyPr wrap="square" lIns="0" tIns="0" rIns="0" bIns="0" rtlCol="0" anchor="t"/>
          <a:lstStyle/>
          <a:p>
            <a:pPr algn="l" indent="0" marL="0">
              <a:buNone/>
            </a:pPr>
            <a:r>
              <a:rPr lang="en-US" sz="1700" b="1" dirty="0">
                <a:solidFill>
                  <a:srgbClr val="F1F5F9"/>
                </a:solidFill>
                <a:latin typeface="Arial" pitchFamily="34" charset="0"/>
                <a:ea typeface="Arial" pitchFamily="34" charset="-122"/>
                <a:cs typeface="Arial" pitchFamily="34" charset="-120"/>
              </a:rPr>
              <a:t>How to read these numbers</a:t>
            </a:r>
            <a:endParaRPr lang="en-US" sz="1700" dirty="0"/>
          </a:p>
        </p:txBody>
      </p:sp>
      <p:sp>
        <p:nvSpPr>
          <p:cNvPr id="27" name="Text 25"/>
          <p:cNvSpPr txBox="1"/>
          <p:nvPr/>
        </p:nvSpPr>
        <p:spPr>
          <a:xfrm>
            <a:off x="8046720" y="2377440"/>
            <a:ext cx="3413455" cy="2286000"/>
          </a:xfrm>
          <a:prstGeom prst="rect">
            <a:avLst/>
          </a:prstGeom>
          <a:noFill/>
          <a:ln/>
        </p:spPr>
        <p:txBody>
          <a:bodyPr wrap="square" lIns="0" tIns="0" rIns="0" bIns="0" rtlCol="0" anchor="t"/>
          <a:lstStyle/>
          <a:p>
            <a:pPr algn="l" marL="177800" indent="-177800">
              <a:spcAft>
                <a:spcPts val="1000"/>
              </a:spcAft>
              <a:buSzPct val="100000"/>
              <a:buChar char="•"/>
            </a:pPr>
            <a:r>
              <a:rPr lang="en-US" sz="1500" dirty="0">
                <a:solidFill>
                  <a:srgbClr val="A7B4C8"/>
                </a:solidFill>
                <a:latin typeface="Arial" pitchFamily="34" charset="0"/>
                <a:ea typeface="Arial" pitchFamily="34" charset="-122"/>
                <a:cs typeface="Arial" pitchFamily="34" charset="-120"/>
              </a:rPr>
              <a:t>Paper text: 30 held-out test rollouts ⇒ </a:t>
            </a:r>
            <a:pPr algn="l" marL="177800" indent="-177800">
              <a:spcAft>
                <a:spcPts val="1000"/>
              </a:spcAft>
              <a:buSzPct val="100000"/>
              <a:buChar char="•"/>
            </a:pPr>
            <a:r>
              <a:rPr lang="en-US" sz="1500" b="1" dirty="0">
                <a:solidFill>
                  <a:srgbClr val="F59E0B"/>
                </a:solidFill>
                <a:latin typeface="Arial" pitchFamily="34" charset="0"/>
                <a:ea typeface="Arial" pitchFamily="34" charset="-122"/>
                <a:cs typeface="Arial" pitchFamily="34" charset="-120"/>
              </a:rPr>
              <a:t>0.93 = 28/30</a:t>
            </a:r>
            <a:endParaRPr lang="en-US" sz="1500" dirty="0"/>
          </a:p>
          <a:p>
            <a:pPr algn="l" marL="177800" indent="-177800">
              <a:spcAft>
                <a:spcPts val="1000"/>
              </a:spcAft>
              <a:buSzPct val="100000"/>
              <a:buChar char="•"/>
            </a:pPr>
            <a:r>
              <a:rPr lang="en-US" sz="1500" dirty="0">
                <a:solidFill>
                  <a:srgbClr val="A7B4C8"/>
                </a:solidFill>
                <a:latin typeface="Arial" pitchFamily="34" charset="0"/>
                <a:ea typeface="Arial" pitchFamily="34" charset="-122"/>
                <a:cs typeface="Arial" pitchFamily="34" charset="-120"/>
              </a:rPr>
              <a:t>Every Table 4 cell is also k/15 ⇒ </a:t>
            </a:r>
            <a:pPr algn="l" marL="177800" indent="-177800">
              <a:spcAft>
                <a:spcPts val="1000"/>
              </a:spcAft>
              <a:buSzPct val="100000"/>
              <a:buChar char="•"/>
            </a:pPr>
            <a:r>
              <a:rPr lang="en-US" sz="1500" b="1" dirty="0">
                <a:solidFill>
                  <a:srgbClr val="F59E0B"/>
                </a:solidFill>
                <a:latin typeface="Arial" pitchFamily="34" charset="0"/>
                <a:ea typeface="Arial" pitchFamily="34" charset="-122"/>
                <a:cs typeface="Arial" pitchFamily="34" charset="-120"/>
              </a:rPr>
              <a:t>0.93 = 14/15</a:t>
            </a:r>
            <a:pPr algn="l" marL="177800" indent="-177800">
              <a:spcAft>
                <a:spcPts val="1000"/>
              </a:spcAft>
              <a:buSzPct val="100000"/>
              <a:buChar char="•"/>
            </a:pPr>
            <a:r>
              <a:rPr lang="en-US" sz="1500" dirty="0">
                <a:solidFill>
                  <a:srgbClr val="A7B4C8"/>
                </a:solidFill>
                <a:latin typeface="Arial" pitchFamily="34" charset="0"/>
                <a:ea typeface="Arial" pitchFamily="34" charset="-122"/>
                <a:cs typeface="Arial" pitchFamily="34" charset="-120"/>
              </a:rPr>
              <a:t> (slide 13)</a:t>
            </a:r>
            <a:endParaRPr lang="en-US" sz="1500" dirty="0"/>
          </a:p>
          <a:p>
            <a:pPr algn="l" marL="177800" indent="-177800">
              <a:spcAft>
                <a:spcPts val="1000"/>
              </a:spcAft>
              <a:buSzPct val="100000"/>
              <a:buChar char="•"/>
            </a:pPr>
            <a:r>
              <a:rPr lang="en-US" sz="1500" dirty="0">
                <a:solidFill>
                  <a:srgbClr val="A7B4C8"/>
                </a:solidFill>
                <a:latin typeface="Arial" pitchFamily="34" charset="0"/>
                <a:ea typeface="Arial" pitchFamily="34" charset="-122"/>
                <a:cs typeface="Arial" pitchFamily="34" charset="-120"/>
              </a:rPr>
              <a:t>Base </a:t>
            </a:r>
            <a:pPr algn="l" marL="177800" indent="-177800">
              <a:spcAft>
                <a:spcPts val="1000"/>
              </a:spcAft>
              <a:buSzPct val="100000"/>
              <a:buChar char="•"/>
            </a:pPr>
            <a:r>
              <a:rPr lang="en-US" sz="1500" b="1" dirty="0">
                <a:solidFill>
                  <a:srgbClr val="F59E0B"/>
                </a:solidFill>
                <a:latin typeface="Arial" pitchFamily="34" charset="0"/>
                <a:ea typeface="Arial" pitchFamily="34" charset="-122"/>
                <a:cs typeface="Arial" pitchFamily="34" charset="-120"/>
              </a:rPr>
              <a:t>0.53 = 8/15</a:t>
            </a:r>
            <a:pPr algn="l" marL="177800" indent="-177800">
              <a:spcAft>
                <a:spcPts val="1000"/>
              </a:spcAft>
              <a:buSzPct val="100000"/>
              <a:buChar char="•"/>
            </a:pPr>
            <a:r>
              <a:rPr lang="en-US" sz="1500" dirty="0">
                <a:solidFill>
                  <a:srgbClr val="A7B4C8"/>
                </a:solidFill>
                <a:latin typeface="Arial" pitchFamily="34" charset="0"/>
                <a:ea typeface="Arial" pitchFamily="34" charset="-122"/>
                <a:cs typeface="Arial" pitchFamily="34" charset="-120"/>
              </a:rPr>
              <a:t> equals the Table 21 fit-set rate</a:t>
            </a:r>
            <a:endParaRPr lang="en-US" sz="1500" dirty="0"/>
          </a:p>
        </p:txBody>
      </p:sp>
      <p:sp>
        <p:nvSpPr>
          <p:cNvPr id="28" name="Text 26"/>
          <p:cNvSpPr txBox="1"/>
          <p:nvPr/>
        </p:nvSpPr>
        <p:spPr>
          <a:xfrm>
            <a:off x="7818120" y="4709160"/>
            <a:ext cx="3824935" cy="914400"/>
          </a:xfrm>
          <a:prstGeom prst="rect">
            <a:avLst/>
          </a:prstGeom>
          <a:noFill/>
          <a:ln/>
        </p:spPr>
        <p:txBody>
          <a:bodyPr wrap="square" lIns="0" tIns="0" rIns="0" bIns="0" rtlCol="0" anchor="t"/>
          <a:lstStyle/>
          <a:p>
            <a:pPr algn="l" indent="0" marL="0">
              <a:buNone/>
            </a:pPr>
            <a:r>
              <a:rPr lang="en-US" sz="1500" b="1" dirty="0">
                <a:solidFill>
                  <a:srgbClr val="F59E0B"/>
                </a:solidFill>
                <a:latin typeface="Arial" pitchFamily="34" charset="0"/>
                <a:ea typeface="Arial" pitchFamily="34" charset="-122"/>
                <a:cs typeface="Arial" pitchFamily="34" charset="-120"/>
              </a:rPr>
              <a:t>LIBERO-10 mean (10 tasks)</a:t>
            </a:r>
            <a:endParaRPr lang="en-US" sz="1500" dirty="0"/>
          </a:p>
          <a:p>
            <a:pPr algn="l" indent="0" marL="0">
              <a:buNone/>
            </a:pPr>
            <a:r>
              <a:rPr lang="en-US" sz="1500" dirty="0">
                <a:solidFill>
                  <a:srgbClr val="F59E0B"/>
                </a:solidFill>
                <a:latin typeface="Arial" pitchFamily="34" charset="0"/>
                <a:ea typeface="Arial" pitchFamily="34" charset="-122"/>
                <a:cs typeface="Arial" pitchFamily="34" charset="-120"/>
              </a:rPr>
              <a:t>Base 0.43 · Global 0.76</a:t>
            </a:r>
            <a:endParaRPr lang="en-US" sz="1500" dirty="0"/>
          </a:p>
          <a:p>
            <a:pPr algn="l" indent="0" marL="0">
              <a:buNone/>
            </a:pPr>
            <a:r>
              <a:rPr lang="en-US" sz="1500" dirty="0">
                <a:solidFill>
                  <a:srgbClr val="F59E0B"/>
                </a:solidFill>
                <a:latin typeface="Arial" pitchFamily="34" charset="0"/>
                <a:ea typeface="Arial" pitchFamily="34" charset="-122"/>
                <a:cs typeface="Arial" pitchFamily="34" charset="-120"/>
              </a:rPr>
              <a:t>Per-step 0.80 · Positive-only 0.63</a:t>
            </a:r>
            <a:endParaRPr lang="en-US" sz="1500" dirty="0"/>
          </a:p>
        </p:txBody>
      </p:sp>
      <p:sp>
        <p:nvSpPr>
          <p:cNvPr id="29" name="Text 27"/>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Paper Tables 1, 4, 17, 21 [P]; denominators: Phase 6C §5</a:t>
            </a:r>
            <a:endParaRPr lang="en-US" sz="1000" dirty="0"/>
          </a:p>
        </p:txBody>
      </p:sp>
      <p:sp>
        <p:nvSpPr>
          <p:cNvPr id="30" name="Text 28"/>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31" name="Text 29"/>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4 / 21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OUR PROTOCOL</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Reproduction protocol: fit, select, test on disjoint states</a:t>
            </a:r>
            <a:endParaRPr lang="en-US" sz="3000" dirty="0"/>
          </a:p>
        </p:txBody>
      </p:sp>
      <p:sp>
        <p:nvSpPr>
          <p:cNvPr id="4" name="Shape 2"/>
          <p:cNvSpPr/>
          <p:nvPr/>
        </p:nvSpPr>
        <p:spPr>
          <a:xfrm>
            <a:off x="548640" y="1325880"/>
            <a:ext cx="2485568" cy="1051560"/>
          </a:xfrm>
          <a:prstGeom prst="roundRect">
            <a:avLst>
              <a:gd name="adj" fmla="val 6957"/>
            </a:avLst>
          </a:prstGeom>
          <a:solidFill>
            <a:srgbClr val="131E33"/>
          </a:solidFill>
          <a:ln w="12700">
            <a:solidFill>
              <a:srgbClr val="F1F5F9"/>
            </a:solidFill>
            <a:prstDash val="solid"/>
          </a:ln>
        </p:spPr>
      </p:sp>
      <p:sp>
        <p:nvSpPr>
          <p:cNvPr id="5" name="Text 3"/>
          <p:cNvSpPr txBox="1"/>
          <p:nvPr/>
        </p:nvSpPr>
        <p:spPr>
          <a:xfrm>
            <a:off x="731520" y="1453896"/>
            <a:ext cx="2119808" cy="822960"/>
          </a:xfrm>
          <a:prstGeom prst="rect">
            <a:avLst/>
          </a:prstGeom>
          <a:noFill/>
          <a:ln/>
        </p:spPr>
        <p:txBody>
          <a:bodyPr wrap="square" lIns="0" tIns="0" rIns="0" bIns="0" rtlCol="0" anchor="ctr"/>
          <a:lstStyle/>
          <a:p>
            <a:pPr algn="l" indent="0" marL="0">
              <a:buNone/>
            </a:pPr>
            <a:r>
              <a:rPr lang="en-US" sz="1700" b="1" dirty="0">
                <a:solidFill>
                  <a:srgbClr val="F1F5F9"/>
                </a:solidFill>
                <a:latin typeface="Arial" pitchFamily="34" charset="0"/>
                <a:ea typeface="Arial" pitchFamily="34" charset="-122"/>
                <a:cs typeface="Arial" pitchFamily="34" charset="-120"/>
              </a:rPr>
              <a:t>15 fit rollouts</a:t>
            </a:r>
            <a:endParaRPr lang="en-US" sz="1700" dirty="0"/>
          </a:p>
          <a:p>
            <a:pPr algn="l" indent="0" marL="0">
              <a:buNone/>
            </a:pPr>
            <a:r>
              <a:rPr lang="en-US" sz="1700" dirty="0">
                <a:solidFill>
                  <a:srgbClr val="6B7A93"/>
                </a:solidFill>
                <a:latin typeface="Arial" pitchFamily="34" charset="0"/>
                <a:ea typeface="Arial" pitchFamily="34" charset="-122"/>
                <a:cs typeface="Arial" pitchFamily="34" charset="-120"/>
              </a:rPr>
              <a:t>states 0–14 · unsteered</a:t>
            </a:r>
            <a:endParaRPr lang="en-US" sz="1700" dirty="0"/>
          </a:p>
        </p:txBody>
      </p:sp>
      <p:sp>
        <p:nvSpPr>
          <p:cNvPr id="6" name="Shape 4"/>
          <p:cNvSpPr/>
          <p:nvPr/>
        </p:nvSpPr>
        <p:spPr>
          <a:xfrm>
            <a:off x="3089072" y="1851660"/>
            <a:ext cx="274320" cy="0"/>
          </a:xfrm>
          <a:prstGeom prst="line">
            <a:avLst/>
          </a:prstGeom>
          <a:noFill/>
          <a:ln w="25400">
            <a:solidFill>
              <a:srgbClr val="6B7A93"/>
            </a:solidFill>
            <a:prstDash val="solid"/>
            <a:tailEnd type="triangle"/>
          </a:ln>
        </p:spPr>
      </p:sp>
      <p:sp>
        <p:nvSpPr>
          <p:cNvPr id="7" name="Shape 5"/>
          <p:cNvSpPr/>
          <p:nvPr/>
        </p:nvSpPr>
        <p:spPr>
          <a:xfrm>
            <a:off x="3418256" y="1325880"/>
            <a:ext cx="2485568" cy="1051560"/>
          </a:xfrm>
          <a:prstGeom prst="roundRect">
            <a:avLst>
              <a:gd name="adj" fmla="val 6957"/>
            </a:avLst>
          </a:prstGeom>
          <a:solidFill>
            <a:srgbClr val="131E33"/>
          </a:solidFill>
          <a:ln/>
        </p:spPr>
      </p:sp>
      <p:sp>
        <p:nvSpPr>
          <p:cNvPr id="8" name="Text 6"/>
          <p:cNvSpPr txBox="1"/>
          <p:nvPr/>
        </p:nvSpPr>
        <p:spPr>
          <a:xfrm>
            <a:off x="3601136" y="1453896"/>
            <a:ext cx="2119808" cy="822960"/>
          </a:xfrm>
          <a:prstGeom prst="rect">
            <a:avLst/>
          </a:prstGeom>
          <a:noFill/>
          <a:ln/>
        </p:spPr>
        <p:txBody>
          <a:bodyPr wrap="square" lIns="0" tIns="0" rIns="0" bIns="0" rtlCol="0" anchor="ctr"/>
          <a:lstStyle/>
          <a:p>
            <a:pPr algn="l" indent="0" marL="0">
              <a:buNone/>
            </a:pPr>
            <a:r>
              <a:rPr lang="en-US" sz="1700" b="1" dirty="0">
                <a:solidFill>
                  <a:srgbClr val="F1F5F9"/>
                </a:solidFill>
                <a:latin typeface="Arial" pitchFamily="34" charset="0"/>
                <a:ea typeface="Arial" pitchFamily="34" charset="-122"/>
                <a:cs typeface="Arial" pitchFamily="34" charset="-120"/>
              </a:rPr>
              <a:t>Fit conceptors</a:t>
            </a:r>
            <a:endParaRPr lang="en-US" sz="1700" dirty="0"/>
          </a:p>
          <a:p>
            <a:pPr algn="l" indent="0" marL="0">
              <a:buNone/>
            </a:pPr>
            <a:r>
              <a:rPr lang="en-US" sz="1700" dirty="0">
                <a:solidFill>
                  <a:srgbClr val="6B7A93"/>
                </a:solidFill>
                <a:latin typeface="Arial" pitchFamily="34" charset="0"/>
                <a:ea typeface="Arial" pitchFamily="34" charset="-122"/>
                <a:cs typeface="Arial" pitchFamily="34" charset="-120"/>
              </a:rPr>
              <a:t>H⁺ / H⁻ = 8 S / 7 F</a:t>
            </a:r>
            <a:endParaRPr lang="en-US" sz="1700" dirty="0"/>
          </a:p>
        </p:txBody>
      </p:sp>
      <p:sp>
        <p:nvSpPr>
          <p:cNvPr id="9" name="Shape 7"/>
          <p:cNvSpPr/>
          <p:nvPr/>
        </p:nvSpPr>
        <p:spPr>
          <a:xfrm>
            <a:off x="5958688" y="1851660"/>
            <a:ext cx="274320" cy="0"/>
          </a:xfrm>
          <a:prstGeom prst="line">
            <a:avLst/>
          </a:prstGeom>
          <a:noFill/>
          <a:ln w="25400">
            <a:solidFill>
              <a:srgbClr val="6B7A93"/>
            </a:solidFill>
            <a:prstDash val="solid"/>
            <a:tailEnd type="triangle"/>
          </a:ln>
        </p:spPr>
      </p:sp>
      <p:sp>
        <p:nvSpPr>
          <p:cNvPr id="10" name="Shape 8"/>
          <p:cNvSpPr/>
          <p:nvPr/>
        </p:nvSpPr>
        <p:spPr>
          <a:xfrm>
            <a:off x="6287872" y="1325880"/>
            <a:ext cx="2485568" cy="1051560"/>
          </a:xfrm>
          <a:prstGeom prst="roundRect">
            <a:avLst>
              <a:gd name="adj" fmla="val 6957"/>
            </a:avLst>
          </a:prstGeom>
          <a:solidFill>
            <a:srgbClr val="131E33"/>
          </a:solidFill>
          <a:ln/>
        </p:spPr>
      </p:sp>
      <p:sp>
        <p:nvSpPr>
          <p:cNvPr id="11" name="Text 9"/>
          <p:cNvSpPr txBox="1"/>
          <p:nvPr/>
        </p:nvSpPr>
        <p:spPr>
          <a:xfrm>
            <a:off x="6470752" y="1453896"/>
            <a:ext cx="2119808" cy="822960"/>
          </a:xfrm>
          <a:prstGeom prst="rect">
            <a:avLst/>
          </a:prstGeom>
          <a:noFill/>
          <a:ln/>
        </p:spPr>
        <p:txBody>
          <a:bodyPr wrap="square" lIns="0" tIns="0" rIns="0" bIns="0" rtlCol="0" anchor="ctr"/>
          <a:lstStyle/>
          <a:p>
            <a:pPr algn="l" indent="0" marL="0">
              <a:buNone/>
            </a:pPr>
            <a:r>
              <a:rPr lang="en-US" sz="1700" b="1" dirty="0">
                <a:solidFill>
                  <a:srgbClr val="F1F5F9"/>
                </a:solidFill>
                <a:latin typeface="Arial" pitchFamily="34" charset="0"/>
                <a:ea typeface="Arial" pitchFamily="34" charset="-122"/>
                <a:cs typeface="Arial" pitchFamily="34" charset="-120"/>
              </a:rPr>
              <a:t>Select config</a:t>
            </a:r>
            <a:endParaRPr lang="en-US" sz="1700" dirty="0"/>
          </a:p>
          <a:p>
            <a:pPr algn="l" indent="0" marL="0">
              <a:buNone/>
            </a:pPr>
            <a:r>
              <a:rPr lang="en-US" sz="1700" dirty="0">
                <a:solidFill>
                  <a:srgbClr val="6B7A93"/>
                </a:solidFill>
                <a:latin typeface="Arial" pitchFamily="34" charset="0"/>
                <a:ea typeface="Arial" pitchFamily="34" charset="-122"/>
                <a:cs typeface="Arial" pitchFamily="34" charset="-120"/>
              </a:rPr>
              <a:t>on the fit rollouts</a:t>
            </a:r>
            <a:endParaRPr lang="en-US" sz="1700" dirty="0"/>
          </a:p>
        </p:txBody>
      </p:sp>
      <p:sp>
        <p:nvSpPr>
          <p:cNvPr id="12" name="Shape 10"/>
          <p:cNvSpPr/>
          <p:nvPr/>
        </p:nvSpPr>
        <p:spPr>
          <a:xfrm>
            <a:off x="8828303" y="1851660"/>
            <a:ext cx="274320" cy="0"/>
          </a:xfrm>
          <a:prstGeom prst="line">
            <a:avLst/>
          </a:prstGeom>
          <a:noFill/>
          <a:ln w="25400">
            <a:solidFill>
              <a:srgbClr val="6B7A93"/>
            </a:solidFill>
            <a:prstDash val="solid"/>
            <a:tailEnd type="triangle"/>
          </a:ln>
        </p:spPr>
      </p:sp>
      <p:sp>
        <p:nvSpPr>
          <p:cNvPr id="13" name="Shape 11"/>
          <p:cNvSpPr/>
          <p:nvPr/>
        </p:nvSpPr>
        <p:spPr>
          <a:xfrm>
            <a:off x="9157487" y="1325880"/>
            <a:ext cx="2485568" cy="1051560"/>
          </a:xfrm>
          <a:prstGeom prst="roundRect">
            <a:avLst>
              <a:gd name="adj" fmla="val 6957"/>
            </a:avLst>
          </a:prstGeom>
          <a:solidFill>
            <a:srgbClr val="0E4A66"/>
          </a:solidFill>
          <a:ln w="12700">
            <a:solidFill>
              <a:srgbClr val="38BDF8"/>
            </a:solidFill>
            <a:prstDash val="solid"/>
          </a:ln>
        </p:spPr>
      </p:sp>
      <p:sp>
        <p:nvSpPr>
          <p:cNvPr id="14" name="Text 12"/>
          <p:cNvSpPr txBox="1"/>
          <p:nvPr/>
        </p:nvSpPr>
        <p:spPr>
          <a:xfrm>
            <a:off x="9340367" y="1453896"/>
            <a:ext cx="2119808" cy="822960"/>
          </a:xfrm>
          <a:prstGeom prst="rect">
            <a:avLst/>
          </a:prstGeom>
          <a:noFill/>
          <a:ln/>
        </p:spPr>
        <p:txBody>
          <a:bodyPr wrap="square" lIns="0" tIns="0" rIns="0" bIns="0" rtlCol="0" anchor="ctr"/>
          <a:lstStyle/>
          <a:p>
            <a:pPr algn="l" indent="0" marL="0">
              <a:buNone/>
            </a:pPr>
            <a:r>
              <a:rPr lang="en-US" sz="1700" b="1" dirty="0">
                <a:solidFill>
                  <a:srgbClr val="F1F5F9"/>
                </a:solidFill>
                <a:latin typeface="Arial" pitchFamily="34" charset="0"/>
                <a:ea typeface="Arial" pitchFamily="34" charset="-122"/>
                <a:cs typeface="Arial" pitchFamily="34" charset="-120"/>
              </a:rPr>
              <a:t>30 test rollouts</a:t>
            </a:r>
            <a:endParaRPr lang="en-US" sz="1700" dirty="0"/>
          </a:p>
          <a:p>
            <a:pPr algn="l" indent="0" marL="0">
              <a:buNone/>
            </a:pPr>
            <a:r>
              <a:rPr lang="en-US" sz="1700" dirty="0">
                <a:solidFill>
                  <a:srgbClr val="6B7A93"/>
                </a:solidFill>
                <a:latin typeface="Arial" pitchFamily="34" charset="0"/>
                <a:ea typeface="Arial" pitchFamily="34" charset="-122"/>
                <a:cs typeface="Arial" pitchFamily="34" charset="-120"/>
              </a:rPr>
              <a:t>states 15–44 · disjoint</a:t>
            </a:r>
            <a:endParaRPr lang="en-US" sz="1700" dirty="0"/>
          </a:p>
        </p:txBody>
      </p:sp>
      <p:sp>
        <p:nvSpPr>
          <p:cNvPr id="15" name="Shape 13"/>
          <p:cNvSpPr/>
          <p:nvPr/>
        </p:nvSpPr>
        <p:spPr>
          <a:xfrm>
            <a:off x="685800" y="3017520"/>
            <a:ext cx="3222084" cy="0"/>
          </a:xfrm>
          <a:prstGeom prst="line">
            <a:avLst/>
          </a:prstGeom>
          <a:noFill/>
          <a:ln w="19050">
            <a:solidFill>
              <a:srgbClr val="F1F5F9"/>
            </a:solidFill>
            <a:prstDash val="solid"/>
          </a:ln>
        </p:spPr>
      </p:sp>
      <p:sp>
        <p:nvSpPr>
          <p:cNvPr id="16" name="Shape 14"/>
          <p:cNvSpPr/>
          <p:nvPr/>
        </p:nvSpPr>
        <p:spPr>
          <a:xfrm>
            <a:off x="685800" y="3017520"/>
            <a:ext cx="0" cy="109728"/>
          </a:xfrm>
          <a:prstGeom prst="line">
            <a:avLst/>
          </a:prstGeom>
          <a:noFill/>
          <a:ln w="19050">
            <a:solidFill>
              <a:srgbClr val="F1F5F9"/>
            </a:solidFill>
            <a:prstDash val="solid"/>
          </a:ln>
        </p:spPr>
      </p:sp>
      <p:sp>
        <p:nvSpPr>
          <p:cNvPr id="17" name="Shape 15"/>
          <p:cNvSpPr/>
          <p:nvPr/>
        </p:nvSpPr>
        <p:spPr>
          <a:xfrm>
            <a:off x="3907884" y="3017520"/>
            <a:ext cx="0" cy="109728"/>
          </a:xfrm>
          <a:prstGeom prst="line">
            <a:avLst/>
          </a:prstGeom>
          <a:noFill/>
          <a:ln w="19050">
            <a:solidFill>
              <a:srgbClr val="F1F5F9"/>
            </a:solidFill>
            <a:prstDash val="solid"/>
          </a:ln>
        </p:spPr>
      </p:sp>
      <p:sp>
        <p:nvSpPr>
          <p:cNvPr id="18" name="Text 16"/>
          <p:cNvSpPr txBox="1"/>
          <p:nvPr/>
        </p:nvSpPr>
        <p:spPr>
          <a:xfrm>
            <a:off x="685800" y="2651760"/>
            <a:ext cx="3222084" cy="292608"/>
          </a:xfrm>
          <a:prstGeom prst="rect">
            <a:avLst/>
          </a:prstGeom>
          <a:noFill/>
          <a:ln/>
        </p:spPr>
        <p:txBody>
          <a:bodyPr wrap="square" lIns="0" tIns="0" rIns="0" bIns="0" rtlCol="0" anchor="t"/>
          <a:lstStyle/>
          <a:p>
            <a:pPr algn="ctr" indent="0" marL="0">
              <a:buNone/>
            </a:pPr>
            <a:r>
              <a:rPr lang="en-US" sz="1400" b="1" dirty="0">
                <a:solidFill>
                  <a:srgbClr val="F1F5F9"/>
                </a:solidFill>
                <a:latin typeface="Arial" pitchFamily="34" charset="0"/>
                <a:ea typeface="Arial" pitchFamily="34" charset="-122"/>
                <a:cs typeface="Arial" pitchFamily="34" charset="-120"/>
              </a:rPr>
              <a:t>Fit + selection · 0–14</a:t>
            </a:r>
            <a:endParaRPr lang="en-US" sz="1400" dirty="0"/>
          </a:p>
        </p:txBody>
      </p:sp>
      <p:sp>
        <p:nvSpPr>
          <p:cNvPr id="19" name="Shape 17"/>
          <p:cNvSpPr/>
          <p:nvPr/>
        </p:nvSpPr>
        <p:spPr>
          <a:xfrm>
            <a:off x="3942090" y="3017520"/>
            <a:ext cx="6478375" cy="0"/>
          </a:xfrm>
          <a:prstGeom prst="line">
            <a:avLst/>
          </a:prstGeom>
          <a:noFill/>
          <a:ln w="19050">
            <a:solidFill>
              <a:srgbClr val="38BDF8"/>
            </a:solidFill>
            <a:prstDash val="solid"/>
          </a:ln>
        </p:spPr>
      </p:sp>
      <p:sp>
        <p:nvSpPr>
          <p:cNvPr id="20" name="Shape 18"/>
          <p:cNvSpPr/>
          <p:nvPr/>
        </p:nvSpPr>
        <p:spPr>
          <a:xfrm>
            <a:off x="3942090" y="3017520"/>
            <a:ext cx="0" cy="109728"/>
          </a:xfrm>
          <a:prstGeom prst="line">
            <a:avLst/>
          </a:prstGeom>
          <a:noFill/>
          <a:ln w="19050">
            <a:solidFill>
              <a:srgbClr val="38BDF8"/>
            </a:solidFill>
            <a:prstDash val="solid"/>
          </a:ln>
        </p:spPr>
      </p:sp>
      <p:sp>
        <p:nvSpPr>
          <p:cNvPr id="21" name="Shape 19"/>
          <p:cNvSpPr/>
          <p:nvPr/>
        </p:nvSpPr>
        <p:spPr>
          <a:xfrm>
            <a:off x="10420465" y="3017520"/>
            <a:ext cx="0" cy="109728"/>
          </a:xfrm>
          <a:prstGeom prst="line">
            <a:avLst/>
          </a:prstGeom>
          <a:noFill/>
          <a:ln w="19050">
            <a:solidFill>
              <a:srgbClr val="38BDF8"/>
            </a:solidFill>
            <a:prstDash val="solid"/>
          </a:ln>
        </p:spPr>
      </p:sp>
      <p:sp>
        <p:nvSpPr>
          <p:cNvPr id="22" name="Text 20"/>
          <p:cNvSpPr txBox="1"/>
          <p:nvPr/>
        </p:nvSpPr>
        <p:spPr>
          <a:xfrm>
            <a:off x="3942090" y="2651760"/>
            <a:ext cx="6478375" cy="292608"/>
          </a:xfrm>
          <a:prstGeom prst="rect">
            <a:avLst/>
          </a:prstGeom>
          <a:noFill/>
          <a:ln/>
        </p:spPr>
        <p:txBody>
          <a:bodyPr wrap="square" lIns="0" tIns="0" rIns="0" bIns="0" rtlCol="0" anchor="t"/>
          <a:lstStyle/>
          <a:p>
            <a:pPr algn="ctr" indent="0" marL="0">
              <a:buNone/>
            </a:pPr>
            <a:r>
              <a:rPr lang="en-US" sz="1400" b="1" dirty="0">
                <a:solidFill>
                  <a:srgbClr val="38BDF8"/>
                </a:solidFill>
                <a:latin typeface="Arial" pitchFamily="34" charset="0"/>
                <a:ea typeface="Arial" pitchFamily="34" charset="-122"/>
                <a:cs typeface="Arial" pitchFamily="34" charset="-120"/>
              </a:rPr>
              <a:t>Held-out test · 15–44 (Phases 4A, 5A, 5C)</a:t>
            </a:r>
            <a:endParaRPr lang="en-US" sz="1400" dirty="0"/>
          </a:p>
        </p:txBody>
      </p:sp>
      <p:sp>
        <p:nvSpPr>
          <p:cNvPr id="23" name="Shape 21"/>
          <p:cNvSpPr/>
          <p:nvPr/>
        </p:nvSpPr>
        <p:spPr>
          <a:xfrm>
            <a:off x="10454671" y="3017520"/>
            <a:ext cx="1051224" cy="0"/>
          </a:xfrm>
          <a:prstGeom prst="line">
            <a:avLst/>
          </a:prstGeom>
          <a:noFill/>
          <a:ln w="19050">
            <a:solidFill>
              <a:srgbClr val="6B7A93"/>
            </a:solidFill>
            <a:prstDash val="solid"/>
          </a:ln>
        </p:spPr>
      </p:sp>
      <p:sp>
        <p:nvSpPr>
          <p:cNvPr id="24" name="Shape 22"/>
          <p:cNvSpPr/>
          <p:nvPr/>
        </p:nvSpPr>
        <p:spPr>
          <a:xfrm>
            <a:off x="10454671" y="3017520"/>
            <a:ext cx="0" cy="109728"/>
          </a:xfrm>
          <a:prstGeom prst="line">
            <a:avLst/>
          </a:prstGeom>
          <a:noFill/>
          <a:ln w="19050">
            <a:solidFill>
              <a:srgbClr val="6B7A93"/>
            </a:solidFill>
            <a:prstDash val="solid"/>
          </a:ln>
        </p:spPr>
      </p:sp>
      <p:sp>
        <p:nvSpPr>
          <p:cNvPr id="25" name="Shape 23"/>
          <p:cNvSpPr/>
          <p:nvPr/>
        </p:nvSpPr>
        <p:spPr>
          <a:xfrm>
            <a:off x="11505895" y="3017520"/>
            <a:ext cx="0" cy="109728"/>
          </a:xfrm>
          <a:prstGeom prst="line">
            <a:avLst/>
          </a:prstGeom>
          <a:noFill/>
          <a:ln w="19050">
            <a:solidFill>
              <a:srgbClr val="6B7A93"/>
            </a:solidFill>
            <a:prstDash val="solid"/>
          </a:ln>
        </p:spPr>
      </p:sp>
      <p:sp>
        <p:nvSpPr>
          <p:cNvPr id="26" name="Text 24"/>
          <p:cNvSpPr txBox="1"/>
          <p:nvPr/>
        </p:nvSpPr>
        <p:spPr>
          <a:xfrm>
            <a:off x="10454671" y="2651760"/>
            <a:ext cx="1051224" cy="292608"/>
          </a:xfrm>
          <a:prstGeom prst="rect">
            <a:avLst/>
          </a:prstGeom>
          <a:noFill/>
          <a:ln/>
        </p:spPr>
        <p:txBody>
          <a:bodyPr wrap="square" lIns="0" tIns="0" rIns="0" bIns="0" rtlCol="0" anchor="t"/>
          <a:lstStyle/>
          <a:p>
            <a:pPr algn="ctr" indent="0" marL="0">
              <a:buNone/>
            </a:pPr>
            <a:r>
              <a:rPr lang="en-US" sz="1400" b="1" dirty="0">
                <a:solidFill>
                  <a:srgbClr val="6B7A93"/>
                </a:solidFill>
                <a:latin typeface="Arial" pitchFamily="34" charset="0"/>
                <a:ea typeface="Arial" pitchFamily="34" charset="-122"/>
                <a:cs typeface="Arial" pitchFamily="34" charset="-120"/>
              </a:rPr>
              <a:t>unused</a:t>
            </a:r>
            <a:endParaRPr lang="en-US" sz="1400" dirty="0"/>
          </a:p>
        </p:txBody>
      </p:sp>
      <p:sp>
        <p:nvSpPr>
          <p:cNvPr id="27" name="Shape 25"/>
          <p:cNvSpPr/>
          <p:nvPr/>
        </p:nvSpPr>
        <p:spPr>
          <a:xfrm>
            <a:off x="690372" y="3314700"/>
            <a:ext cx="173736" cy="173736"/>
          </a:xfrm>
          <a:prstGeom prst="ellipse">
            <a:avLst/>
          </a:prstGeom>
          <a:solidFill>
            <a:srgbClr val="0B1220"/>
          </a:solidFill>
          <a:ln w="19050">
            <a:solidFill>
              <a:srgbClr val="F1F5F9"/>
            </a:solidFill>
            <a:prstDash val="solid"/>
          </a:ln>
        </p:spPr>
      </p:sp>
      <p:sp>
        <p:nvSpPr>
          <p:cNvPr id="28" name="Text 26"/>
          <p:cNvSpPr txBox="1"/>
          <p:nvPr/>
        </p:nvSpPr>
        <p:spPr>
          <a:xfrm>
            <a:off x="548640" y="3547872"/>
            <a:ext cx="457200" cy="219456"/>
          </a:xfrm>
          <a:prstGeom prst="rect">
            <a:avLst/>
          </a:prstGeom>
          <a:noFill/>
          <a:ln/>
        </p:spPr>
        <p:txBody>
          <a:bodyPr wrap="square" lIns="0" tIns="0" rIns="0" bIns="0" rtlCol="0" anchor="t"/>
          <a:lstStyle/>
          <a:p>
            <a:pPr algn="ctr" indent="0" marL="0">
              <a:buNone/>
            </a:pPr>
            <a:r>
              <a:rPr lang="en-US" sz="1100" dirty="0">
                <a:solidFill>
                  <a:srgbClr val="6B7A93"/>
                </a:solidFill>
                <a:latin typeface="Arial" pitchFamily="34" charset="0"/>
                <a:ea typeface="Arial" pitchFamily="34" charset="-122"/>
                <a:cs typeface="Arial" pitchFamily="34" charset="-120"/>
              </a:rPr>
              <a:t>0</a:t>
            </a:r>
            <a:endParaRPr lang="en-US" sz="1100" dirty="0"/>
          </a:p>
        </p:txBody>
      </p:sp>
      <p:sp>
        <p:nvSpPr>
          <p:cNvPr id="29" name="Shape 27"/>
          <p:cNvSpPr/>
          <p:nvPr/>
        </p:nvSpPr>
        <p:spPr>
          <a:xfrm>
            <a:off x="907458" y="3314700"/>
            <a:ext cx="173736" cy="173736"/>
          </a:xfrm>
          <a:prstGeom prst="ellipse">
            <a:avLst/>
          </a:prstGeom>
          <a:solidFill>
            <a:srgbClr val="0B1220"/>
          </a:solidFill>
          <a:ln w="19050">
            <a:solidFill>
              <a:srgbClr val="F1F5F9"/>
            </a:solidFill>
            <a:prstDash val="solid"/>
          </a:ln>
        </p:spPr>
      </p:sp>
      <p:sp>
        <p:nvSpPr>
          <p:cNvPr id="30" name="Shape 28"/>
          <p:cNvSpPr/>
          <p:nvPr/>
        </p:nvSpPr>
        <p:spPr>
          <a:xfrm>
            <a:off x="1124544" y="3314700"/>
            <a:ext cx="173736" cy="173736"/>
          </a:xfrm>
          <a:prstGeom prst="ellipse">
            <a:avLst/>
          </a:prstGeom>
          <a:solidFill>
            <a:srgbClr val="0B1220"/>
          </a:solidFill>
          <a:ln w="19050">
            <a:solidFill>
              <a:srgbClr val="F1F5F9"/>
            </a:solidFill>
            <a:prstDash val="solid"/>
          </a:ln>
        </p:spPr>
      </p:sp>
      <p:sp>
        <p:nvSpPr>
          <p:cNvPr id="31" name="Shape 29"/>
          <p:cNvSpPr/>
          <p:nvPr/>
        </p:nvSpPr>
        <p:spPr>
          <a:xfrm>
            <a:off x="1341630" y="3314700"/>
            <a:ext cx="173736" cy="173736"/>
          </a:xfrm>
          <a:prstGeom prst="ellipse">
            <a:avLst/>
          </a:prstGeom>
          <a:solidFill>
            <a:srgbClr val="0B1220"/>
          </a:solidFill>
          <a:ln w="19050">
            <a:solidFill>
              <a:srgbClr val="F1F5F9"/>
            </a:solidFill>
            <a:prstDash val="solid"/>
          </a:ln>
        </p:spPr>
      </p:sp>
      <p:sp>
        <p:nvSpPr>
          <p:cNvPr id="32" name="Shape 30"/>
          <p:cNvSpPr/>
          <p:nvPr/>
        </p:nvSpPr>
        <p:spPr>
          <a:xfrm>
            <a:off x="1558716" y="3314700"/>
            <a:ext cx="173736" cy="173736"/>
          </a:xfrm>
          <a:prstGeom prst="ellipse">
            <a:avLst/>
          </a:prstGeom>
          <a:solidFill>
            <a:srgbClr val="0B1220"/>
          </a:solidFill>
          <a:ln w="19050">
            <a:solidFill>
              <a:srgbClr val="F1F5F9"/>
            </a:solidFill>
            <a:prstDash val="solid"/>
          </a:ln>
        </p:spPr>
      </p:sp>
      <p:sp>
        <p:nvSpPr>
          <p:cNvPr id="33" name="Shape 31"/>
          <p:cNvSpPr/>
          <p:nvPr/>
        </p:nvSpPr>
        <p:spPr>
          <a:xfrm>
            <a:off x="1775802" y="3314700"/>
            <a:ext cx="173736" cy="173736"/>
          </a:xfrm>
          <a:prstGeom prst="ellipse">
            <a:avLst/>
          </a:prstGeom>
          <a:solidFill>
            <a:srgbClr val="0B1220"/>
          </a:solidFill>
          <a:ln w="19050">
            <a:solidFill>
              <a:srgbClr val="F1F5F9"/>
            </a:solidFill>
            <a:prstDash val="solid"/>
          </a:ln>
        </p:spPr>
      </p:sp>
      <p:sp>
        <p:nvSpPr>
          <p:cNvPr id="34" name="Text 32"/>
          <p:cNvSpPr txBox="1"/>
          <p:nvPr/>
        </p:nvSpPr>
        <p:spPr>
          <a:xfrm>
            <a:off x="1634070" y="3547872"/>
            <a:ext cx="457200" cy="219456"/>
          </a:xfrm>
          <a:prstGeom prst="rect">
            <a:avLst/>
          </a:prstGeom>
          <a:noFill/>
          <a:ln/>
        </p:spPr>
        <p:txBody>
          <a:bodyPr wrap="square" lIns="0" tIns="0" rIns="0" bIns="0" rtlCol="0" anchor="t"/>
          <a:lstStyle/>
          <a:p>
            <a:pPr algn="ctr" indent="0" marL="0">
              <a:buNone/>
            </a:pPr>
            <a:r>
              <a:rPr lang="en-US" sz="1100" dirty="0">
                <a:solidFill>
                  <a:srgbClr val="6B7A93"/>
                </a:solidFill>
                <a:latin typeface="Arial" pitchFamily="34" charset="0"/>
                <a:ea typeface="Arial" pitchFamily="34" charset="-122"/>
                <a:cs typeface="Arial" pitchFamily="34" charset="-120"/>
              </a:rPr>
              <a:t>5</a:t>
            </a:r>
            <a:endParaRPr lang="en-US" sz="1100" dirty="0"/>
          </a:p>
        </p:txBody>
      </p:sp>
      <p:sp>
        <p:nvSpPr>
          <p:cNvPr id="35" name="Shape 33"/>
          <p:cNvSpPr/>
          <p:nvPr/>
        </p:nvSpPr>
        <p:spPr>
          <a:xfrm>
            <a:off x="1992888" y="3314700"/>
            <a:ext cx="173736" cy="173736"/>
          </a:xfrm>
          <a:prstGeom prst="ellipse">
            <a:avLst/>
          </a:prstGeom>
          <a:solidFill>
            <a:srgbClr val="0B1220"/>
          </a:solidFill>
          <a:ln w="19050">
            <a:solidFill>
              <a:srgbClr val="F1F5F9"/>
            </a:solidFill>
            <a:prstDash val="solid"/>
          </a:ln>
        </p:spPr>
      </p:sp>
      <p:sp>
        <p:nvSpPr>
          <p:cNvPr id="36" name="Shape 34"/>
          <p:cNvSpPr/>
          <p:nvPr/>
        </p:nvSpPr>
        <p:spPr>
          <a:xfrm>
            <a:off x="2209974" y="3314700"/>
            <a:ext cx="173736" cy="173736"/>
          </a:xfrm>
          <a:prstGeom prst="ellipse">
            <a:avLst/>
          </a:prstGeom>
          <a:solidFill>
            <a:srgbClr val="0B1220"/>
          </a:solidFill>
          <a:ln w="19050">
            <a:solidFill>
              <a:srgbClr val="F1F5F9"/>
            </a:solidFill>
            <a:prstDash val="solid"/>
          </a:ln>
        </p:spPr>
      </p:sp>
      <p:sp>
        <p:nvSpPr>
          <p:cNvPr id="37" name="Shape 35"/>
          <p:cNvSpPr/>
          <p:nvPr/>
        </p:nvSpPr>
        <p:spPr>
          <a:xfrm>
            <a:off x="2427060" y="3314700"/>
            <a:ext cx="173736" cy="173736"/>
          </a:xfrm>
          <a:prstGeom prst="ellipse">
            <a:avLst/>
          </a:prstGeom>
          <a:solidFill>
            <a:srgbClr val="0B1220"/>
          </a:solidFill>
          <a:ln w="19050">
            <a:solidFill>
              <a:srgbClr val="F1F5F9"/>
            </a:solidFill>
            <a:prstDash val="solid"/>
          </a:ln>
        </p:spPr>
      </p:sp>
      <p:sp>
        <p:nvSpPr>
          <p:cNvPr id="38" name="Shape 36"/>
          <p:cNvSpPr/>
          <p:nvPr/>
        </p:nvSpPr>
        <p:spPr>
          <a:xfrm>
            <a:off x="2644146" y="3314700"/>
            <a:ext cx="173736" cy="173736"/>
          </a:xfrm>
          <a:prstGeom prst="ellipse">
            <a:avLst/>
          </a:prstGeom>
          <a:solidFill>
            <a:srgbClr val="0B1220"/>
          </a:solidFill>
          <a:ln w="19050">
            <a:solidFill>
              <a:srgbClr val="F1F5F9"/>
            </a:solidFill>
            <a:prstDash val="solid"/>
          </a:ln>
        </p:spPr>
      </p:sp>
      <p:sp>
        <p:nvSpPr>
          <p:cNvPr id="39" name="Shape 37"/>
          <p:cNvSpPr/>
          <p:nvPr/>
        </p:nvSpPr>
        <p:spPr>
          <a:xfrm>
            <a:off x="2861232" y="3314700"/>
            <a:ext cx="173736" cy="173736"/>
          </a:xfrm>
          <a:prstGeom prst="ellipse">
            <a:avLst/>
          </a:prstGeom>
          <a:solidFill>
            <a:srgbClr val="0B1220"/>
          </a:solidFill>
          <a:ln w="19050">
            <a:solidFill>
              <a:srgbClr val="F1F5F9"/>
            </a:solidFill>
            <a:prstDash val="solid"/>
          </a:ln>
        </p:spPr>
      </p:sp>
      <p:sp>
        <p:nvSpPr>
          <p:cNvPr id="40" name="Text 38"/>
          <p:cNvSpPr txBox="1"/>
          <p:nvPr/>
        </p:nvSpPr>
        <p:spPr>
          <a:xfrm>
            <a:off x="2719500" y="3547872"/>
            <a:ext cx="457200" cy="219456"/>
          </a:xfrm>
          <a:prstGeom prst="rect">
            <a:avLst/>
          </a:prstGeom>
          <a:noFill/>
          <a:ln/>
        </p:spPr>
        <p:txBody>
          <a:bodyPr wrap="square" lIns="0" tIns="0" rIns="0" bIns="0" rtlCol="0" anchor="t"/>
          <a:lstStyle/>
          <a:p>
            <a:pPr algn="ctr" indent="0" marL="0">
              <a:buNone/>
            </a:pPr>
            <a:r>
              <a:rPr lang="en-US" sz="1100" dirty="0">
                <a:solidFill>
                  <a:srgbClr val="6B7A93"/>
                </a:solidFill>
                <a:latin typeface="Arial" pitchFamily="34" charset="0"/>
                <a:ea typeface="Arial" pitchFamily="34" charset="-122"/>
                <a:cs typeface="Arial" pitchFamily="34" charset="-120"/>
              </a:rPr>
              <a:t>10</a:t>
            </a:r>
            <a:endParaRPr lang="en-US" sz="1100" dirty="0"/>
          </a:p>
        </p:txBody>
      </p:sp>
      <p:sp>
        <p:nvSpPr>
          <p:cNvPr id="41" name="Shape 39"/>
          <p:cNvSpPr/>
          <p:nvPr/>
        </p:nvSpPr>
        <p:spPr>
          <a:xfrm>
            <a:off x="3078318" y="3314700"/>
            <a:ext cx="173736" cy="173736"/>
          </a:xfrm>
          <a:prstGeom prst="ellipse">
            <a:avLst/>
          </a:prstGeom>
          <a:solidFill>
            <a:srgbClr val="0B1220"/>
          </a:solidFill>
          <a:ln w="19050">
            <a:solidFill>
              <a:srgbClr val="F1F5F9"/>
            </a:solidFill>
            <a:prstDash val="solid"/>
          </a:ln>
        </p:spPr>
      </p:sp>
      <p:sp>
        <p:nvSpPr>
          <p:cNvPr id="42" name="Shape 40"/>
          <p:cNvSpPr/>
          <p:nvPr/>
        </p:nvSpPr>
        <p:spPr>
          <a:xfrm>
            <a:off x="3295404" y="3314700"/>
            <a:ext cx="173736" cy="173736"/>
          </a:xfrm>
          <a:prstGeom prst="ellipse">
            <a:avLst/>
          </a:prstGeom>
          <a:solidFill>
            <a:srgbClr val="0B1220"/>
          </a:solidFill>
          <a:ln w="19050">
            <a:solidFill>
              <a:srgbClr val="F1F5F9"/>
            </a:solidFill>
            <a:prstDash val="solid"/>
          </a:ln>
        </p:spPr>
      </p:sp>
      <p:sp>
        <p:nvSpPr>
          <p:cNvPr id="43" name="Shape 41"/>
          <p:cNvSpPr/>
          <p:nvPr/>
        </p:nvSpPr>
        <p:spPr>
          <a:xfrm>
            <a:off x="3512490" y="3314700"/>
            <a:ext cx="173736" cy="173736"/>
          </a:xfrm>
          <a:prstGeom prst="ellipse">
            <a:avLst/>
          </a:prstGeom>
          <a:solidFill>
            <a:srgbClr val="0B1220"/>
          </a:solidFill>
          <a:ln w="19050">
            <a:solidFill>
              <a:srgbClr val="F1F5F9"/>
            </a:solidFill>
            <a:prstDash val="solid"/>
          </a:ln>
        </p:spPr>
      </p:sp>
      <p:sp>
        <p:nvSpPr>
          <p:cNvPr id="44" name="Shape 42"/>
          <p:cNvSpPr/>
          <p:nvPr/>
        </p:nvSpPr>
        <p:spPr>
          <a:xfrm>
            <a:off x="3729576" y="3314700"/>
            <a:ext cx="173736" cy="173736"/>
          </a:xfrm>
          <a:prstGeom prst="ellipse">
            <a:avLst/>
          </a:prstGeom>
          <a:solidFill>
            <a:srgbClr val="0B1220"/>
          </a:solidFill>
          <a:ln w="19050">
            <a:solidFill>
              <a:srgbClr val="F1F5F9"/>
            </a:solidFill>
            <a:prstDash val="solid"/>
          </a:ln>
        </p:spPr>
      </p:sp>
      <p:sp>
        <p:nvSpPr>
          <p:cNvPr id="45" name="Shape 43"/>
          <p:cNvSpPr/>
          <p:nvPr/>
        </p:nvSpPr>
        <p:spPr>
          <a:xfrm>
            <a:off x="3946662" y="3314700"/>
            <a:ext cx="173736" cy="173736"/>
          </a:xfrm>
          <a:prstGeom prst="ellipse">
            <a:avLst/>
          </a:prstGeom>
          <a:solidFill>
            <a:srgbClr val="38BDF8"/>
          </a:solidFill>
          <a:ln w="9525">
            <a:solidFill>
              <a:srgbClr val="38BDF8"/>
            </a:solidFill>
            <a:prstDash val="solid"/>
          </a:ln>
        </p:spPr>
      </p:sp>
      <p:sp>
        <p:nvSpPr>
          <p:cNvPr id="46" name="Text 44"/>
          <p:cNvSpPr txBox="1"/>
          <p:nvPr/>
        </p:nvSpPr>
        <p:spPr>
          <a:xfrm>
            <a:off x="3804930" y="3547872"/>
            <a:ext cx="457200" cy="219456"/>
          </a:xfrm>
          <a:prstGeom prst="rect">
            <a:avLst/>
          </a:prstGeom>
          <a:noFill/>
          <a:ln/>
        </p:spPr>
        <p:txBody>
          <a:bodyPr wrap="square" lIns="0" tIns="0" rIns="0" bIns="0" rtlCol="0" anchor="t"/>
          <a:lstStyle/>
          <a:p>
            <a:pPr algn="ctr" indent="0" marL="0">
              <a:buNone/>
            </a:pPr>
            <a:r>
              <a:rPr lang="en-US" sz="1100" dirty="0">
                <a:solidFill>
                  <a:srgbClr val="6B7A93"/>
                </a:solidFill>
                <a:latin typeface="Arial" pitchFamily="34" charset="0"/>
                <a:ea typeface="Arial" pitchFamily="34" charset="-122"/>
                <a:cs typeface="Arial" pitchFamily="34" charset="-120"/>
              </a:rPr>
              <a:t>15</a:t>
            </a:r>
            <a:endParaRPr lang="en-US" sz="1100" dirty="0"/>
          </a:p>
        </p:txBody>
      </p:sp>
      <p:sp>
        <p:nvSpPr>
          <p:cNvPr id="47" name="Shape 45"/>
          <p:cNvSpPr/>
          <p:nvPr/>
        </p:nvSpPr>
        <p:spPr>
          <a:xfrm>
            <a:off x="4163748" y="3314700"/>
            <a:ext cx="173736" cy="173736"/>
          </a:xfrm>
          <a:prstGeom prst="ellipse">
            <a:avLst/>
          </a:prstGeom>
          <a:solidFill>
            <a:srgbClr val="38BDF8"/>
          </a:solidFill>
          <a:ln w="9525">
            <a:solidFill>
              <a:srgbClr val="38BDF8"/>
            </a:solidFill>
            <a:prstDash val="solid"/>
          </a:ln>
        </p:spPr>
      </p:sp>
      <p:sp>
        <p:nvSpPr>
          <p:cNvPr id="48" name="Shape 46"/>
          <p:cNvSpPr/>
          <p:nvPr/>
        </p:nvSpPr>
        <p:spPr>
          <a:xfrm>
            <a:off x="4380834" y="3314700"/>
            <a:ext cx="173736" cy="173736"/>
          </a:xfrm>
          <a:prstGeom prst="ellipse">
            <a:avLst/>
          </a:prstGeom>
          <a:solidFill>
            <a:srgbClr val="38BDF8"/>
          </a:solidFill>
          <a:ln w="9525">
            <a:solidFill>
              <a:srgbClr val="38BDF8"/>
            </a:solidFill>
            <a:prstDash val="solid"/>
          </a:ln>
        </p:spPr>
      </p:sp>
      <p:sp>
        <p:nvSpPr>
          <p:cNvPr id="49" name="Shape 47"/>
          <p:cNvSpPr/>
          <p:nvPr/>
        </p:nvSpPr>
        <p:spPr>
          <a:xfrm>
            <a:off x="4597920" y="3314700"/>
            <a:ext cx="173736" cy="173736"/>
          </a:xfrm>
          <a:prstGeom prst="ellipse">
            <a:avLst/>
          </a:prstGeom>
          <a:solidFill>
            <a:srgbClr val="38BDF8"/>
          </a:solidFill>
          <a:ln w="9525">
            <a:solidFill>
              <a:srgbClr val="38BDF8"/>
            </a:solidFill>
            <a:prstDash val="solid"/>
          </a:ln>
        </p:spPr>
      </p:sp>
      <p:sp>
        <p:nvSpPr>
          <p:cNvPr id="50" name="Shape 48"/>
          <p:cNvSpPr/>
          <p:nvPr/>
        </p:nvSpPr>
        <p:spPr>
          <a:xfrm>
            <a:off x="4815006" y="3314700"/>
            <a:ext cx="173736" cy="173736"/>
          </a:xfrm>
          <a:prstGeom prst="ellipse">
            <a:avLst/>
          </a:prstGeom>
          <a:solidFill>
            <a:srgbClr val="38BDF8"/>
          </a:solidFill>
          <a:ln w="9525">
            <a:solidFill>
              <a:srgbClr val="38BDF8"/>
            </a:solidFill>
            <a:prstDash val="solid"/>
          </a:ln>
        </p:spPr>
      </p:sp>
      <p:sp>
        <p:nvSpPr>
          <p:cNvPr id="51" name="Shape 49"/>
          <p:cNvSpPr/>
          <p:nvPr/>
        </p:nvSpPr>
        <p:spPr>
          <a:xfrm>
            <a:off x="5032092" y="3314700"/>
            <a:ext cx="173736" cy="173736"/>
          </a:xfrm>
          <a:prstGeom prst="ellipse">
            <a:avLst/>
          </a:prstGeom>
          <a:solidFill>
            <a:srgbClr val="38BDF8"/>
          </a:solidFill>
          <a:ln w="9525">
            <a:solidFill>
              <a:srgbClr val="38BDF8"/>
            </a:solidFill>
            <a:prstDash val="solid"/>
          </a:ln>
        </p:spPr>
      </p:sp>
      <p:sp>
        <p:nvSpPr>
          <p:cNvPr id="52" name="Text 50"/>
          <p:cNvSpPr txBox="1"/>
          <p:nvPr/>
        </p:nvSpPr>
        <p:spPr>
          <a:xfrm>
            <a:off x="4890360" y="3547872"/>
            <a:ext cx="457200" cy="219456"/>
          </a:xfrm>
          <a:prstGeom prst="rect">
            <a:avLst/>
          </a:prstGeom>
          <a:noFill/>
          <a:ln/>
        </p:spPr>
        <p:txBody>
          <a:bodyPr wrap="square" lIns="0" tIns="0" rIns="0" bIns="0" rtlCol="0" anchor="t"/>
          <a:lstStyle/>
          <a:p>
            <a:pPr algn="ctr" indent="0" marL="0">
              <a:buNone/>
            </a:pPr>
            <a:r>
              <a:rPr lang="en-US" sz="1100" dirty="0">
                <a:solidFill>
                  <a:srgbClr val="6B7A93"/>
                </a:solidFill>
                <a:latin typeface="Arial" pitchFamily="34" charset="0"/>
                <a:ea typeface="Arial" pitchFamily="34" charset="-122"/>
                <a:cs typeface="Arial" pitchFamily="34" charset="-120"/>
              </a:rPr>
              <a:t>20</a:t>
            </a:r>
            <a:endParaRPr lang="en-US" sz="1100" dirty="0"/>
          </a:p>
        </p:txBody>
      </p:sp>
      <p:sp>
        <p:nvSpPr>
          <p:cNvPr id="53" name="Shape 51"/>
          <p:cNvSpPr/>
          <p:nvPr/>
        </p:nvSpPr>
        <p:spPr>
          <a:xfrm>
            <a:off x="5249179" y="3314700"/>
            <a:ext cx="173736" cy="173736"/>
          </a:xfrm>
          <a:prstGeom prst="ellipse">
            <a:avLst/>
          </a:prstGeom>
          <a:solidFill>
            <a:srgbClr val="38BDF8"/>
          </a:solidFill>
          <a:ln w="9525">
            <a:solidFill>
              <a:srgbClr val="38BDF8"/>
            </a:solidFill>
            <a:prstDash val="solid"/>
          </a:ln>
        </p:spPr>
      </p:sp>
      <p:sp>
        <p:nvSpPr>
          <p:cNvPr id="54" name="Shape 52"/>
          <p:cNvSpPr/>
          <p:nvPr/>
        </p:nvSpPr>
        <p:spPr>
          <a:xfrm>
            <a:off x="5466265" y="3314700"/>
            <a:ext cx="173736" cy="173736"/>
          </a:xfrm>
          <a:prstGeom prst="ellipse">
            <a:avLst/>
          </a:prstGeom>
          <a:solidFill>
            <a:srgbClr val="38BDF8"/>
          </a:solidFill>
          <a:ln w="9525">
            <a:solidFill>
              <a:srgbClr val="38BDF8"/>
            </a:solidFill>
            <a:prstDash val="solid"/>
          </a:ln>
        </p:spPr>
      </p:sp>
      <p:sp>
        <p:nvSpPr>
          <p:cNvPr id="55" name="Shape 53"/>
          <p:cNvSpPr/>
          <p:nvPr/>
        </p:nvSpPr>
        <p:spPr>
          <a:xfrm>
            <a:off x="5683351" y="3314700"/>
            <a:ext cx="173736" cy="173736"/>
          </a:xfrm>
          <a:prstGeom prst="ellipse">
            <a:avLst/>
          </a:prstGeom>
          <a:solidFill>
            <a:srgbClr val="38BDF8"/>
          </a:solidFill>
          <a:ln w="9525">
            <a:solidFill>
              <a:srgbClr val="38BDF8"/>
            </a:solidFill>
            <a:prstDash val="solid"/>
          </a:ln>
        </p:spPr>
      </p:sp>
      <p:sp>
        <p:nvSpPr>
          <p:cNvPr id="56" name="Shape 54"/>
          <p:cNvSpPr/>
          <p:nvPr/>
        </p:nvSpPr>
        <p:spPr>
          <a:xfrm>
            <a:off x="5900437" y="3314700"/>
            <a:ext cx="173736" cy="173736"/>
          </a:xfrm>
          <a:prstGeom prst="ellipse">
            <a:avLst/>
          </a:prstGeom>
          <a:solidFill>
            <a:srgbClr val="38BDF8"/>
          </a:solidFill>
          <a:ln w="9525">
            <a:solidFill>
              <a:srgbClr val="38BDF8"/>
            </a:solidFill>
            <a:prstDash val="solid"/>
          </a:ln>
        </p:spPr>
      </p:sp>
      <p:sp>
        <p:nvSpPr>
          <p:cNvPr id="57" name="Shape 55"/>
          <p:cNvSpPr/>
          <p:nvPr/>
        </p:nvSpPr>
        <p:spPr>
          <a:xfrm>
            <a:off x="6117523" y="3314700"/>
            <a:ext cx="173736" cy="173736"/>
          </a:xfrm>
          <a:prstGeom prst="ellipse">
            <a:avLst/>
          </a:prstGeom>
          <a:solidFill>
            <a:srgbClr val="38BDF8"/>
          </a:solidFill>
          <a:ln w="9525">
            <a:solidFill>
              <a:srgbClr val="38BDF8"/>
            </a:solidFill>
            <a:prstDash val="solid"/>
          </a:ln>
        </p:spPr>
      </p:sp>
      <p:sp>
        <p:nvSpPr>
          <p:cNvPr id="58" name="Text 56"/>
          <p:cNvSpPr txBox="1"/>
          <p:nvPr/>
        </p:nvSpPr>
        <p:spPr>
          <a:xfrm>
            <a:off x="5975791" y="3547872"/>
            <a:ext cx="457200" cy="219456"/>
          </a:xfrm>
          <a:prstGeom prst="rect">
            <a:avLst/>
          </a:prstGeom>
          <a:noFill/>
          <a:ln/>
        </p:spPr>
        <p:txBody>
          <a:bodyPr wrap="square" lIns="0" tIns="0" rIns="0" bIns="0" rtlCol="0" anchor="t"/>
          <a:lstStyle/>
          <a:p>
            <a:pPr algn="ctr" indent="0" marL="0">
              <a:buNone/>
            </a:pPr>
            <a:r>
              <a:rPr lang="en-US" sz="1100" dirty="0">
                <a:solidFill>
                  <a:srgbClr val="6B7A93"/>
                </a:solidFill>
                <a:latin typeface="Arial" pitchFamily="34" charset="0"/>
                <a:ea typeface="Arial" pitchFamily="34" charset="-122"/>
                <a:cs typeface="Arial" pitchFamily="34" charset="-120"/>
              </a:rPr>
              <a:t>25</a:t>
            </a:r>
            <a:endParaRPr lang="en-US" sz="1100" dirty="0"/>
          </a:p>
        </p:txBody>
      </p:sp>
      <p:sp>
        <p:nvSpPr>
          <p:cNvPr id="59" name="Shape 57"/>
          <p:cNvSpPr/>
          <p:nvPr/>
        </p:nvSpPr>
        <p:spPr>
          <a:xfrm>
            <a:off x="6334609" y="3314700"/>
            <a:ext cx="173736" cy="173736"/>
          </a:xfrm>
          <a:prstGeom prst="ellipse">
            <a:avLst/>
          </a:prstGeom>
          <a:solidFill>
            <a:srgbClr val="38BDF8"/>
          </a:solidFill>
          <a:ln w="9525">
            <a:solidFill>
              <a:srgbClr val="38BDF8"/>
            </a:solidFill>
            <a:prstDash val="solid"/>
          </a:ln>
        </p:spPr>
      </p:sp>
      <p:sp>
        <p:nvSpPr>
          <p:cNvPr id="60" name="Shape 58"/>
          <p:cNvSpPr/>
          <p:nvPr/>
        </p:nvSpPr>
        <p:spPr>
          <a:xfrm>
            <a:off x="6551695" y="3314700"/>
            <a:ext cx="173736" cy="173736"/>
          </a:xfrm>
          <a:prstGeom prst="ellipse">
            <a:avLst/>
          </a:prstGeom>
          <a:solidFill>
            <a:srgbClr val="38BDF8"/>
          </a:solidFill>
          <a:ln w="9525">
            <a:solidFill>
              <a:srgbClr val="38BDF8"/>
            </a:solidFill>
            <a:prstDash val="solid"/>
          </a:ln>
        </p:spPr>
      </p:sp>
      <p:sp>
        <p:nvSpPr>
          <p:cNvPr id="61" name="Shape 59"/>
          <p:cNvSpPr/>
          <p:nvPr/>
        </p:nvSpPr>
        <p:spPr>
          <a:xfrm>
            <a:off x="6768781" y="3314700"/>
            <a:ext cx="173736" cy="173736"/>
          </a:xfrm>
          <a:prstGeom prst="ellipse">
            <a:avLst/>
          </a:prstGeom>
          <a:solidFill>
            <a:srgbClr val="38BDF8"/>
          </a:solidFill>
          <a:ln w="9525">
            <a:solidFill>
              <a:srgbClr val="38BDF8"/>
            </a:solidFill>
            <a:prstDash val="solid"/>
          </a:ln>
        </p:spPr>
      </p:sp>
      <p:sp>
        <p:nvSpPr>
          <p:cNvPr id="62" name="Shape 60"/>
          <p:cNvSpPr/>
          <p:nvPr/>
        </p:nvSpPr>
        <p:spPr>
          <a:xfrm>
            <a:off x="6985867" y="3314700"/>
            <a:ext cx="173736" cy="173736"/>
          </a:xfrm>
          <a:prstGeom prst="ellipse">
            <a:avLst/>
          </a:prstGeom>
          <a:solidFill>
            <a:srgbClr val="38BDF8"/>
          </a:solidFill>
          <a:ln w="9525">
            <a:solidFill>
              <a:srgbClr val="38BDF8"/>
            </a:solidFill>
            <a:prstDash val="solid"/>
          </a:ln>
        </p:spPr>
      </p:sp>
      <p:sp>
        <p:nvSpPr>
          <p:cNvPr id="63" name="Shape 61"/>
          <p:cNvSpPr/>
          <p:nvPr/>
        </p:nvSpPr>
        <p:spPr>
          <a:xfrm>
            <a:off x="7202953" y="3314700"/>
            <a:ext cx="173736" cy="173736"/>
          </a:xfrm>
          <a:prstGeom prst="ellipse">
            <a:avLst/>
          </a:prstGeom>
          <a:solidFill>
            <a:srgbClr val="38BDF8"/>
          </a:solidFill>
          <a:ln w="9525">
            <a:solidFill>
              <a:srgbClr val="38BDF8"/>
            </a:solidFill>
            <a:prstDash val="solid"/>
          </a:ln>
        </p:spPr>
      </p:sp>
      <p:sp>
        <p:nvSpPr>
          <p:cNvPr id="64" name="Text 62"/>
          <p:cNvSpPr txBox="1"/>
          <p:nvPr/>
        </p:nvSpPr>
        <p:spPr>
          <a:xfrm>
            <a:off x="7061221" y="3547872"/>
            <a:ext cx="457200" cy="219456"/>
          </a:xfrm>
          <a:prstGeom prst="rect">
            <a:avLst/>
          </a:prstGeom>
          <a:noFill/>
          <a:ln/>
        </p:spPr>
        <p:txBody>
          <a:bodyPr wrap="square" lIns="0" tIns="0" rIns="0" bIns="0" rtlCol="0" anchor="t"/>
          <a:lstStyle/>
          <a:p>
            <a:pPr algn="ctr" indent="0" marL="0">
              <a:buNone/>
            </a:pPr>
            <a:r>
              <a:rPr lang="en-US" sz="1100" dirty="0">
                <a:solidFill>
                  <a:srgbClr val="6B7A93"/>
                </a:solidFill>
                <a:latin typeface="Arial" pitchFamily="34" charset="0"/>
                <a:ea typeface="Arial" pitchFamily="34" charset="-122"/>
                <a:cs typeface="Arial" pitchFamily="34" charset="-120"/>
              </a:rPr>
              <a:t>30</a:t>
            </a:r>
            <a:endParaRPr lang="en-US" sz="1100" dirty="0"/>
          </a:p>
        </p:txBody>
      </p:sp>
      <p:sp>
        <p:nvSpPr>
          <p:cNvPr id="65" name="Shape 63"/>
          <p:cNvSpPr/>
          <p:nvPr/>
        </p:nvSpPr>
        <p:spPr>
          <a:xfrm>
            <a:off x="7420039" y="3314700"/>
            <a:ext cx="173736" cy="173736"/>
          </a:xfrm>
          <a:prstGeom prst="ellipse">
            <a:avLst/>
          </a:prstGeom>
          <a:solidFill>
            <a:srgbClr val="38BDF8"/>
          </a:solidFill>
          <a:ln w="9525">
            <a:solidFill>
              <a:srgbClr val="38BDF8"/>
            </a:solidFill>
            <a:prstDash val="solid"/>
          </a:ln>
        </p:spPr>
      </p:sp>
      <p:sp>
        <p:nvSpPr>
          <p:cNvPr id="66" name="Shape 64"/>
          <p:cNvSpPr/>
          <p:nvPr/>
        </p:nvSpPr>
        <p:spPr>
          <a:xfrm>
            <a:off x="7637125" y="3314700"/>
            <a:ext cx="173736" cy="173736"/>
          </a:xfrm>
          <a:prstGeom prst="ellipse">
            <a:avLst/>
          </a:prstGeom>
          <a:solidFill>
            <a:srgbClr val="38BDF8"/>
          </a:solidFill>
          <a:ln w="9525">
            <a:solidFill>
              <a:srgbClr val="38BDF8"/>
            </a:solidFill>
            <a:prstDash val="solid"/>
          </a:ln>
        </p:spPr>
      </p:sp>
      <p:sp>
        <p:nvSpPr>
          <p:cNvPr id="67" name="Shape 65"/>
          <p:cNvSpPr/>
          <p:nvPr/>
        </p:nvSpPr>
        <p:spPr>
          <a:xfrm>
            <a:off x="7854211" y="3314700"/>
            <a:ext cx="173736" cy="173736"/>
          </a:xfrm>
          <a:prstGeom prst="ellipse">
            <a:avLst/>
          </a:prstGeom>
          <a:solidFill>
            <a:srgbClr val="38BDF8"/>
          </a:solidFill>
          <a:ln w="9525">
            <a:solidFill>
              <a:srgbClr val="38BDF8"/>
            </a:solidFill>
            <a:prstDash val="solid"/>
          </a:ln>
        </p:spPr>
      </p:sp>
      <p:sp>
        <p:nvSpPr>
          <p:cNvPr id="68" name="Shape 66"/>
          <p:cNvSpPr/>
          <p:nvPr/>
        </p:nvSpPr>
        <p:spPr>
          <a:xfrm>
            <a:off x="8071297" y="3314700"/>
            <a:ext cx="173736" cy="173736"/>
          </a:xfrm>
          <a:prstGeom prst="ellipse">
            <a:avLst/>
          </a:prstGeom>
          <a:solidFill>
            <a:srgbClr val="38BDF8"/>
          </a:solidFill>
          <a:ln w="9525">
            <a:solidFill>
              <a:srgbClr val="38BDF8"/>
            </a:solidFill>
            <a:prstDash val="solid"/>
          </a:ln>
        </p:spPr>
      </p:sp>
      <p:sp>
        <p:nvSpPr>
          <p:cNvPr id="69" name="Shape 67"/>
          <p:cNvSpPr/>
          <p:nvPr/>
        </p:nvSpPr>
        <p:spPr>
          <a:xfrm>
            <a:off x="8288383" y="3314700"/>
            <a:ext cx="173736" cy="173736"/>
          </a:xfrm>
          <a:prstGeom prst="ellipse">
            <a:avLst/>
          </a:prstGeom>
          <a:solidFill>
            <a:srgbClr val="38BDF8"/>
          </a:solidFill>
          <a:ln w="9525">
            <a:solidFill>
              <a:srgbClr val="38BDF8"/>
            </a:solidFill>
            <a:prstDash val="solid"/>
          </a:ln>
        </p:spPr>
      </p:sp>
      <p:sp>
        <p:nvSpPr>
          <p:cNvPr id="70" name="Text 68"/>
          <p:cNvSpPr txBox="1"/>
          <p:nvPr/>
        </p:nvSpPr>
        <p:spPr>
          <a:xfrm>
            <a:off x="8146651" y="3547872"/>
            <a:ext cx="457200" cy="219456"/>
          </a:xfrm>
          <a:prstGeom prst="rect">
            <a:avLst/>
          </a:prstGeom>
          <a:noFill/>
          <a:ln/>
        </p:spPr>
        <p:txBody>
          <a:bodyPr wrap="square" lIns="0" tIns="0" rIns="0" bIns="0" rtlCol="0" anchor="t"/>
          <a:lstStyle/>
          <a:p>
            <a:pPr algn="ctr" indent="0" marL="0">
              <a:buNone/>
            </a:pPr>
            <a:r>
              <a:rPr lang="en-US" sz="1100" dirty="0">
                <a:solidFill>
                  <a:srgbClr val="6B7A93"/>
                </a:solidFill>
                <a:latin typeface="Arial" pitchFamily="34" charset="0"/>
                <a:ea typeface="Arial" pitchFamily="34" charset="-122"/>
                <a:cs typeface="Arial" pitchFamily="34" charset="-120"/>
              </a:rPr>
              <a:t>35</a:t>
            </a:r>
            <a:endParaRPr lang="en-US" sz="1100" dirty="0"/>
          </a:p>
        </p:txBody>
      </p:sp>
      <p:sp>
        <p:nvSpPr>
          <p:cNvPr id="71" name="Shape 69"/>
          <p:cNvSpPr/>
          <p:nvPr/>
        </p:nvSpPr>
        <p:spPr>
          <a:xfrm>
            <a:off x="8505469" y="3314700"/>
            <a:ext cx="173736" cy="173736"/>
          </a:xfrm>
          <a:prstGeom prst="ellipse">
            <a:avLst/>
          </a:prstGeom>
          <a:solidFill>
            <a:srgbClr val="38BDF8"/>
          </a:solidFill>
          <a:ln w="9525">
            <a:solidFill>
              <a:srgbClr val="38BDF8"/>
            </a:solidFill>
            <a:prstDash val="solid"/>
          </a:ln>
        </p:spPr>
      </p:sp>
      <p:sp>
        <p:nvSpPr>
          <p:cNvPr id="72" name="Shape 70"/>
          <p:cNvSpPr/>
          <p:nvPr/>
        </p:nvSpPr>
        <p:spPr>
          <a:xfrm>
            <a:off x="8722555" y="3314700"/>
            <a:ext cx="173736" cy="173736"/>
          </a:xfrm>
          <a:prstGeom prst="ellipse">
            <a:avLst/>
          </a:prstGeom>
          <a:solidFill>
            <a:srgbClr val="38BDF8"/>
          </a:solidFill>
          <a:ln w="9525">
            <a:solidFill>
              <a:srgbClr val="38BDF8"/>
            </a:solidFill>
            <a:prstDash val="solid"/>
          </a:ln>
        </p:spPr>
      </p:sp>
      <p:sp>
        <p:nvSpPr>
          <p:cNvPr id="73" name="Shape 71"/>
          <p:cNvSpPr/>
          <p:nvPr/>
        </p:nvSpPr>
        <p:spPr>
          <a:xfrm>
            <a:off x="8939641" y="3314700"/>
            <a:ext cx="173736" cy="173736"/>
          </a:xfrm>
          <a:prstGeom prst="ellipse">
            <a:avLst/>
          </a:prstGeom>
          <a:solidFill>
            <a:srgbClr val="38BDF8"/>
          </a:solidFill>
          <a:ln w="9525">
            <a:solidFill>
              <a:srgbClr val="38BDF8"/>
            </a:solidFill>
            <a:prstDash val="solid"/>
          </a:ln>
        </p:spPr>
      </p:sp>
      <p:sp>
        <p:nvSpPr>
          <p:cNvPr id="74" name="Shape 72"/>
          <p:cNvSpPr/>
          <p:nvPr/>
        </p:nvSpPr>
        <p:spPr>
          <a:xfrm>
            <a:off x="9156727" y="3314700"/>
            <a:ext cx="173736" cy="173736"/>
          </a:xfrm>
          <a:prstGeom prst="ellipse">
            <a:avLst/>
          </a:prstGeom>
          <a:solidFill>
            <a:srgbClr val="38BDF8"/>
          </a:solidFill>
          <a:ln w="9525">
            <a:solidFill>
              <a:srgbClr val="38BDF8"/>
            </a:solidFill>
            <a:prstDash val="solid"/>
          </a:ln>
        </p:spPr>
      </p:sp>
      <p:sp>
        <p:nvSpPr>
          <p:cNvPr id="75" name="Shape 73"/>
          <p:cNvSpPr/>
          <p:nvPr/>
        </p:nvSpPr>
        <p:spPr>
          <a:xfrm>
            <a:off x="9373813" y="3314700"/>
            <a:ext cx="173736" cy="173736"/>
          </a:xfrm>
          <a:prstGeom prst="ellipse">
            <a:avLst/>
          </a:prstGeom>
          <a:solidFill>
            <a:srgbClr val="38BDF8"/>
          </a:solidFill>
          <a:ln w="9525">
            <a:solidFill>
              <a:srgbClr val="38BDF8"/>
            </a:solidFill>
            <a:prstDash val="solid"/>
          </a:ln>
        </p:spPr>
      </p:sp>
      <p:sp>
        <p:nvSpPr>
          <p:cNvPr id="76" name="Text 74"/>
          <p:cNvSpPr txBox="1"/>
          <p:nvPr/>
        </p:nvSpPr>
        <p:spPr>
          <a:xfrm>
            <a:off x="9232081" y="3547872"/>
            <a:ext cx="457200" cy="219456"/>
          </a:xfrm>
          <a:prstGeom prst="rect">
            <a:avLst/>
          </a:prstGeom>
          <a:noFill/>
          <a:ln/>
        </p:spPr>
        <p:txBody>
          <a:bodyPr wrap="square" lIns="0" tIns="0" rIns="0" bIns="0" rtlCol="0" anchor="t"/>
          <a:lstStyle/>
          <a:p>
            <a:pPr algn="ctr" indent="0" marL="0">
              <a:buNone/>
            </a:pPr>
            <a:r>
              <a:rPr lang="en-US" sz="1100" dirty="0">
                <a:solidFill>
                  <a:srgbClr val="6B7A93"/>
                </a:solidFill>
                <a:latin typeface="Arial" pitchFamily="34" charset="0"/>
                <a:ea typeface="Arial" pitchFamily="34" charset="-122"/>
                <a:cs typeface="Arial" pitchFamily="34" charset="-120"/>
              </a:rPr>
              <a:t>40</a:t>
            </a:r>
            <a:endParaRPr lang="en-US" sz="1100" dirty="0"/>
          </a:p>
        </p:txBody>
      </p:sp>
      <p:sp>
        <p:nvSpPr>
          <p:cNvPr id="77" name="Shape 75"/>
          <p:cNvSpPr/>
          <p:nvPr/>
        </p:nvSpPr>
        <p:spPr>
          <a:xfrm>
            <a:off x="9590899" y="3314700"/>
            <a:ext cx="173736" cy="173736"/>
          </a:xfrm>
          <a:prstGeom prst="ellipse">
            <a:avLst/>
          </a:prstGeom>
          <a:solidFill>
            <a:srgbClr val="38BDF8"/>
          </a:solidFill>
          <a:ln w="9525">
            <a:solidFill>
              <a:srgbClr val="38BDF8"/>
            </a:solidFill>
            <a:prstDash val="solid"/>
          </a:ln>
        </p:spPr>
      </p:sp>
      <p:sp>
        <p:nvSpPr>
          <p:cNvPr id="78" name="Shape 76"/>
          <p:cNvSpPr/>
          <p:nvPr/>
        </p:nvSpPr>
        <p:spPr>
          <a:xfrm>
            <a:off x="9807985" y="3314700"/>
            <a:ext cx="173736" cy="173736"/>
          </a:xfrm>
          <a:prstGeom prst="ellipse">
            <a:avLst/>
          </a:prstGeom>
          <a:solidFill>
            <a:srgbClr val="38BDF8"/>
          </a:solidFill>
          <a:ln w="9525">
            <a:solidFill>
              <a:srgbClr val="38BDF8"/>
            </a:solidFill>
            <a:prstDash val="solid"/>
          </a:ln>
        </p:spPr>
      </p:sp>
      <p:sp>
        <p:nvSpPr>
          <p:cNvPr id="79" name="Shape 77"/>
          <p:cNvSpPr/>
          <p:nvPr/>
        </p:nvSpPr>
        <p:spPr>
          <a:xfrm>
            <a:off x="10025071" y="3314700"/>
            <a:ext cx="173736" cy="173736"/>
          </a:xfrm>
          <a:prstGeom prst="ellipse">
            <a:avLst/>
          </a:prstGeom>
          <a:solidFill>
            <a:srgbClr val="38BDF8"/>
          </a:solidFill>
          <a:ln w="9525">
            <a:solidFill>
              <a:srgbClr val="38BDF8"/>
            </a:solidFill>
            <a:prstDash val="solid"/>
          </a:ln>
        </p:spPr>
      </p:sp>
      <p:sp>
        <p:nvSpPr>
          <p:cNvPr id="80" name="Shape 78"/>
          <p:cNvSpPr/>
          <p:nvPr/>
        </p:nvSpPr>
        <p:spPr>
          <a:xfrm>
            <a:off x="10242157" y="3314700"/>
            <a:ext cx="173736" cy="173736"/>
          </a:xfrm>
          <a:prstGeom prst="ellipse">
            <a:avLst/>
          </a:prstGeom>
          <a:solidFill>
            <a:srgbClr val="38BDF8"/>
          </a:solidFill>
          <a:ln w="9525">
            <a:solidFill>
              <a:srgbClr val="38BDF8"/>
            </a:solidFill>
            <a:prstDash val="solid"/>
          </a:ln>
        </p:spPr>
      </p:sp>
      <p:sp>
        <p:nvSpPr>
          <p:cNvPr id="81" name="Shape 79"/>
          <p:cNvSpPr/>
          <p:nvPr/>
        </p:nvSpPr>
        <p:spPr>
          <a:xfrm>
            <a:off x="10459243" y="3314700"/>
            <a:ext cx="173736" cy="173736"/>
          </a:xfrm>
          <a:prstGeom prst="ellipse">
            <a:avLst/>
          </a:prstGeom>
          <a:solidFill>
            <a:srgbClr val="26354F"/>
          </a:solidFill>
          <a:ln w="9525">
            <a:solidFill>
              <a:srgbClr val="26354F"/>
            </a:solidFill>
            <a:prstDash val="solid"/>
          </a:ln>
        </p:spPr>
      </p:sp>
      <p:sp>
        <p:nvSpPr>
          <p:cNvPr id="82" name="Text 80"/>
          <p:cNvSpPr txBox="1"/>
          <p:nvPr/>
        </p:nvSpPr>
        <p:spPr>
          <a:xfrm>
            <a:off x="10317511" y="3547872"/>
            <a:ext cx="457200" cy="219456"/>
          </a:xfrm>
          <a:prstGeom prst="rect">
            <a:avLst/>
          </a:prstGeom>
          <a:noFill/>
          <a:ln/>
        </p:spPr>
        <p:txBody>
          <a:bodyPr wrap="square" lIns="0" tIns="0" rIns="0" bIns="0" rtlCol="0" anchor="t"/>
          <a:lstStyle/>
          <a:p>
            <a:pPr algn="ctr" indent="0" marL="0">
              <a:buNone/>
            </a:pPr>
            <a:r>
              <a:rPr lang="en-US" sz="1100" dirty="0">
                <a:solidFill>
                  <a:srgbClr val="6B7A93"/>
                </a:solidFill>
                <a:latin typeface="Arial" pitchFamily="34" charset="0"/>
                <a:ea typeface="Arial" pitchFamily="34" charset="-122"/>
                <a:cs typeface="Arial" pitchFamily="34" charset="-120"/>
              </a:rPr>
              <a:t>45</a:t>
            </a:r>
            <a:endParaRPr lang="en-US" sz="1100" dirty="0"/>
          </a:p>
        </p:txBody>
      </p:sp>
      <p:sp>
        <p:nvSpPr>
          <p:cNvPr id="83" name="Shape 81"/>
          <p:cNvSpPr/>
          <p:nvPr/>
        </p:nvSpPr>
        <p:spPr>
          <a:xfrm>
            <a:off x="10676329" y="3314700"/>
            <a:ext cx="173736" cy="173736"/>
          </a:xfrm>
          <a:prstGeom prst="ellipse">
            <a:avLst/>
          </a:prstGeom>
          <a:solidFill>
            <a:srgbClr val="26354F"/>
          </a:solidFill>
          <a:ln w="9525">
            <a:solidFill>
              <a:srgbClr val="26354F"/>
            </a:solidFill>
            <a:prstDash val="solid"/>
          </a:ln>
        </p:spPr>
      </p:sp>
      <p:sp>
        <p:nvSpPr>
          <p:cNvPr id="84" name="Shape 82"/>
          <p:cNvSpPr/>
          <p:nvPr/>
        </p:nvSpPr>
        <p:spPr>
          <a:xfrm>
            <a:off x="10893415" y="3314700"/>
            <a:ext cx="173736" cy="173736"/>
          </a:xfrm>
          <a:prstGeom prst="ellipse">
            <a:avLst/>
          </a:prstGeom>
          <a:solidFill>
            <a:srgbClr val="26354F"/>
          </a:solidFill>
          <a:ln w="9525">
            <a:solidFill>
              <a:srgbClr val="26354F"/>
            </a:solidFill>
            <a:prstDash val="solid"/>
          </a:ln>
        </p:spPr>
      </p:sp>
      <p:sp>
        <p:nvSpPr>
          <p:cNvPr id="85" name="Shape 83"/>
          <p:cNvSpPr/>
          <p:nvPr/>
        </p:nvSpPr>
        <p:spPr>
          <a:xfrm>
            <a:off x="11110501" y="3314700"/>
            <a:ext cx="173736" cy="173736"/>
          </a:xfrm>
          <a:prstGeom prst="ellipse">
            <a:avLst/>
          </a:prstGeom>
          <a:solidFill>
            <a:srgbClr val="26354F"/>
          </a:solidFill>
          <a:ln w="9525">
            <a:solidFill>
              <a:srgbClr val="26354F"/>
            </a:solidFill>
            <a:prstDash val="solid"/>
          </a:ln>
        </p:spPr>
      </p:sp>
      <p:sp>
        <p:nvSpPr>
          <p:cNvPr id="86" name="Shape 84"/>
          <p:cNvSpPr/>
          <p:nvPr/>
        </p:nvSpPr>
        <p:spPr>
          <a:xfrm>
            <a:off x="11327587" y="3314700"/>
            <a:ext cx="173736" cy="173736"/>
          </a:xfrm>
          <a:prstGeom prst="ellipse">
            <a:avLst/>
          </a:prstGeom>
          <a:solidFill>
            <a:srgbClr val="26354F"/>
          </a:solidFill>
          <a:ln w="9525">
            <a:solidFill>
              <a:srgbClr val="26354F"/>
            </a:solidFill>
            <a:prstDash val="solid"/>
          </a:ln>
        </p:spPr>
      </p:sp>
      <p:sp>
        <p:nvSpPr>
          <p:cNvPr id="87" name="Shape 85"/>
          <p:cNvSpPr/>
          <p:nvPr/>
        </p:nvSpPr>
        <p:spPr>
          <a:xfrm>
            <a:off x="3942090" y="4160520"/>
            <a:ext cx="3222084" cy="0"/>
          </a:xfrm>
          <a:prstGeom prst="line">
            <a:avLst/>
          </a:prstGeom>
          <a:noFill/>
          <a:ln w="19050">
            <a:solidFill>
              <a:srgbClr val="A7B4C8"/>
            </a:solidFill>
            <a:prstDash val="solid"/>
          </a:ln>
        </p:spPr>
      </p:sp>
      <p:sp>
        <p:nvSpPr>
          <p:cNvPr id="88" name="Shape 86"/>
          <p:cNvSpPr/>
          <p:nvPr/>
        </p:nvSpPr>
        <p:spPr>
          <a:xfrm>
            <a:off x="3942090" y="4050792"/>
            <a:ext cx="0" cy="109728"/>
          </a:xfrm>
          <a:prstGeom prst="line">
            <a:avLst/>
          </a:prstGeom>
          <a:noFill/>
          <a:ln w="19050">
            <a:solidFill>
              <a:srgbClr val="A7B4C8"/>
            </a:solidFill>
            <a:prstDash val="solid"/>
          </a:ln>
        </p:spPr>
      </p:sp>
      <p:sp>
        <p:nvSpPr>
          <p:cNvPr id="89" name="Shape 87"/>
          <p:cNvSpPr/>
          <p:nvPr/>
        </p:nvSpPr>
        <p:spPr>
          <a:xfrm>
            <a:off x="7164175" y="4050792"/>
            <a:ext cx="0" cy="109728"/>
          </a:xfrm>
          <a:prstGeom prst="line">
            <a:avLst/>
          </a:prstGeom>
          <a:noFill/>
          <a:ln w="19050">
            <a:solidFill>
              <a:srgbClr val="A7B4C8"/>
            </a:solidFill>
            <a:prstDash val="solid"/>
          </a:ln>
        </p:spPr>
      </p:sp>
      <p:sp>
        <p:nvSpPr>
          <p:cNvPr id="90" name="Text 88"/>
          <p:cNvSpPr txBox="1"/>
          <p:nvPr/>
        </p:nvSpPr>
        <p:spPr>
          <a:xfrm>
            <a:off x="3942090" y="4215384"/>
            <a:ext cx="3222084" cy="292608"/>
          </a:xfrm>
          <a:prstGeom prst="rect">
            <a:avLst/>
          </a:prstGeom>
          <a:noFill/>
          <a:ln/>
        </p:spPr>
        <p:txBody>
          <a:bodyPr wrap="square" lIns="0" tIns="0" rIns="0" bIns="0" rtlCol="0" anchor="t"/>
          <a:lstStyle/>
          <a:p>
            <a:pPr algn="ctr" indent="0" marL="0">
              <a:buNone/>
            </a:pPr>
            <a:r>
              <a:rPr lang="en-US" sz="1400" b="1" dirty="0">
                <a:solidFill>
                  <a:srgbClr val="A7B4C8"/>
                </a:solidFill>
                <a:latin typeface="Arial" pitchFamily="34" charset="0"/>
                <a:ea typeface="Arial" pitchFamily="34" charset="-122"/>
                <a:cs typeface="Arial" pitchFamily="34" charset="-120"/>
              </a:rPr>
              <a:t>Development · 15–29 (1C–2B)</a:t>
            </a:r>
            <a:endParaRPr lang="en-US" sz="1400" dirty="0"/>
          </a:p>
        </p:txBody>
      </p:sp>
      <p:sp>
        <p:nvSpPr>
          <p:cNvPr id="91" name="Shape 89"/>
          <p:cNvSpPr/>
          <p:nvPr/>
        </p:nvSpPr>
        <p:spPr>
          <a:xfrm>
            <a:off x="7198381" y="4160520"/>
            <a:ext cx="3222084" cy="0"/>
          </a:xfrm>
          <a:prstGeom prst="line">
            <a:avLst/>
          </a:prstGeom>
          <a:noFill/>
          <a:ln w="19050">
            <a:solidFill>
              <a:srgbClr val="A7B4C8"/>
            </a:solidFill>
            <a:prstDash val="solid"/>
          </a:ln>
        </p:spPr>
      </p:sp>
      <p:sp>
        <p:nvSpPr>
          <p:cNvPr id="92" name="Shape 90"/>
          <p:cNvSpPr/>
          <p:nvPr/>
        </p:nvSpPr>
        <p:spPr>
          <a:xfrm>
            <a:off x="7198381" y="4050792"/>
            <a:ext cx="0" cy="109728"/>
          </a:xfrm>
          <a:prstGeom prst="line">
            <a:avLst/>
          </a:prstGeom>
          <a:noFill/>
          <a:ln w="19050">
            <a:solidFill>
              <a:srgbClr val="A7B4C8"/>
            </a:solidFill>
            <a:prstDash val="solid"/>
          </a:ln>
        </p:spPr>
      </p:sp>
      <p:sp>
        <p:nvSpPr>
          <p:cNvPr id="93" name="Shape 91"/>
          <p:cNvSpPr/>
          <p:nvPr/>
        </p:nvSpPr>
        <p:spPr>
          <a:xfrm>
            <a:off x="10420465" y="4050792"/>
            <a:ext cx="0" cy="109728"/>
          </a:xfrm>
          <a:prstGeom prst="line">
            <a:avLst/>
          </a:prstGeom>
          <a:noFill/>
          <a:ln w="19050">
            <a:solidFill>
              <a:srgbClr val="A7B4C8"/>
            </a:solidFill>
            <a:prstDash val="solid"/>
          </a:ln>
        </p:spPr>
      </p:sp>
      <p:sp>
        <p:nvSpPr>
          <p:cNvPr id="94" name="Text 92"/>
          <p:cNvSpPr txBox="1"/>
          <p:nvPr/>
        </p:nvSpPr>
        <p:spPr>
          <a:xfrm>
            <a:off x="7198381" y="4215384"/>
            <a:ext cx="3222084" cy="292608"/>
          </a:xfrm>
          <a:prstGeom prst="rect">
            <a:avLst/>
          </a:prstGeom>
          <a:noFill/>
          <a:ln/>
        </p:spPr>
        <p:txBody>
          <a:bodyPr wrap="square" lIns="0" tIns="0" rIns="0" bIns="0" rtlCol="0" anchor="t"/>
          <a:lstStyle/>
          <a:p>
            <a:pPr algn="ctr" indent="0" marL="0">
              <a:buNone/>
            </a:pPr>
            <a:r>
              <a:rPr lang="en-US" sz="1400" b="1" dirty="0">
                <a:solidFill>
                  <a:srgbClr val="A7B4C8"/>
                </a:solidFill>
                <a:latin typeface="Arial" pitchFamily="34" charset="0"/>
                <a:ea typeface="Arial" pitchFamily="34" charset="-122"/>
                <a:cs typeface="Arial" pitchFamily="34" charset="-120"/>
              </a:rPr>
              <a:t>Held-out · 30–44 (3A)</a:t>
            </a:r>
            <a:endParaRPr lang="en-US" sz="1400" dirty="0"/>
          </a:p>
        </p:txBody>
      </p:sp>
      <p:sp>
        <p:nvSpPr>
          <p:cNvPr id="95" name="Text 93"/>
          <p:cNvSpPr txBox="1"/>
          <p:nvPr/>
        </p:nvSpPr>
        <p:spPr>
          <a:xfrm>
            <a:off x="685800" y="4754880"/>
            <a:ext cx="7315200" cy="256032"/>
          </a:xfrm>
          <a:prstGeom prst="rect">
            <a:avLst/>
          </a:prstGeom>
          <a:noFill/>
          <a:ln/>
        </p:spPr>
        <p:txBody>
          <a:bodyPr wrap="square" lIns="0" tIns="0" rIns="0" bIns="0" rtlCol="0" anchor="t"/>
          <a:lstStyle/>
          <a:p>
            <a:pPr algn="l" indent="0" marL="0">
              <a:buNone/>
            </a:pPr>
            <a:r>
              <a:rPr lang="en-US" sz="1300" dirty="0">
                <a:solidFill>
                  <a:srgbClr val="6B7A93"/>
                </a:solidFill>
                <a:latin typeface="Arial" pitchFamily="34" charset="0"/>
                <a:ea typeface="Arial" pitchFamily="34" charset="-122"/>
                <a:cs typeface="Arial" pitchFamily="34" charset="-120"/>
              </a:rPr>
              <a:t>LIBERO init state index · KS3 · episode k → state (seed + k) mod 50</a:t>
            </a:r>
            <a:endParaRPr lang="en-US" sz="1300" dirty="0"/>
          </a:p>
        </p:txBody>
      </p:sp>
      <p:sp>
        <p:nvSpPr>
          <p:cNvPr id="96" name="Shape 94"/>
          <p:cNvSpPr/>
          <p:nvPr/>
        </p:nvSpPr>
        <p:spPr>
          <a:xfrm>
            <a:off x="548640" y="5212080"/>
            <a:ext cx="11094415" cy="566928"/>
          </a:xfrm>
          <a:prstGeom prst="roundRect">
            <a:avLst>
              <a:gd name="adj" fmla="val 12903"/>
            </a:avLst>
          </a:prstGeom>
          <a:solidFill>
            <a:srgbClr val="3D3314"/>
          </a:solidFill>
          <a:ln w="12700">
            <a:solidFill>
              <a:srgbClr val="F2C94C"/>
            </a:solidFill>
            <a:prstDash val="solid"/>
          </a:ln>
        </p:spPr>
      </p:sp>
      <p:sp>
        <p:nvSpPr>
          <p:cNvPr id="97" name="Text 95"/>
          <p:cNvSpPr txBox="1"/>
          <p:nvPr/>
        </p:nvSpPr>
        <p:spPr>
          <a:xfrm>
            <a:off x="777240" y="5212080"/>
            <a:ext cx="10637215" cy="566928"/>
          </a:xfrm>
          <a:prstGeom prst="rect">
            <a:avLst/>
          </a:prstGeom>
          <a:noFill/>
          <a:ln/>
        </p:spPr>
        <p:txBody>
          <a:bodyPr wrap="square" lIns="0" tIns="0" rIns="0" bIns="0" rtlCol="0" anchor="ctr"/>
          <a:lstStyle/>
          <a:p>
            <a:pPr algn="l" indent="0" marL="0">
              <a:buNone/>
            </a:pPr>
            <a:r>
              <a:rPr lang="en-US" sz="1700" dirty="0">
                <a:solidFill>
                  <a:srgbClr val="F2C94C"/>
                </a:solidFill>
                <a:latin typeface="Arial" pitchFamily="34" charset="0"/>
                <a:ea typeface="Arial" pitchFamily="34" charset="-122"/>
                <a:cs typeface="Arial" pitchFamily="34" charset="-120"/>
              </a:rPr>
              <a:t>Our interpretation.</a:t>
            </a:r>
            <a:pPr algn="l" indent="0" marL="0">
              <a:buNone/>
            </a:pPr>
            <a:r>
              <a:rPr lang="en-US" sz="1700" dirty="0">
                <a:solidFill>
                  <a:srgbClr val="F1F5F9"/>
                </a:solidFill>
                <a:latin typeface="Arial" pitchFamily="34" charset="0"/>
                <a:ea typeface="Arial" pitchFamily="34" charset="-122"/>
                <a:cs typeface="Arial" pitchFamily="34" charset="-120"/>
              </a:rPr>
              <a:t> The paper lists no init-state IDs or seeds for either split.</a:t>
            </a:r>
            <a:endParaRPr lang="en-US" sz="1700" dirty="0"/>
          </a:p>
        </p:txBody>
      </p:sp>
      <p:sp>
        <p:nvSpPr>
          <p:cNvPr id="98" name="Text 96"/>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Checkpoint openpi-libero-2000 @ aaeeabc · KS3 = libero_10 task 2 · COAST main @ 2afa10e · max 520 steps, replan 5 · LIBERO d63b117, robosuite 1.4.0, MuJoCo 3.2.3 · 2× RTX 4090</a:t>
            </a:r>
            <a:endParaRPr lang="en-US" sz="1000" dirty="0"/>
          </a:p>
        </p:txBody>
      </p:sp>
      <p:sp>
        <p:nvSpPr>
          <p:cNvPr id="99" name="Text 97"/>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100" name="Text 98"/>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5 / 21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RESEARCH PATH</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Phase timeline: Phase 0 → 7A</a:t>
            </a:r>
            <a:endParaRPr lang="en-US" sz="3000" dirty="0"/>
          </a:p>
        </p:txBody>
      </p:sp>
      <p:sp>
        <p:nvSpPr>
          <p:cNvPr id="4" name="Shape 2"/>
          <p:cNvSpPr/>
          <p:nvPr/>
        </p:nvSpPr>
        <p:spPr>
          <a:xfrm>
            <a:off x="1344168" y="3703320"/>
            <a:ext cx="9503359" cy="0"/>
          </a:xfrm>
          <a:prstGeom prst="line">
            <a:avLst/>
          </a:prstGeom>
          <a:noFill/>
          <a:ln w="31750">
            <a:solidFill>
              <a:srgbClr val="26354F"/>
            </a:solidFill>
            <a:prstDash val="solid"/>
          </a:ln>
        </p:spPr>
      </p:sp>
      <p:sp>
        <p:nvSpPr>
          <p:cNvPr id="5" name="Shape 3"/>
          <p:cNvSpPr/>
          <p:nvPr/>
        </p:nvSpPr>
        <p:spPr>
          <a:xfrm>
            <a:off x="1618488" y="3246120"/>
            <a:ext cx="0" cy="457200"/>
          </a:xfrm>
          <a:prstGeom prst="line">
            <a:avLst/>
          </a:prstGeom>
          <a:noFill/>
          <a:ln w="15875">
            <a:solidFill>
              <a:srgbClr val="26354F"/>
            </a:solidFill>
            <a:prstDash val="solid"/>
          </a:ln>
        </p:spPr>
      </p:sp>
      <p:sp>
        <p:nvSpPr>
          <p:cNvPr id="6" name="Shape 4"/>
          <p:cNvSpPr/>
          <p:nvPr/>
        </p:nvSpPr>
        <p:spPr>
          <a:xfrm>
            <a:off x="1508760" y="3593592"/>
            <a:ext cx="219456" cy="219456"/>
          </a:xfrm>
          <a:prstGeom prst="ellipse">
            <a:avLst/>
          </a:prstGeom>
          <a:solidFill>
            <a:srgbClr val="38BDF8"/>
          </a:solidFill>
          <a:ln w="9525">
            <a:solidFill>
              <a:srgbClr val="38BDF8"/>
            </a:solidFill>
            <a:prstDash val="solid"/>
          </a:ln>
        </p:spPr>
      </p:sp>
      <p:sp>
        <p:nvSpPr>
          <p:cNvPr id="7" name="Shape 5"/>
          <p:cNvSpPr/>
          <p:nvPr/>
        </p:nvSpPr>
        <p:spPr>
          <a:xfrm>
            <a:off x="566928" y="1371600"/>
            <a:ext cx="2103120" cy="1874520"/>
          </a:xfrm>
          <a:prstGeom prst="roundRect">
            <a:avLst>
              <a:gd name="adj" fmla="val 3902"/>
            </a:avLst>
          </a:prstGeom>
          <a:solidFill>
            <a:srgbClr val="131E33"/>
          </a:solidFill>
          <a:ln/>
        </p:spPr>
      </p:sp>
      <p:sp>
        <p:nvSpPr>
          <p:cNvPr id="8" name="Text 6"/>
          <p:cNvSpPr txBox="1"/>
          <p:nvPr/>
        </p:nvSpPr>
        <p:spPr>
          <a:xfrm>
            <a:off x="704088" y="1481328"/>
            <a:ext cx="1828800" cy="640080"/>
          </a:xfrm>
          <a:prstGeom prst="rect">
            <a:avLst/>
          </a:prstGeom>
          <a:noFill/>
          <a:ln/>
        </p:spPr>
        <p:txBody>
          <a:bodyPr wrap="square" lIns="0" tIns="0" rIns="0" bIns="0" rtlCol="0" anchor="t"/>
          <a:lstStyle/>
          <a:p>
            <a:pPr algn="l" indent="0" marL="0">
              <a:buNone/>
            </a:pPr>
            <a:r>
              <a:rPr lang="en-US" sz="1500" b="1" dirty="0">
                <a:solidFill>
                  <a:srgbClr val="38BDF8"/>
                </a:solidFill>
                <a:latin typeface="Arial" pitchFamily="34" charset="0"/>
                <a:ea typeface="Arial" pitchFamily="34" charset="-122"/>
                <a:cs typeface="Arial" pitchFamily="34" charset="-120"/>
              </a:rPr>
              <a:t>Phase 0</a:t>
            </a:r>
            <a:endParaRPr lang="en-US" sz="1500" dirty="0"/>
          </a:p>
          <a:p>
            <a:pPr algn="l" indent="0" marL="0">
              <a:buNone/>
            </a:pPr>
            <a:r>
              <a:rPr lang="en-US" sz="1500" b="1" dirty="0">
                <a:solidFill>
                  <a:srgbClr val="F1F5F9"/>
                </a:solidFill>
                <a:latin typeface="Arial" pitchFamily="34" charset="0"/>
                <a:ea typeface="Arial" pitchFamily="34" charset="-122"/>
                <a:cs typeface="Arial" pitchFamily="34" charset="-120"/>
              </a:rPr>
              <a:t>Environment</a:t>
            </a:r>
            <a:endParaRPr lang="en-US" sz="1500" dirty="0"/>
          </a:p>
        </p:txBody>
      </p:sp>
      <p:sp>
        <p:nvSpPr>
          <p:cNvPr id="9" name="Text 7"/>
          <p:cNvSpPr txBox="1"/>
          <p:nvPr/>
        </p:nvSpPr>
        <p:spPr>
          <a:xfrm>
            <a:off x="704088" y="2148840"/>
            <a:ext cx="1828800" cy="1005840"/>
          </a:xfrm>
          <a:prstGeom prst="rect">
            <a:avLst/>
          </a:prstGeom>
          <a:noFill/>
          <a:ln/>
        </p:spPr>
        <p:txBody>
          <a:bodyPr wrap="square" lIns="0" tIns="0" rIns="0" bIns="0" rtlCol="0" anchor="t"/>
          <a:lstStyle/>
          <a:p>
            <a:pPr algn="l" indent="0" marL="0">
              <a:buNone/>
            </a:pPr>
            <a:r>
              <a:rPr lang="en-US" sz="1400" dirty="0">
                <a:solidFill>
                  <a:srgbClr val="A7B4C8"/>
                </a:solidFill>
                <a:latin typeface="Arial" pitchFamily="34" charset="0"/>
                <a:ea typeface="Arial" pitchFamily="34" charset="-122"/>
                <a:cs typeface="Arial" pitchFamily="34" charset="-120"/>
              </a:rPr>
              <a:t>Stack runs; 3/3 smoke test (engineering check only)</a:t>
            </a:r>
            <a:endParaRPr lang="en-US" sz="1400" dirty="0"/>
          </a:p>
        </p:txBody>
      </p:sp>
      <p:sp>
        <p:nvSpPr>
          <p:cNvPr id="10" name="Shape 8"/>
          <p:cNvSpPr/>
          <p:nvPr/>
        </p:nvSpPr>
        <p:spPr>
          <a:xfrm>
            <a:off x="2737828" y="3703320"/>
            <a:ext cx="0" cy="411480"/>
          </a:xfrm>
          <a:prstGeom prst="line">
            <a:avLst/>
          </a:prstGeom>
          <a:noFill/>
          <a:ln w="15875">
            <a:solidFill>
              <a:srgbClr val="26354F"/>
            </a:solidFill>
            <a:prstDash val="solid"/>
          </a:ln>
        </p:spPr>
      </p:sp>
      <p:sp>
        <p:nvSpPr>
          <p:cNvPr id="11" name="Shape 9"/>
          <p:cNvSpPr/>
          <p:nvPr/>
        </p:nvSpPr>
        <p:spPr>
          <a:xfrm>
            <a:off x="2628100" y="3593592"/>
            <a:ext cx="219456" cy="219456"/>
          </a:xfrm>
          <a:prstGeom prst="ellipse">
            <a:avLst/>
          </a:prstGeom>
          <a:solidFill>
            <a:srgbClr val="38BDF8"/>
          </a:solidFill>
          <a:ln w="9525">
            <a:solidFill>
              <a:srgbClr val="38BDF8"/>
            </a:solidFill>
            <a:prstDash val="solid"/>
          </a:ln>
        </p:spPr>
      </p:sp>
      <p:sp>
        <p:nvSpPr>
          <p:cNvPr id="12" name="Shape 10"/>
          <p:cNvSpPr/>
          <p:nvPr/>
        </p:nvSpPr>
        <p:spPr>
          <a:xfrm>
            <a:off x="1686268" y="4114800"/>
            <a:ext cx="2103120" cy="1874520"/>
          </a:xfrm>
          <a:prstGeom prst="roundRect">
            <a:avLst>
              <a:gd name="adj" fmla="val 3902"/>
            </a:avLst>
          </a:prstGeom>
          <a:solidFill>
            <a:srgbClr val="131E33"/>
          </a:solidFill>
          <a:ln/>
        </p:spPr>
      </p:sp>
      <p:sp>
        <p:nvSpPr>
          <p:cNvPr id="13" name="Text 11"/>
          <p:cNvSpPr txBox="1"/>
          <p:nvPr/>
        </p:nvSpPr>
        <p:spPr>
          <a:xfrm>
            <a:off x="1823428" y="4224528"/>
            <a:ext cx="1828800" cy="640080"/>
          </a:xfrm>
          <a:prstGeom prst="rect">
            <a:avLst/>
          </a:prstGeom>
          <a:noFill/>
          <a:ln/>
        </p:spPr>
        <p:txBody>
          <a:bodyPr wrap="square" lIns="0" tIns="0" rIns="0" bIns="0" rtlCol="0" anchor="t"/>
          <a:lstStyle/>
          <a:p>
            <a:pPr algn="l" indent="0" marL="0">
              <a:buNone/>
            </a:pPr>
            <a:r>
              <a:rPr lang="en-US" sz="1500" b="1" dirty="0">
                <a:solidFill>
                  <a:srgbClr val="38BDF8"/>
                </a:solidFill>
                <a:latin typeface="Arial" pitchFamily="34" charset="0"/>
                <a:ea typeface="Arial" pitchFamily="34" charset="-122"/>
                <a:cs typeface="Arial" pitchFamily="34" charset="-120"/>
              </a:rPr>
              <a:t>Phase 1A–1D</a:t>
            </a:r>
            <a:endParaRPr lang="en-US" sz="1500" dirty="0"/>
          </a:p>
          <a:p>
            <a:pPr algn="l" indent="0" marL="0">
              <a:buNone/>
            </a:pPr>
            <a:r>
              <a:rPr lang="en-US" sz="1500" b="1" dirty="0">
                <a:solidFill>
                  <a:srgbClr val="F1F5F9"/>
                </a:solidFill>
                <a:latin typeface="Arial" pitchFamily="34" charset="0"/>
                <a:ea typeface="Arial" pitchFamily="34" charset="-122"/>
                <a:cs typeface="Arial" pitchFamily="34" charset="-120"/>
              </a:rPr>
              <a:t>Initial reproduction</a:t>
            </a:r>
            <a:endParaRPr lang="en-US" sz="1500" dirty="0"/>
          </a:p>
        </p:txBody>
      </p:sp>
      <p:sp>
        <p:nvSpPr>
          <p:cNvPr id="14" name="Text 12"/>
          <p:cNvSpPr txBox="1"/>
          <p:nvPr/>
        </p:nvSpPr>
        <p:spPr>
          <a:xfrm>
            <a:off x="1823428" y="4892040"/>
            <a:ext cx="1828800" cy="1005840"/>
          </a:xfrm>
          <a:prstGeom prst="rect">
            <a:avLst/>
          </a:prstGeom>
          <a:noFill/>
          <a:ln/>
        </p:spPr>
        <p:txBody>
          <a:bodyPr wrap="square" lIns="0" tIns="0" rIns="0" bIns="0" rtlCol="0" anchor="t"/>
          <a:lstStyle/>
          <a:p>
            <a:pPr algn="l" indent="0" marL="0">
              <a:buNone/>
            </a:pPr>
            <a:r>
              <a:rPr lang="en-US" sz="1400" dirty="0">
                <a:solidFill>
                  <a:srgbClr val="A7B4C8"/>
                </a:solidFill>
                <a:latin typeface="Arial" pitchFamily="34" charset="0"/>
                <a:ea typeface="Arial" pitchFamily="34" charset="-122"/>
                <a:cs typeface="Arial" pitchFamily="34" charset="-120"/>
              </a:rPr>
              <a:t>Fit data 8 S / 7 F = paper; V0 ≈ V3; noise dominates</a:t>
            </a:r>
            <a:endParaRPr lang="en-US" sz="1400" dirty="0"/>
          </a:p>
        </p:txBody>
      </p:sp>
      <p:sp>
        <p:nvSpPr>
          <p:cNvPr id="15" name="Shape 13"/>
          <p:cNvSpPr/>
          <p:nvPr/>
        </p:nvSpPr>
        <p:spPr>
          <a:xfrm>
            <a:off x="3857168" y="3246120"/>
            <a:ext cx="0" cy="457200"/>
          </a:xfrm>
          <a:prstGeom prst="line">
            <a:avLst/>
          </a:prstGeom>
          <a:noFill/>
          <a:ln w="15875">
            <a:solidFill>
              <a:srgbClr val="26354F"/>
            </a:solidFill>
            <a:prstDash val="solid"/>
          </a:ln>
        </p:spPr>
      </p:sp>
      <p:sp>
        <p:nvSpPr>
          <p:cNvPr id="16" name="Shape 14"/>
          <p:cNvSpPr/>
          <p:nvPr/>
        </p:nvSpPr>
        <p:spPr>
          <a:xfrm>
            <a:off x="3747440" y="3593592"/>
            <a:ext cx="219456" cy="219456"/>
          </a:xfrm>
          <a:prstGeom prst="ellipse">
            <a:avLst/>
          </a:prstGeom>
          <a:solidFill>
            <a:srgbClr val="38BDF8"/>
          </a:solidFill>
          <a:ln w="9525">
            <a:solidFill>
              <a:srgbClr val="38BDF8"/>
            </a:solidFill>
            <a:prstDash val="solid"/>
          </a:ln>
        </p:spPr>
      </p:sp>
      <p:sp>
        <p:nvSpPr>
          <p:cNvPr id="17" name="Shape 15"/>
          <p:cNvSpPr/>
          <p:nvPr/>
        </p:nvSpPr>
        <p:spPr>
          <a:xfrm>
            <a:off x="2805608" y="1371600"/>
            <a:ext cx="2103120" cy="1874520"/>
          </a:xfrm>
          <a:prstGeom prst="roundRect">
            <a:avLst>
              <a:gd name="adj" fmla="val 3902"/>
            </a:avLst>
          </a:prstGeom>
          <a:solidFill>
            <a:srgbClr val="131E33"/>
          </a:solidFill>
          <a:ln/>
        </p:spPr>
      </p:sp>
      <p:sp>
        <p:nvSpPr>
          <p:cNvPr id="18" name="Text 16"/>
          <p:cNvSpPr txBox="1"/>
          <p:nvPr/>
        </p:nvSpPr>
        <p:spPr>
          <a:xfrm>
            <a:off x="2942768" y="1481328"/>
            <a:ext cx="1828800" cy="640080"/>
          </a:xfrm>
          <a:prstGeom prst="rect">
            <a:avLst/>
          </a:prstGeom>
          <a:noFill/>
          <a:ln/>
        </p:spPr>
        <p:txBody>
          <a:bodyPr wrap="square" lIns="0" tIns="0" rIns="0" bIns="0" rtlCol="0" anchor="t"/>
          <a:lstStyle/>
          <a:p>
            <a:pPr algn="l" indent="0" marL="0">
              <a:buNone/>
            </a:pPr>
            <a:r>
              <a:rPr lang="en-US" sz="1500" b="1" dirty="0">
                <a:solidFill>
                  <a:srgbClr val="38BDF8"/>
                </a:solidFill>
                <a:latin typeface="Arial" pitchFamily="34" charset="0"/>
                <a:ea typeface="Arial" pitchFamily="34" charset="-122"/>
                <a:cs typeface="Arial" pitchFamily="34" charset="-120"/>
              </a:rPr>
              <a:t>Phase 1E–2B</a:t>
            </a:r>
            <a:endParaRPr lang="en-US" sz="1500" dirty="0"/>
          </a:p>
          <a:p>
            <a:pPr algn="l" indent="0" marL="0">
              <a:buNone/>
            </a:pPr>
            <a:r>
              <a:rPr lang="en-US" sz="1500" b="1" dirty="0">
                <a:solidFill>
                  <a:srgbClr val="F1F5F9"/>
                </a:solidFill>
                <a:latin typeface="Arial" pitchFamily="34" charset="0"/>
                <a:ea typeface="Arial" pitchFamily="34" charset="-122"/>
                <a:cs typeface="Arial" pitchFamily="34" charset="-120"/>
              </a:rPr>
              <a:t>Mechanism</a:t>
            </a:r>
            <a:endParaRPr lang="en-US" sz="1500" dirty="0"/>
          </a:p>
        </p:txBody>
      </p:sp>
      <p:sp>
        <p:nvSpPr>
          <p:cNvPr id="19" name="Text 17"/>
          <p:cNvSpPr txBox="1"/>
          <p:nvPr/>
        </p:nvSpPr>
        <p:spPr>
          <a:xfrm>
            <a:off x="2942768" y="2148840"/>
            <a:ext cx="1828800" cy="1005840"/>
          </a:xfrm>
          <a:prstGeom prst="rect">
            <a:avLst/>
          </a:prstGeom>
          <a:noFill/>
          <a:ln/>
        </p:spPr>
        <p:txBody>
          <a:bodyPr wrap="square" lIns="0" tIns="0" rIns="0" bIns="0" rtlCol="0" anchor="t"/>
          <a:lstStyle/>
          <a:p>
            <a:pPr algn="l" indent="0" marL="0">
              <a:buNone/>
            </a:pPr>
            <a:r>
              <a:rPr lang="en-US" sz="1400" dirty="0">
                <a:solidFill>
                  <a:srgbClr val="A7B4C8"/>
                </a:solidFill>
                <a:latin typeface="Arial" pitchFamily="34" charset="0"/>
                <a:ea typeface="Arial" pitchFamily="34" charset="-122"/>
                <a:cs typeface="Arial" pitchFamily="34" charset="-120"/>
              </a:rPr>
              <a:t>Steering ≈ 0.9·h; shrinkage &amp; random match COAST</a:t>
            </a:r>
            <a:endParaRPr lang="en-US" sz="1400" dirty="0"/>
          </a:p>
        </p:txBody>
      </p:sp>
      <p:sp>
        <p:nvSpPr>
          <p:cNvPr id="20" name="Shape 18"/>
          <p:cNvSpPr/>
          <p:nvPr/>
        </p:nvSpPr>
        <p:spPr>
          <a:xfrm>
            <a:off x="4976508" y="3703320"/>
            <a:ext cx="0" cy="411480"/>
          </a:xfrm>
          <a:prstGeom prst="line">
            <a:avLst/>
          </a:prstGeom>
          <a:noFill/>
          <a:ln w="15875">
            <a:solidFill>
              <a:srgbClr val="26354F"/>
            </a:solidFill>
            <a:prstDash val="solid"/>
          </a:ln>
        </p:spPr>
      </p:sp>
      <p:sp>
        <p:nvSpPr>
          <p:cNvPr id="21" name="Shape 19"/>
          <p:cNvSpPr/>
          <p:nvPr/>
        </p:nvSpPr>
        <p:spPr>
          <a:xfrm>
            <a:off x="4866780" y="3593592"/>
            <a:ext cx="219456" cy="219456"/>
          </a:xfrm>
          <a:prstGeom prst="ellipse">
            <a:avLst/>
          </a:prstGeom>
          <a:solidFill>
            <a:srgbClr val="38BDF8"/>
          </a:solidFill>
          <a:ln w="9525">
            <a:solidFill>
              <a:srgbClr val="38BDF8"/>
            </a:solidFill>
            <a:prstDash val="solid"/>
          </a:ln>
        </p:spPr>
      </p:sp>
      <p:sp>
        <p:nvSpPr>
          <p:cNvPr id="22" name="Shape 20"/>
          <p:cNvSpPr/>
          <p:nvPr/>
        </p:nvSpPr>
        <p:spPr>
          <a:xfrm>
            <a:off x="3924948" y="4114800"/>
            <a:ext cx="2103120" cy="1874520"/>
          </a:xfrm>
          <a:prstGeom prst="roundRect">
            <a:avLst>
              <a:gd name="adj" fmla="val 3902"/>
            </a:avLst>
          </a:prstGeom>
          <a:solidFill>
            <a:srgbClr val="131E33"/>
          </a:solidFill>
          <a:ln/>
        </p:spPr>
      </p:sp>
      <p:sp>
        <p:nvSpPr>
          <p:cNvPr id="23" name="Text 21"/>
          <p:cNvSpPr txBox="1"/>
          <p:nvPr/>
        </p:nvSpPr>
        <p:spPr>
          <a:xfrm>
            <a:off x="4062108" y="4224528"/>
            <a:ext cx="1828800" cy="640080"/>
          </a:xfrm>
          <a:prstGeom prst="rect">
            <a:avLst/>
          </a:prstGeom>
          <a:noFill/>
          <a:ln/>
        </p:spPr>
        <p:txBody>
          <a:bodyPr wrap="square" lIns="0" tIns="0" rIns="0" bIns="0" rtlCol="0" anchor="t"/>
          <a:lstStyle/>
          <a:p>
            <a:pPr algn="l" indent="0" marL="0">
              <a:buNone/>
            </a:pPr>
            <a:r>
              <a:rPr lang="en-US" sz="1500" b="1" dirty="0">
                <a:solidFill>
                  <a:srgbClr val="38BDF8"/>
                </a:solidFill>
                <a:latin typeface="Arial" pitchFamily="34" charset="0"/>
                <a:ea typeface="Arial" pitchFamily="34" charset="-122"/>
                <a:cs typeface="Arial" pitchFamily="34" charset="-120"/>
              </a:rPr>
              <a:t>Phase 3A–4A</a:t>
            </a:r>
            <a:endParaRPr lang="en-US" sz="1500" dirty="0"/>
          </a:p>
          <a:p>
            <a:pPr algn="l" indent="0" marL="0">
              <a:buNone/>
            </a:pPr>
            <a:r>
              <a:rPr lang="en-US" sz="1500" b="1" dirty="0">
                <a:solidFill>
                  <a:srgbClr val="F1F5F9"/>
                </a:solidFill>
                <a:latin typeface="Arial" pitchFamily="34" charset="0"/>
                <a:ea typeface="Arial" pitchFamily="34" charset="-122"/>
                <a:cs typeface="Arial" pitchFamily="34" charset="-120"/>
              </a:rPr>
              <a:t>Held-out validation</a:t>
            </a:r>
            <a:endParaRPr lang="en-US" sz="1500" dirty="0"/>
          </a:p>
        </p:txBody>
      </p:sp>
      <p:sp>
        <p:nvSpPr>
          <p:cNvPr id="24" name="Text 22"/>
          <p:cNvSpPr txBox="1"/>
          <p:nvPr/>
        </p:nvSpPr>
        <p:spPr>
          <a:xfrm>
            <a:off x="4062108" y="4892040"/>
            <a:ext cx="1828800" cy="1005840"/>
          </a:xfrm>
          <a:prstGeom prst="rect">
            <a:avLst/>
          </a:prstGeom>
          <a:noFill/>
          <a:ln/>
        </p:spPr>
        <p:txBody>
          <a:bodyPr wrap="square" lIns="0" tIns="0" rIns="0" bIns="0" rtlCol="0" anchor="t"/>
          <a:lstStyle/>
          <a:p>
            <a:pPr algn="l" indent="0" marL="0">
              <a:buNone/>
            </a:pPr>
            <a:r>
              <a:rPr lang="en-US" sz="1400" dirty="0">
                <a:solidFill>
                  <a:srgbClr val="A7B4C8"/>
                </a:solidFill>
                <a:latin typeface="Arial" pitchFamily="34" charset="0"/>
                <a:ea typeface="Arial" pitchFamily="34" charset="-122"/>
                <a:cs typeface="Arial" pitchFamily="34" charset="-120"/>
              </a:rPr>
              <a:t>No gain on unseen states; larger β does not help</a:t>
            </a:r>
            <a:endParaRPr lang="en-US" sz="1400" dirty="0"/>
          </a:p>
        </p:txBody>
      </p:sp>
      <p:sp>
        <p:nvSpPr>
          <p:cNvPr id="25" name="Shape 23"/>
          <p:cNvSpPr/>
          <p:nvPr/>
        </p:nvSpPr>
        <p:spPr>
          <a:xfrm>
            <a:off x="6095848" y="3246120"/>
            <a:ext cx="0" cy="457200"/>
          </a:xfrm>
          <a:prstGeom prst="line">
            <a:avLst/>
          </a:prstGeom>
          <a:noFill/>
          <a:ln w="15875">
            <a:solidFill>
              <a:srgbClr val="26354F"/>
            </a:solidFill>
            <a:prstDash val="solid"/>
          </a:ln>
        </p:spPr>
      </p:sp>
      <p:sp>
        <p:nvSpPr>
          <p:cNvPr id="26" name="Shape 24"/>
          <p:cNvSpPr/>
          <p:nvPr/>
        </p:nvSpPr>
        <p:spPr>
          <a:xfrm>
            <a:off x="5986120" y="3593592"/>
            <a:ext cx="219456" cy="219456"/>
          </a:xfrm>
          <a:prstGeom prst="ellipse">
            <a:avLst/>
          </a:prstGeom>
          <a:solidFill>
            <a:srgbClr val="38BDF8"/>
          </a:solidFill>
          <a:ln w="9525">
            <a:solidFill>
              <a:srgbClr val="38BDF8"/>
            </a:solidFill>
            <a:prstDash val="solid"/>
          </a:ln>
        </p:spPr>
      </p:sp>
      <p:sp>
        <p:nvSpPr>
          <p:cNvPr id="27" name="Shape 25"/>
          <p:cNvSpPr/>
          <p:nvPr/>
        </p:nvSpPr>
        <p:spPr>
          <a:xfrm>
            <a:off x="5044288" y="1371600"/>
            <a:ext cx="2103120" cy="1874520"/>
          </a:xfrm>
          <a:prstGeom prst="roundRect">
            <a:avLst>
              <a:gd name="adj" fmla="val 3902"/>
            </a:avLst>
          </a:prstGeom>
          <a:solidFill>
            <a:srgbClr val="131E33"/>
          </a:solidFill>
          <a:ln/>
        </p:spPr>
      </p:sp>
      <p:sp>
        <p:nvSpPr>
          <p:cNvPr id="28" name="Text 26"/>
          <p:cNvSpPr txBox="1"/>
          <p:nvPr/>
        </p:nvSpPr>
        <p:spPr>
          <a:xfrm>
            <a:off x="5181448" y="1481328"/>
            <a:ext cx="1828800" cy="640080"/>
          </a:xfrm>
          <a:prstGeom prst="rect">
            <a:avLst/>
          </a:prstGeom>
          <a:noFill/>
          <a:ln/>
        </p:spPr>
        <p:txBody>
          <a:bodyPr wrap="square" lIns="0" tIns="0" rIns="0" bIns="0" rtlCol="0" anchor="t"/>
          <a:lstStyle/>
          <a:p>
            <a:pPr algn="l" indent="0" marL="0">
              <a:buNone/>
            </a:pPr>
            <a:r>
              <a:rPr lang="en-US" sz="1500" b="1" dirty="0">
                <a:solidFill>
                  <a:srgbClr val="38BDF8"/>
                </a:solidFill>
                <a:latin typeface="Arial" pitchFamily="34" charset="0"/>
                <a:ea typeface="Arial" pitchFamily="34" charset="-122"/>
                <a:cs typeface="Arial" pitchFamily="34" charset="-120"/>
              </a:rPr>
              <a:t>Phase 4B</a:t>
            </a:r>
            <a:endParaRPr lang="en-US" sz="1500" dirty="0"/>
          </a:p>
          <a:p>
            <a:pPr algn="l" indent="0" marL="0">
              <a:buNone/>
            </a:pPr>
            <a:r>
              <a:rPr lang="en-US" sz="1500" b="1" dirty="0">
                <a:solidFill>
                  <a:srgbClr val="F1F5F9"/>
                </a:solidFill>
                <a:latin typeface="Arial" pitchFamily="34" charset="0"/>
                <a:ea typeface="Arial" pitchFamily="34" charset="-122"/>
                <a:cs typeface="Arial" pitchFamily="34" charset="-120"/>
              </a:rPr>
              <a:t>Protocol audit</a:t>
            </a:r>
            <a:endParaRPr lang="en-US" sz="1500" dirty="0"/>
          </a:p>
        </p:txBody>
      </p:sp>
      <p:sp>
        <p:nvSpPr>
          <p:cNvPr id="29" name="Text 27"/>
          <p:cNvSpPr txBox="1"/>
          <p:nvPr/>
        </p:nvSpPr>
        <p:spPr>
          <a:xfrm>
            <a:off x="5181448" y="2148840"/>
            <a:ext cx="1828800" cy="1005840"/>
          </a:xfrm>
          <a:prstGeom prst="rect">
            <a:avLst/>
          </a:prstGeom>
          <a:noFill/>
          <a:ln/>
        </p:spPr>
        <p:txBody>
          <a:bodyPr wrap="square" lIns="0" tIns="0" rIns="0" bIns="0" rtlCol="0" anchor="t"/>
          <a:lstStyle/>
          <a:p>
            <a:pPr algn="l" indent="0" marL="0">
              <a:buNone/>
            </a:pPr>
            <a:r>
              <a:rPr lang="en-US" sz="1400" dirty="0">
                <a:solidFill>
                  <a:srgbClr val="A7B4C8"/>
                </a:solidFill>
                <a:latin typeface="Arial" pitchFamily="34" charset="0"/>
                <a:ea typeface="Arial" pitchFamily="34" charset="-122"/>
                <a:cs typeface="Arial" pitchFamily="34" charset="-120"/>
              </a:rPr>
              <a:t>Model side faithful; evaluation protocol unspecified</a:t>
            </a:r>
            <a:endParaRPr lang="en-US" sz="1400" dirty="0"/>
          </a:p>
        </p:txBody>
      </p:sp>
      <p:sp>
        <p:nvSpPr>
          <p:cNvPr id="30" name="Shape 28"/>
          <p:cNvSpPr/>
          <p:nvPr/>
        </p:nvSpPr>
        <p:spPr>
          <a:xfrm>
            <a:off x="7215188" y="3703320"/>
            <a:ext cx="0" cy="411480"/>
          </a:xfrm>
          <a:prstGeom prst="line">
            <a:avLst/>
          </a:prstGeom>
          <a:noFill/>
          <a:ln w="15875">
            <a:solidFill>
              <a:srgbClr val="26354F"/>
            </a:solidFill>
            <a:prstDash val="solid"/>
          </a:ln>
        </p:spPr>
      </p:sp>
      <p:sp>
        <p:nvSpPr>
          <p:cNvPr id="31" name="Shape 29"/>
          <p:cNvSpPr/>
          <p:nvPr/>
        </p:nvSpPr>
        <p:spPr>
          <a:xfrm>
            <a:off x="7105460" y="3593592"/>
            <a:ext cx="219456" cy="219456"/>
          </a:xfrm>
          <a:prstGeom prst="ellipse">
            <a:avLst/>
          </a:prstGeom>
          <a:solidFill>
            <a:srgbClr val="38BDF8"/>
          </a:solidFill>
          <a:ln w="9525">
            <a:solidFill>
              <a:srgbClr val="38BDF8"/>
            </a:solidFill>
            <a:prstDash val="solid"/>
          </a:ln>
        </p:spPr>
      </p:sp>
      <p:sp>
        <p:nvSpPr>
          <p:cNvPr id="32" name="Shape 30"/>
          <p:cNvSpPr/>
          <p:nvPr/>
        </p:nvSpPr>
        <p:spPr>
          <a:xfrm>
            <a:off x="6163628" y="4114800"/>
            <a:ext cx="2103120" cy="1874520"/>
          </a:xfrm>
          <a:prstGeom prst="roundRect">
            <a:avLst>
              <a:gd name="adj" fmla="val 3902"/>
            </a:avLst>
          </a:prstGeom>
          <a:solidFill>
            <a:srgbClr val="131E33"/>
          </a:solidFill>
          <a:ln/>
        </p:spPr>
      </p:sp>
      <p:sp>
        <p:nvSpPr>
          <p:cNvPr id="33" name="Text 31"/>
          <p:cNvSpPr txBox="1"/>
          <p:nvPr/>
        </p:nvSpPr>
        <p:spPr>
          <a:xfrm>
            <a:off x="6300788" y="4224528"/>
            <a:ext cx="1828800" cy="640080"/>
          </a:xfrm>
          <a:prstGeom prst="rect">
            <a:avLst/>
          </a:prstGeom>
          <a:noFill/>
          <a:ln/>
        </p:spPr>
        <p:txBody>
          <a:bodyPr wrap="square" lIns="0" tIns="0" rIns="0" bIns="0" rtlCol="0" anchor="t"/>
          <a:lstStyle/>
          <a:p>
            <a:pPr algn="l" indent="0" marL="0">
              <a:buNone/>
            </a:pPr>
            <a:r>
              <a:rPr lang="en-US" sz="1500" b="1" dirty="0">
                <a:solidFill>
                  <a:srgbClr val="38BDF8"/>
                </a:solidFill>
                <a:latin typeface="Arial" pitchFamily="34" charset="0"/>
                <a:ea typeface="Arial" pitchFamily="34" charset="-122"/>
                <a:cs typeface="Arial" pitchFamily="34" charset="-120"/>
              </a:rPr>
              <a:t>Phase 5A–5C</a:t>
            </a:r>
            <a:endParaRPr lang="en-US" sz="1500" dirty="0"/>
          </a:p>
          <a:p>
            <a:pPr algn="l" indent="0" marL="0">
              <a:buNone/>
            </a:pPr>
            <a:r>
              <a:rPr lang="en-US" sz="1500" b="1" dirty="0">
                <a:solidFill>
                  <a:srgbClr val="F1F5F9"/>
                </a:solidFill>
                <a:latin typeface="Arial" pitchFamily="34" charset="0"/>
                <a:ea typeface="Arial" pitchFamily="34" charset="-122"/>
                <a:cs typeface="Arial" pitchFamily="34" charset="-120"/>
              </a:rPr>
              <a:t>Paper protocol</a:t>
            </a:r>
            <a:endParaRPr lang="en-US" sz="1500" dirty="0"/>
          </a:p>
        </p:txBody>
      </p:sp>
      <p:sp>
        <p:nvSpPr>
          <p:cNvPr id="34" name="Text 32"/>
          <p:cNvSpPr txBox="1"/>
          <p:nvPr/>
        </p:nvSpPr>
        <p:spPr>
          <a:xfrm>
            <a:off x="6300788" y="4892040"/>
            <a:ext cx="1828800" cy="1005840"/>
          </a:xfrm>
          <a:prstGeom prst="rect">
            <a:avLst/>
          </a:prstGeom>
          <a:noFill/>
          <a:ln/>
        </p:spPr>
        <p:txBody>
          <a:bodyPr wrap="square" lIns="0" tIns="0" rIns="0" bIns="0" rtlCol="0" anchor="t"/>
          <a:lstStyle/>
          <a:p>
            <a:pPr algn="l" indent="0" marL="0">
              <a:buNone/>
            </a:pPr>
            <a:r>
              <a:rPr lang="en-US" sz="1400" dirty="0">
                <a:solidFill>
                  <a:srgbClr val="A7B4C8"/>
                </a:solidFill>
                <a:latin typeface="Arial" pitchFamily="34" charset="0"/>
                <a:ea typeface="Arial" pitchFamily="34" charset="-122"/>
                <a:cs typeface="Arial" pitchFamily="34" charset="-120"/>
              </a:rPr>
              <a:t>KS3 Global 19–21/30 vs 28/30; oracle does not close gap</a:t>
            </a:r>
            <a:endParaRPr lang="en-US" sz="1400" dirty="0"/>
          </a:p>
        </p:txBody>
      </p:sp>
      <p:sp>
        <p:nvSpPr>
          <p:cNvPr id="35" name="Shape 33"/>
          <p:cNvSpPr/>
          <p:nvPr/>
        </p:nvSpPr>
        <p:spPr>
          <a:xfrm>
            <a:off x="8334527" y="3246120"/>
            <a:ext cx="0" cy="457200"/>
          </a:xfrm>
          <a:prstGeom prst="line">
            <a:avLst/>
          </a:prstGeom>
          <a:noFill/>
          <a:ln w="15875">
            <a:solidFill>
              <a:srgbClr val="26354F"/>
            </a:solidFill>
            <a:prstDash val="solid"/>
          </a:ln>
        </p:spPr>
      </p:sp>
      <p:sp>
        <p:nvSpPr>
          <p:cNvPr id="36" name="Shape 34"/>
          <p:cNvSpPr/>
          <p:nvPr/>
        </p:nvSpPr>
        <p:spPr>
          <a:xfrm>
            <a:off x="8224799" y="3593592"/>
            <a:ext cx="219456" cy="219456"/>
          </a:xfrm>
          <a:prstGeom prst="ellipse">
            <a:avLst/>
          </a:prstGeom>
          <a:solidFill>
            <a:srgbClr val="38BDF8"/>
          </a:solidFill>
          <a:ln w="9525">
            <a:solidFill>
              <a:srgbClr val="38BDF8"/>
            </a:solidFill>
            <a:prstDash val="solid"/>
          </a:ln>
        </p:spPr>
      </p:sp>
      <p:sp>
        <p:nvSpPr>
          <p:cNvPr id="37" name="Shape 35"/>
          <p:cNvSpPr/>
          <p:nvPr/>
        </p:nvSpPr>
        <p:spPr>
          <a:xfrm>
            <a:off x="7282967" y="1371600"/>
            <a:ext cx="2103120" cy="1874520"/>
          </a:xfrm>
          <a:prstGeom prst="roundRect">
            <a:avLst>
              <a:gd name="adj" fmla="val 3902"/>
            </a:avLst>
          </a:prstGeom>
          <a:solidFill>
            <a:srgbClr val="131E33"/>
          </a:solidFill>
          <a:ln/>
        </p:spPr>
      </p:sp>
      <p:sp>
        <p:nvSpPr>
          <p:cNvPr id="38" name="Text 36"/>
          <p:cNvSpPr txBox="1"/>
          <p:nvPr/>
        </p:nvSpPr>
        <p:spPr>
          <a:xfrm>
            <a:off x="7420127" y="1481328"/>
            <a:ext cx="1828800" cy="640080"/>
          </a:xfrm>
          <a:prstGeom prst="rect">
            <a:avLst/>
          </a:prstGeom>
          <a:noFill/>
          <a:ln/>
        </p:spPr>
        <p:txBody>
          <a:bodyPr wrap="square" lIns="0" tIns="0" rIns="0" bIns="0" rtlCol="0" anchor="t"/>
          <a:lstStyle/>
          <a:p>
            <a:pPr algn="l" indent="0" marL="0">
              <a:buNone/>
            </a:pPr>
            <a:r>
              <a:rPr lang="en-US" sz="1500" b="1" dirty="0">
                <a:solidFill>
                  <a:srgbClr val="38BDF8"/>
                </a:solidFill>
                <a:latin typeface="Arial" pitchFamily="34" charset="0"/>
                <a:ea typeface="Arial" pitchFamily="34" charset="-122"/>
                <a:cs typeface="Arial" pitchFamily="34" charset="-120"/>
              </a:rPr>
              <a:t>Phase 6A–6B</a:t>
            </a:r>
            <a:endParaRPr lang="en-US" sz="1500" dirty="0"/>
          </a:p>
          <a:p>
            <a:pPr algn="l" indent="0" marL="0">
              <a:buNone/>
            </a:pPr>
            <a:r>
              <a:rPr lang="en-US" sz="1500" b="1" dirty="0">
                <a:solidFill>
                  <a:srgbClr val="F1F5F9"/>
                </a:solidFill>
                <a:latin typeface="Arial" pitchFamily="34" charset="0"/>
                <a:ea typeface="Arial" pitchFamily="34" charset="-122"/>
                <a:cs typeface="Arial" pitchFamily="34" charset="-120"/>
              </a:rPr>
              <a:t>Gap analysis</a:t>
            </a:r>
            <a:endParaRPr lang="en-US" sz="1500" dirty="0"/>
          </a:p>
        </p:txBody>
      </p:sp>
      <p:sp>
        <p:nvSpPr>
          <p:cNvPr id="39" name="Text 37"/>
          <p:cNvSpPr txBox="1"/>
          <p:nvPr/>
        </p:nvSpPr>
        <p:spPr>
          <a:xfrm>
            <a:off x="7420127" y="2148840"/>
            <a:ext cx="1828800" cy="1005840"/>
          </a:xfrm>
          <a:prstGeom prst="rect">
            <a:avLst/>
          </a:prstGeom>
          <a:noFill/>
          <a:ln/>
        </p:spPr>
        <p:txBody>
          <a:bodyPr wrap="square" lIns="0" tIns="0" rIns="0" bIns="0" rtlCol="0" anchor="t"/>
          <a:lstStyle/>
          <a:p>
            <a:pPr algn="l" indent="0" marL="0">
              <a:buNone/>
            </a:pPr>
            <a:r>
              <a:rPr lang="en-US" sz="1400" dirty="0">
                <a:solidFill>
                  <a:srgbClr val="A7B4C8"/>
                </a:solidFill>
                <a:latin typeface="Arial" pitchFamily="34" charset="0"/>
                <a:ea typeface="Arial" pitchFamily="34" charset="-122"/>
                <a:cs typeface="Arial" pitchFamily="34" charset="-120"/>
              </a:rPr>
              <a:t>Only protocol reading &amp; unreleased code remain open</a:t>
            </a:r>
            <a:endParaRPr lang="en-US" sz="1400" dirty="0"/>
          </a:p>
        </p:txBody>
      </p:sp>
      <p:sp>
        <p:nvSpPr>
          <p:cNvPr id="40" name="Shape 38"/>
          <p:cNvSpPr/>
          <p:nvPr/>
        </p:nvSpPr>
        <p:spPr>
          <a:xfrm>
            <a:off x="9453867" y="3703320"/>
            <a:ext cx="0" cy="411480"/>
          </a:xfrm>
          <a:prstGeom prst="line">
            <a:avLst/>
          </a:prstGeom>
          <a:noFill/>
          <a:ln w="15875">
            <a:solidFill>
              <a:srgbClr val="26354F"/>
            </a:solidFill>
            <a:prstDash val="solid"/>
          </a:ln>
        </p:spPr>
      </p:sp>
      <p:sp>
        <p:nvSpPr>
          <p:cNvPr id="41" name="Shape 39"/>
          <p:cNvSpPr/>
          <p:nvPr/>
        </p:nvSpPr>
        <p:spPr>
          <a:xfrm>
            <a:off x="9344139" y="3593592"/>
            <a:ext cx="219456" cy="219456"/>
          </a:xfrm>
          <a:prstGeom prst="ellipse">
            <a:avLst/>
          </a:prstGeom>
          <a:solidFill>
            <a:srgbClr val="38BDF8"/>
          </a:solidFill>
          <a:ln w="9525">
            <a:solidFill>
              <a:srgbClr val="38BDF8"/>
            </a:solidFill>
            <a:prstDash val="solid"/>
          </a:ln>
        </p:spPr>
      </p:sp>
      <p:sp>
        <p:nvSpPr>
          <p:cNvPr id="42" name="Shape 40"/>
          <p:cNvSpPr/>
          <p:nvPr/>
        </p:nvSpPr>
        <p:spPr>
          <a:xfrm>
            <a:off x="8402307" y="4114800"/>
            <a:ext cx="2103120" cy="1874520"/>
          </a:xfrm>
          <a:prstGeom prst="roundRect">
            <a:avLst>
              <a:gd name="adj" fmla="val 3902"/>
            </a:avLst>
          </a:prstGeom>
          <a:solidFill>
            <a:srgbClr val="131E33"/>
          </a:solidFill>
          <a:ln/>
        </p:spPr>
      </p:sp>
      <p:sp>
        <p:nvSpPr>
          <p:cNvPr id="43" name="Text 41"/>
          <p:cNvSpPr txBox="1"/>
          <p:nvPr/>
        </p:nvSpPr>
        <p:spPr>
          <a:xfrm>
            <a:off x="8539467" y="4224528"/>
            <a:ext cx="1828800" cy="640080"/>
          </a:xfrm>
          <a:prstGeom prst="rect">
            <a:avLst/>
          </a:prstGeom>
          <a:noFill/>
          <a:ln/>
        </p:spPr>
        <p:txBody>
          <a:bodyPr wrap="square" lIns="0" tIns="0" rIns="0" bIns="0" rtlCol="0" anchor="t"/>
          <a:lstStyle/>
          <a:p>
            <a:pPr algn="l" indent="0" marL="0">
              <a:buNone/>
            </a:pPr>
            <a:r>
              <a:rPr lang="en-US" sz="1500" b="1" dirty="0">
                <a:solidFill>
                  <a:srgbClr val="38BDF8"/>
                </a:solidFill>
                <a:latin typeface="Arial" pitchFamily="34" charset="0"/>
                <a:ea typeface="Arial" pitchFamily="34" charset="-122"/>
                <a:cs typeface="Arial" pitchFamily="34" charset="-120"/>
              </a:rPr>
              <a:t>Phase 6C</a:t>
            </a:r>
            <a:endParaRPr lang="en-US" sz="1500" dirty="0"/>
          </a:p>
          <a:p>
            <a:pPr algn="l" indent="0" marL="0">
              <a:buNone/>
            </a:pPr>
            <a:r>
              <a:rPr lang="en-US" sz="1500" b="1" dirty="0">
                <a:solidFill>
                  <a:srgbClr val="F1F5F9"/>
                </a:solidFill>
                <a:latin typeface="Arial" pitchFamily="34" charset="0"/>
                <a:ea typeface="Arial" pitchFamily="34" charset="-122"/>
                <a:cs typeface="Arial" pitchFamily="34" charset="-120"/>
              </a:rPr>
              <a:t>Code archaeology</a:t>
            </a:r>
            <a:endParaRPr lang="en-US" sz="1500" dirty="0"/>
          </a:p>
        </p:txBody>
      </p:sp>
      <p:sp>
        <p:nvSpPr>
          <p:cNvPr id="44" name="Text 42"/>
          <p:cNvSpPr txBox="1"/>
          <p:nvPr/>
        </p:nvSpPr>
        <p:spPr>
          <a:xfrm>
            <a:off x="8539467" y="4892040"/>
            <a:ext cx="1828800" cy="1005840"/>
          </a:xfrm>
          <a:prstGeom prst="rect">
            <a:avLst/>
          </a:prstGeom>
          <a:noFill/>
          <a:ln/>
        </p:spPr>
        <p:txBody>
          <a:bodyPr wrap="square" lIns="0" tIns="0" rIns="0" bIns="0" rtlCol="0" anchor="t"/>
          <a:lstStyle/>
          <a:p>
            <a:pPr algn="l" indent="0" marL="0">
              <a:buNone/>
            </a:pPr>
            <a:r>
              <a:rPr lang="en-US" sz="1400" dirty="0">
                <a:solidFill>
                  <a:srgbClr val="A7B4C8"/>
                </a:solidFill>
                <a:latin typeface="Arial" pitchFamily="34" charset="0"/>
                <a:ea typeface="Arial" pitchFamily="34" charset="-122"/>
                <a:cs typeface="Arial" pitchFamily="34" charset="-120"/>
              </a:rPr>
              <a:t>miranda-v2 ≈ table generator; 12–13/15 on fit states</a:t>
            </a:r>
            <a:endParaRPr lang="en-US" sz="1400" dirty="0"/>
          </a:p>
        </p:txBody>
      </p:sp>
      <p:sp>
        <p:nvSpPr>
          <p:cNvPr id="45" name="Shape 43"/>
          <p:cNvSpPr/>
          <p:nvPr/>
        </p:nvSpPr>
        <p:spPr>
          <a:xfrm>
            <a:off x="10573207" y="3246120"/>
            <a:ext cx="0" cy="457200"/>
          </a:xfrm>
          <a:prstGeom prst="line">
            <a:avLst/>
          </a:prstGeom>
          <a:noFill/>
          <a:ln w="15875">
            <a:solidFill>
              <a:srgbClr val="26354F"/>
            </a:solidFill>
            <a:prstDash val="solid"/>
          </a:ln>
        </p:spPr>
      </p:sp>
      <p:sp>
        <p:nvSpPr>
          <p:cNvPr id="46" name="Shape 44"/>
          <p:cNvSpPr/>
          <p:nvPr/>
        </p:nvSpPr>
        <p:spPr>
          <a:xfrm>
            <a:off x="10417759" y="3547872"/>
            <a:ext cx="310896" cy="310896"/>
          </a:xfrm>
          <a:prstGeom prst="ellipse">
            <a:avLst/>
          </a:prstGeom>
          <a:solidFill>
            <a:srgbClr val="4CC38A"/>
          </a:solidFill>
          <a:ln w="9525">
            <a:solidFill>
              <a:srgbClr val="4CC38A"/>
            </a:solidFill>
            <a:prstDash val="solid"/>
          </a:ln>
        </p:spPr>
      </p:sp>
      <p:sp>
        <p:nvSpPr>
          <p:cNvPr id="47" name="Shape 45"/>
          <p:cNvSpPr/>
          <p:nvPr/>
        </p:nvSpPr>
        <p:spPr>
          <a:xfrm>
            <a:off x="9521647" y="1371600"/>
            <a:ext cx="2103120" cy="1874520"/>
          </a:xfrm>
          <a:prstGeom prst="roundRect">
            <a:avLst>
              <a:gd name="adj" fmla="val 3902"/>
            </a:avLst>
          </a:prstGeom>
          <a:solidFill>
            <a:srgbClr val="123A2A"/>
          </a:solidFill>
          <a:ln w="12700">
            <a:solidFill>
              <a:srgbClr val="4CC38A"/>
            </a:solidFill>
            <a:prstDash val="solid"/>
          </a:ln>
        </p:spPr>
      </p:sp>
      <p:sp>
        <p:nvSpPr>
          <p:cNvPr id="48" name="Text 46"/>
          <p:cNvSpPr txBox="1"/>
          <p:nvPr/>
        </p:nvSpPr>
        <p:spPr>
          <a:xfrm>
            <a:off x="9658807" y="1481328"/>
            <a:ext cx="1828800" cy="640080"/>
          </a:xfrm>
          <a:prstGeom prst="rect">
            <a:avLst/>
          </a:prstGeom>
          <a:noFill/>
          <a:ln/>
        </p:spPr>
        <p:txBody>
          <a:bodyPr wrap="square" lIns="0" tIns="0" rIns="0" bIns="0" rtlCol="0" anchor="t"/>
          <a:lstStyle/>
          <a:p>
            <a:pPr algn="l" indent="0" marL="0">
              <a:buNone/>
            </a:pPr>
            <a:r>
              <a:rPr lang="en-US" sz="1500" b="1" dirty="0">
                <a:solidFill>
                  <a:srgbClr val="38BDF8"/>
                </a:solidFill>
                <a:latin typeface="Arial" pitchFamily="34" charset="0"/>
                <a:ea typeface="Arial" pitchFamily="34" charset="-122"/>
                <a:cs typeface="Arial" pitchFamily="34" charset="-120"/>
              </a:rPr>
              <a:t>Phase 7A</a:t>
            </a:r>
            <a:endParaRPr lang="en-US" sz="1500" dirty="0"/>
          </a:p>
          <a:p>
            <a:pPr algn="l" indent="0" marL="0">
              <a:buNone/>
            </a:pPr>
            <a:r>
              <a:rPr lang="en-US" sz="1500" b="1" dirty="0">
                <a:solidFill>
                  <a:srgbClr val="F1F5F9"/>
                </a:solidFill>
                <a:latin typeface="Arial" pitchFamily="34" charset="0"/>
                <a:ea typeface="Arial" pitchFamily="34" charset="-122"/>
                <a:cs typeface="Arial" pitchFamily="34" charset="-120"/>
              </a:rPr>
              <a:t>Cross-task</a:t>
            </a:r>
            <a:endParaRPr lang="en-US" sz="1500" dirty="0"/>
          </a:p>
        </p:txBody>
      </p:sp>
      <p:sp>
        <p:nvSpPr>
          <p:cNvPr id="49" name="Text 47"/>
          <p:cNvSpPr txBox="1"/>
          <p:nvPr/>
        </p:nvSpPr>
        <p:spPr>
          <a:xfrm>
            <a:off x="9658807" y="2148840"/>
            <a:ext cx="1828800" cy="1005840"/>
          </a:xfrm>
          <a:prstGeom prst="rect">
            <a:avLst/>
          </a:prstGeom>
          <a:noFill/>
          <a:ln/>
        </p:spPr>
        <p:txBody>
          <a:bodyPr wrap="square" lIns="0" tIns="0" rIns="0" bIns="0" rtlCol="0" anchor="t"/>
          <a:lstStyle/>
          <a:p>
            <a:pPr algn="l" indent="0" marL="0">
              <a:buNone/>
            </a:pPr>
            <a:r>
              <a:rPr lang="en-US" sz="1400" dirty="0">
                <a:solidFill>
                  <a:srgbClr val="A7B4C8"/>
                </a:solidFill>
                <a:latin typeface="Arial" pitchFamily="34" charset="0"/>
                <a:ea typeface="Arial" pitchFamily="34" charset="-122"/>
                <a:cs typeface="Arial" pitchFamily="34" charset="-120"/>
              </a:rPr>
              <a:t>Held-out: paper Global = random (109/180 each)</a:t>
            </a:r>
            <a:endParaRPr lang="en-US" sz="1400" dirty="0"/>
          </a:p>
        </p:txBody>
      </p:sp>
      <p:sp>
        <p:nvSpPr>
          <p:cNvPr id="50" name="Text 48"/>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51" name="Text 49"/>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6 / 21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REPRODUCTION GAP · KS3</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Held-out KS3: 19–21/30 vs the reported 28/30</a:t>
            </a:r>
            <a:endParaRPr lang="en-US" sz="3000" dirty="0"/>
          </a:p>
        </p:txBody>
      </p:sp>
      <p:sp>
        <p:nvSpPr>
          <p:cNvPr id="4" name="Shape 2"/>
          <p:cNvSpPr/>
          <p:nvPr/>
        </p:nvSpPr>
        <p:spPr>
          <a:xfrm>
            <a:off x="1143000" y="5120640"/>
            <a:ext cx="6309360" cy="0"/>
          </a:xfrm>
          <a:prstGeom prst="line">
            <a:avLst/>
          </a:prstGeom>
          <a:noFill/>
          <a:ln w="9525">
            <a:solidFill>
              <a:srgbClr val="22314A"/>
            </a:solidFill>
            <a:prstDash val="solid"/>
          </a:ln>
        </p:spPr>
      </p:sp>
      <p:sp>
        <p:nvSpPr>
          <p:cNvPr id="5" name="Text 3"/>
          <p:cNvSpPr txBox="1"/>
          <p:nvPr/>
        </p:nvSpPr>
        <p:spPr>
          <a:xfrm>
            <a:off x="640080" y="4992624"/>
            <a:ext cx="411480" cy="256032"/>
          </a:xfrm>
          <a:prstGeom prst="rect">
            <a:avLst/>
          </a:prstGeom>
          <a:noFill/>
          <a:ln/>
        </p:spPr>
        <p:txBody>
          <a:bodyPr wrap="square" lIns="0" tIns="0" rIns="0" bIns="0" rtlCol="0" anchor="t"/>
          <a:lstStyle/>
          <a:p>
            <a:pPr algn="r" indent="0" marL="0">
              <a:buNone/>
            </a:pPr>
            <a:r>
              <a:rPr lang="en-US" sz="1300" dirty="0">
                <a:solidFill>
                  <a:srgbClr val="6B7A93"/>
                </a:solidFill>
                <a:latin typeface="Arial" pitchFamily="34" charset="0"/>
                <a:ea typeface="Arial" pitchFamily="34" charset="-122"/>
                <a:cs typeface="Arial" pitchFamily="34" charset="-120"/>
              </a:rPr>
              <a:t>10</a:t>
            </a:r>
            <a:endParaRPr lang="en-US" sz="1300" dirty="0"/>
          </a:p>
        </p:txBody>
      </p:sp>
      <p:sp>
        <p:nvSpPr>
          <p:cNvPr id="6" name="Shape 4"/>
          <p:cNvSpPr/>
          <p:nvPr/>
        </p:nvSpPr>
        <p:spPr>
          <a:xfrm>
            <a:off x="1143000" y="4331970"/>
            <a:ext cx="6309360" cy="0"/>
          </a:xfrm>
          <a:prstGeom prst="line">
            <a:avLst/>
          </a:prstGeom>
          <a:noFill/>
          <a:ln w="9525">
            <a:solidFill>
              <a:srgbClr val="22314A"/>
            </a:solidFill>
            <a:prstDash val="solid"/>
          </a:ln>
        </p:spPr>
      </p:sp>
      <p:sp>
        <p:nvSpPr>
          <p:cNvPr id="7" name="Text 5"/>
          <p:cNvSpPr txBox="1"/>
          <p:nvPr/>
        </p:nvSpPr>
        <p:spPr>
          <a:xfrm>
            <a:off x="640080" y="4203954"/>
            <a:ext cx="411480" cy="256032"/>
          </a:xfrm>
          <a:prstGeom prst="rect">
            <a:avLst/>
          </a:prstGeom>
          <a:noFill/>
          <a:ln/>
        </p:spPr>
        <p:txBody>
          <a:bodyPr wrap="square" lIns="0" tIns="0" rIns="0" bIns="0" rtlCol="0" anchor="t"/>
          <a:lstStyle/>
          <a:p>
            <a:pPr algn="r" indent="0" marL="0">
              <a:buNone/>
            </a:pPr>
            <a:r>
              <a:rPr lang="en-US" sz="1300" dirty="0">
                <a:solidFill>
                  <a:srgbClr val="6B7A93"/>
                </a:solidFill>
                <a:latin typeface="Arial" pitchFamily="34" charset="0"/>
                <a:ea typeface="Arial" pitchFamily="34" charset="-122"/>
                <a:cs typeface="Arial" pitchFamily="34" charset="-120"/>
              </a:rPr>
              <a:t>15</a:t>
            </a:r>
            <a:endParaRPr lang="en-US" sz="1300" dirty="0"/>
          </a:p>
        </p:txBody>
      </p:sp>
      <p:sp>
        <p:nvSpPr>
          <p:cNvPr id="8" name="Shape 6"/>
          <p:cNvSpPr/>
          <p:nvPr/>
        </p:nvSpPr>
        <p:spPr>
          <a:xfrm>
            <a:off x="1143000" y="3543300"/>
            <a:ext cx="6309360" cy="0"/>
          </a:xfrm>
          <a:prstGeom prst="line">
            <a:avLst/>
          </a:prstGeom>
          <a:noFill/>
          <a:ln w="9525">
            <a:solidFill>
              <a:srgbClr val="22314A"/>
            </a:solidFill>
            <a:prstDash val="solid"/>
          </a:ln>
        </p:spPr>
      </p:sp>
      <p:sp>
        <p:nvSpPr>
          <p:cNvPr id="9" name="Text 7"/>
          <p:cNvSpPr txBox="1"/>
          <p:nvPr/>
        </p:nvSpPr>
        <p:spPr>
          <a:xfrm>
            <a:off x="640080" y="3415284"/>
            <a:ext cx="411480" cy="256032"/>
          </a:xfrm>
          <a:prstGeom prst="rect">
            <a:avLst/>
          </a:prstGeom>
          <a:noFill/>
          <a:ln/>
        </p:spPr>
        <p:txBody>
          <a:bodyPr wrap="square" lIns="0" tIns="0" rIns="0" bIns="0" rtlCol="0" anchor="t"/>
          <a:lstStyle/>
          <a:p>
            <a:pPr algn="r" indent="0" marL="0">
              <a:buNone/>
            </a:pPr>
            <a:r>
              <a:rPr lang="en-US" sz="1300" dirty="0">
                <a:solidFill>
                  <a:srgbClr val="6B7A93"/>
                </a:solidFill>
                <a:latin typeface="Arial" pitchFamily="34" charset="0"/>
                <a:ea typeface="Arial" pitchFamily="34" charset="-122"/>
                <a:cs typeface="Arial" pitchFamily="34" charset="-120"/>
              </a:rPr>
              <a:t>20</a:t>
            </a:r>
            <a:endParaRPr lang="en-US" sz="1300" dirty="0"/>
          </a:p>
        </p:txBody>
      </p:sp>
      <p:sp>
        <p:nvSpPr>
          <p:cNvPr id="10" name="Shape 8"/>
          <p:cNvSpPr/>
          <p:nvPr/>
        </p:nvSpPr>
        <p:spPr>
          <a:xfrm>
            <a:off x="1143000" y="2754630"/>
            <a:ext cx="6309360" cy="0"/>
          </a:xfrm>
          <a:prstGeom prst="line">
            <a:avLst/>
          </a:prstGeom>
          <a:noFill/>
          <a:ln w="9525">
            <a:solidFill>
              <a:srgbClr val="22314A"/>
            </a:solidFill>
            <a:prstDash val="solid"/>
          </a:ln>
        </p:spPr>
      </p:sp>
      <p:sp>
        <p:nvSpPr>
          <p:cNvPr id="11" name="Text 9"/>
          <p:cNvSpPr txBox="1"/>
          <p:nvPr/>
        </p:nvSpPr>
        <p:spPr>
          <a:xfrm>
            <a:off x="640080" y="2626614"/>
            <a:ext cx="411480" cy="256032"/>
          </a:xfrm>
          <a:prstGeom prst="rect">
            <a:avLst/>
          </a:prstGeom>
          <a:noFill/>
          <a:ln/>
        </p:spPr>
        <p:txBody>
          <a:bodyPr wrap="square" lIns="0" tIns="0" rIns="0" bIns="0" rtlCol="0" anchor="t"/>
          <a:lstStyle/>
          <a:p>
            <a:pPr algn="r" indent="0" marL="0">
              <a:buNone/>
            </a:pPr>
            <a:r>
              <a:rPr lang="en-US" sz="1300" dirty="0">
                <a:solidFill>
                  <a:srgbClr val="6B7A93"/>
                </a:solidFill>
                <a:latin typeface="Arial" pitchFamily="34" charset="0"/>
                <a:ea typeface="Arial" pitchFamily="34" charset="-122"/>
                <a:cs typeface="Arial" pitchFamily="34" charset="-120"/>
              </a:rPr>
              <a:t>25</a:t>
            </a:r>
            <a:endParaRPr lang="en-US" sz="1300" dirty="0"/>
          </a:p>
        </p:txBody>
      </p:sp>
      <p:sp>
        <p:nvSpPr>
          <p:cNvPr id="12" name="Shape 10"/>
          <p:cNvSpPr/>
          <p:nvPr/>
        </p:nvSpPr>
        <p:spPr>
          <a:xfrm>
            <a:off x="1143000" y="1965960"/>
            <a:ext cx="6309360" cy="0"/>
          </a:xfrm>
          <a:prstGeom prst="line">
            <a:avLst/>
          </a:prstGeom>
          <a:noFill/>
          <a:ln w="9525">
            <a:solidFill>
              <a:srgbClr val="22314A"/>
            </a:solidFill>
            <a:prstDash val="solid"/>
          </a:ln>
        </p:spPr>
      </p:sp>
      <p:sp>
        <p:nvSpPr>
          <p:cNvPr id="13" name="Text 11"/>
          <p:cNvSpPr txBox="1"/>
          <p:nvPr/>
        </p:nvSpPr>
        <p:spPr>
          <a:xfrm>
            <a:off x="640080" y="1837944"/>
            <a:ext cx="411480" cy="256032"/>
          </a:xfrm>
          <a:prstGeom prst="rect">
            <a:avLst/>
          </a:prstGeom>
          <a:noFill/>
          <a:ln/>
        </p:spPr>
        <p:txBody>
          <a:bodyPr wrap="square" lIns="0" tIns="0" rIns="0" bIns="0" rtlCol="0" anchor="t"/>
          <a:lstStyle/>
          <a:p>
            <a:pPr algn="r" indent="0" marL="0">
              <a:buNone/>
            </a:pPr>
            <a:r>
              <a:rPr lang="en-US" sz="1300" dirty="0">
                <a:solidFill>
                  <a:srgbClr val="6B7A93"/>
                </a:solidFill>
                <a:latin typeface="Arial" pitchFamily="34" charset="0"/>
                <a:ea typeface="Arial" pitchFamily="34" charset="-122"/>
                <a:cs typeface="Arial" pitchFamily="34" charset="-120"/>
              </a:rPr>
              <a:t>30</a:t>
            </a:r>
            <a:endParaRPr lang="en-US" sz="1300" dirty="0"/>
          </a:p>
        </p:txBody>
      </p:sp>
      <p:sp>
        <p:nvSpPr>
          <p:cNvPr id="14" name="Text 12"/>
          <p:cNvSpPr txBox="1"/>
          <p:nvPr/>
        </p:nvSpPr>
        <p:spPr>
          <a:xfrm>
            <a:off x="594360" y="1508760"/>
            <a:ext cx="5486400" cy="256032"/>
          </a:xfrm>
          <a:prstGeom prst="rect">
            <a:avLst/>
          </a:prstGeom>
          <a:noFill/>
          <a:ln/>
        </p:spPr>
        <p:txBody>
          <a:bodyPr wrap="square" lIns="0" tIns="0" rIns="0" bIns="0" rtlCol="0" anchor="t"/>
          <a:lstStyle/>
          <a:p>
            <a:pPr algn="l" indent="0" marL="0">
              <a:buNone/>
            </a:pPr>
            <a:r>
              <a:rPr lang="en-US" sz="1300" dirty="0">
                <a:solidFill>
                  <a:srgbClr val="6B7A93"/>
                </a:solidFill>
                <a:latin typeface="Arial" pitchFamily="34" charset="0"/>
                <a:ea typeface="Arial" pitchFamily="34" charset="-122"/>
                <a:cs typeface="Arial" pitchFamily="34" charset="-120"/>
              </a:rPr>
              <a:t>Successes / 30 · held-out states 15–44 · whiskers: Wilson 95%</a:t>
            </a:r>
            <a:endParaRPr lang="en-US" sz="1300" dirty="0"/>
          </a:p>
        </p:txBody>
      </p:sp>
      <p:sp>
        <p:nvSpPr>
          <p:cNvPr id="15" name="Shape 13"/>
          <p:cNvSpPr/>
          <p:nvPr/>
        </p:nvSpPr>
        <p:spPr>
          <a:xfrm>
            <a:off x="1143000" y="2281428"/>
            <a:ext cx="6309360" cy="0"/>
          </a:xfrm>
          <a:prstGeom prst="line">
            <a:avLst/>
          </a:prstGeom>
          <a:noFill/>
          <a:ln w="28575">
            <a:solidFill>
              <a:srgbClr val="F59E0B"/>
            </a:solidFill>
            <a:prstDash val="dash"/>
          </a:ln>
        </p:spPr>
      </p:sp>
      <p:sp>
        <p:nvSpPr>
          <p:cNvPr id="16" name="Text 14"/>
          <p:cNvSpPr txBox="1"/>
          <p:nvPr/>
        </p:nvSpPr>
        <p:spPr>
          <a:xfrm>
            <a:off x="4526280" y="1952244"/>
            <a:ext cx="2926080" cy="274320"/>
          </a:xfrm>
          <a:prstGeom prst="rect">
            <a:avLst/>
          </a:prstGeom>
          <a:noFill/>
          <a:ln/>
        </p:spPr>
        <p:txBody>
          <a:bodyPr wrap="square" lIns="0" tIns="0" rIns="0" bIns="0" rtlCol="0" anchor="t"/>
          <a:lstStyle/>
          <a:p>
            <a:pPr algn="r" indent="0" marL="0">
              <a:buNone/>
            </a:pPr>
            <a:r>
              <a:rPr lang="en-US" sz="1300" b="1" dirty="0">
                <a:solidFill>
                  <a:srgbClr val="F59E0B"/>
                </a:solidFill>
                <a:latin typeface="Arial" pitchFamily="34" charset="0"/>
                <a:ea typeface="Arial" pitchFamily="34" charset="-122"/>
                <a:cs typeface="Arial" pitchFamily="34" charset="-120"/>
              </a:rPr>
              <a:t>Paper Global 28/30</a:t>
            </a:r>
            <a:endParaRPr lang="en-US" sz="1300" dirty="0"/>
          </a:p>
        </p:txBody>
      </p:sp>
      <p:sp>
        <p:nvSpPr>
          <p:cNvPr id="17" name="Shape 15"/>
          <p:cNvSpPr/>
          <p:nvPr/>
        </p:nvSpPr>
        <p:spPr>
          <a:xfrm>
            <a:off x="1458468" y="3002272"/>
            <a:ext cx="0" cy="1542639"/>
          </a:xfrm>
          <a:prstGeom prst="line">
            <a:avLst/>
          </a:prstGeom>
          <a:noFill/>
          <a:ln w="15875">
            <a:solidFill>
              <a:srgbClr val="38BDF8"/>
            </a:solidFill>
            <a:prstDash val="solid"/>
          </a:ln>
        </p:spPr>
      </p:sp>
      <p:sp>
        <p:nvSpPr>
          <p:cNvPr id="18" name="Shape 16"/>
          <p:cNvSpPr/>
          <p:nvPr/>
        </p:nvSpPr>
        <p:spPr>
          <a:xfrm>
            <a:off x="1403604" y="3002272"/>
            <a:ext cx="109728" cy="0"/>
          </a:xfrm>
          <a:prstGeom prst="line">
            <a:avLst/>
          </a:prstGeom>
          <a:noFill/>
          <a:ln w="15875">
            <a:solidFill>
              <a:srgbClr val="38BDF8"/>
            </a:solidFill>
            <a:prstDash val="solid"/>
          </a:ln>
        </p:spPr>
      </p:sp>
      <p:sp>
        <p:nvSpPr>
          <p:cNvPr id="19" name="Shape 17"/>
          <p:cNvSpPr/>
          <p:nvPr/>
        </p:nvSpPr>
        <p:spPr>
          <a:xfrm>
            <a:off x="1403604" y="4544911"/>
            <a:ext cx="109728" cy="0"/>
          </a:xfrm>
          <a:prstGeom prst="line">
            <a:avLst/>
          </a:prstGeom>
          <a:noFill/>
          <a:ln w="15875">
            <a:solidFill>
              <a:srgbClr val="38BDF8"/>
            </a:solidFill>
            <a:prstDash val="solid"/>
          </a:ln>
        </p:spPr>
      </p:sp>
      <p:sp>
        <p:nvSpPr>
          <p:cNvPr id="20" name="Shape 18"/>
          <p:cNvSpPr/>
          <p:nvPr/>
        </p:nvSpPr>
        <p:spPr>
          <a:xfrm>
            <a:off x="1339596" y="3582162"/>
            <a:ext cx="237744" cy="237744"/>
          </a:xfrm>
          <a:prstGeom prst="ellipse">
            <a:avLst/>
          </a:prstGeom>
          <a:solidFill>
            <a:srgbClr val="38BDF8"/>
          </a:solidFill>
          <a:ln w="9525">
            <a:solidFill>
              <a:srgbClr val="38BDF8"/>
            </a:solidFill>
            <a:prstDash val="solid"/>
          </a:ln>
        </p:spPr>
      </p:sp>
      <p:sp>
        <p:nvSpPr>
          <p:cNvPr id="21" name="Text 19"/>
          <p:cNvSpPr txBox="1"/>
          <p:nvPr/>
        </p:nvSpPr>
        <p:spPr>
          <a:xfrm>
            <a:off x="1641348" y="3472434"/>
            <a:ext cx="822960" cy="457200"/>
          </a:xfrm>
          <a:prstGeom prst="rect">
            <a:avLst/>
          </a:prstGeom>
          <a:noFill/>
          <a:ln/>
        </p:spPr>
        <p:txBody>
          <a:bodyPr wrap="square" lIns="0" tIns="0" rIns="0" bIns="0" rtlCol="0" anchor="t"/>
          <a:lstStyle/>
          <a:p>
            <a:pPr algn="l" indent="0" marL="0">
              <a:buNone/>
            </a:pPr>
            <a:r>
              <a:rPr lang="en-US" sz="1300" b="1" dirty="0">
                <a:solidFill>
                  <a:srgbClr val="38BDF8"/>
                </a:solidFill>
                <a:latin typeface="Arial" pitchFamily="34" charset="0"/>
                <a:ea typeface="Arial" pitchFamily="34" charset="-122"/>
                <a:cs typeface="Arial" pitchFamily="34" charset="-120"/>
              </a:rPr>
              <a:t>19/30</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5A</a:t>
            </a:r>
            <a:endParaRPr lang="en-US" sz="1300" dirty="0"/>
          </a:p>
        </p:txBody>
      </p:sp>
      <p:sp>
        <p:nvSpPr>
          <p:cNvPr id="22" name="Shape 20"/>
          <p:cNvSpPr/>
          <p:nvPr/>
        </p:nvSpPr>
        <p:spPr>
          <a:xfrm>
            <a:off x="2418588" y="2874508"/>
            <a:ext cx="0" cy="1514246"/>
          </a:xfrm>
          <a:prstGeom prst="line">
            <a:avLst/>
          </a:prstGeom>
          <a:noFill/>
          <a:ln w="15875">
            <a:solidFill>
              <a:srgbClr val="38BDF8"/>
            </a:solidFill>
            <a:prstDash val="solid"/>
          </a:ln>
        </p:spPr>
      </p:sp>
      <p:sp>
        <p:nvSpPr>
          <p:cNvPr id="23" name="Shape 21"/>
          <p:cNvSpPr/>
          <p:nvPr/>
        </p:nvSpPr>
        <p:spPr>
          <a:xfrm>
            <a:off x="2363724" y="2874508"/>
            <a:ext cx="109728" cy="0"/>
          </a:xfrm>
          <a:prstGeom prst="line">
            <a:avLst/>
          </a:prstGeom>
          <a:noFill/>
          <a:ln w="15875">
            <a:solidFill>
              <a:srgbClr val="38BDF8"/>
            </a:solidFill>
            <a:prstDash val="solid"/>
          </a:ln>
        </p:spPr>
      </p:sp>
      <p:sp>
        <p:nvSpPr>
          <p:cNvPr id="24" name="Shape 22"/>
          <p:cNvSpPr/>
          <p:nvPr/>
        </p:nvSpPr>
        <p:spPr>
          <a:xfrm>
            <a:off x="2363724" y="4388754"/>
            <a:ext cx="109728" cy="0"/>
          </a:xfrm>
          <a:prstGeom prst="line">
            <a:avLst/>
          </a:prstGeom>
          <a:noFill/>
          <a:ln w="15875">
            <a:solidFill>
              <a:srgbClr val="38BDF8"/>
            </a:solidFill>
            <a:prstDash val="solid"/>
          </a:ln>
        </p:spPr>
      </p:sp>
      <p:sp>
        <p:nvSpPr>
          <p:cNvPr id="25" name="Shape 23"/>
          <p:cNvSpPr/>
          <p:nvPr/>
        </p:nvSpPr>
        <p:spPr>
          <a:xfrm>
            <a:off x="2299716" y="3424428"/>
            <a:ext cx="237744" cy="237744"/>
          </a:xfrm>
          <a:prstGeom prst="ellipse">
            <a:avLst/>
          </a:prstGeom>
          <a:solidFill>
            <a:srgbClr val="0B1220"/>
          </a:solidFill>
          <a:ln w="28575">
            <a:solidFill>
              <a:srgbClr val="38BDF8"/>
            </a:solidFill>
            <a:prstDash val="solid"/>
          </a:ln>
        </p:spPr>
      </p:sp>
      <p:sp>
        <p:nvSpPr>
          <p:cNvPr id="26" name="Text 24"/>
          <p:cNvSpPr txBox="1"/>
          <p:nvPr/>
        </p:nvSpPr>
        <p:spPr>
          <a:xfrm>
            <a:off x="2601468" y="3314700"/>
            <a:ext cx="822960" cy="457200"/>
          </a:xfrm>
          <a:prstGeom prst="rect">
            <a:avLst/>
          </a:prstGeom>
          <a:noFill/>
          <a:ln/>
        </p:spPr>
        <p:txBody>
          <a:bodyPr wrap="square" lIns="0" tIns="0" rIns="0" bIns="0" rtlCol="0" anchor="t"/>
          <a:lstStyle/>
          <a:p>
            <a:pPr algn="l" indent="0" marL="0">
              <a:buNone/>
            </a:pPr>
            <a:r>
              <a:rPr lang="en-US" sz="1300" b="1" dirty="0">
                <a:solidFill>
                  <a:srgbClr val="38BDF8"/>
                </a:solidFill>
                <a:latin typeface="Arial" pitchFamily="34" charset="0"/>
                <a:ea typeface="Arial" pitchFamily="34" charset="-122"/>
                <a:cs typeface="Arial" pitchFamily="34" charset="-120"/>
              </a:rPr>
              <a:t>20/30</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4A</a:t>
            </a:r>
            <a:endParaRPr lang="en-US" sz="1300" dirty="0"/>
          </a:p>
        </p:txBody>
      </p:sp>
      <p:sp>
        <p:nvSpPr>
          <p:cNvPr id="27" name="Text 25"/>
          <p:cNvSpPr txBox="1"/>
          <p:nvPr/>
        </p:nvSpPr>
        <p:spPr>
          <a:xfrm>
            <a:off x="1188720" y="5230368"/>
            <a:ext cx="2011680" cy="566928"/>
          </a:xfrm>
          <a:prstGeom prst="rect">
            <a:avLst/>
          </a:prstGeom>
          <a:noFill/>
          <a:ln/>
        </p:spPr>
        <p:txBody>
          <a:bodyPr wrap="square" lIns="0" tIns="0" rIns="0" bIns="0" rtlCol="0" anchor="t"/>
          <a:lstStyle/>
          <a:p>
            <a:pPr algn="ctr" indent="0" marL="0">
              <a:buNone/>
            </a:pPr>
            <a:r>
              <a:rPr lang="en-US" sz="1500" b="1" dirty="0">
                <a:solidFill>
                  <a:srgbClr val="F1F5F9"/>
                </a:solidFill>
                <a:latin typeface="Arial" pitchFamily="34" charset="0"/>
                <a:ea typeface="Arial" pitchFamily="34" charset="-122"/>
                <a:cs typeface="Arial" pitchFamily="34" charset="-120"/>
              </a:rPr>
              <a:t>Global · paper config</a:t>
            </a:r>
            <a:endParaRPr lang="en-US" sz="1500" dirty="0"/>
          </a:p>
          <a:p>
            <a:pPr algn="ctr" indent="0" marL="0">
              <a:buNone/>
            </a:pPr>
            <a:r>
              <a:rPr lang="en-US" sz="1500" dirty="0">
                <a:solidFill>
                  <a:srgbClr val="6B7A93"/>
                </a:solidFill>
                <a:latin typeface="Arial" pitchFamily="34" charset="0"/>
                <a:ea typeface="Arial" pitchFamily="34" charset="-122"/>
                <a:cs typeface="Arial" pitchFamily="34" charset="-120"/>
              </a:rPr>
              <a:t>L5 · α 0.5 · β 0.1</a:t>
            </a:r>
            <a:endParaRPr lang="en-US" sz="1500" dirty="0"/>
          </a:p>
        </p:txBody>
      </p:sp>
      <p:sp>
        <p:nvSpPr>
          <p:cNvPr id="28" name="Shape 26"/>
          <p:cNvSpPr/>
          <p:nvPr/>
        </p:nvSpPr>
        <p:spPr>
          <a:xfrm>
            <a:off x="4041648" y="2756207"/>
            <a:ext cx="0" cy="1476390"/>
          </a:xfrm>
          <a:prstGeom prst="line">
            <a:avLst/>
          </a:prstGeom>
          <a:noFill/>
          <a:ln w="15875">
            <a:solidFill>
              <a:srgbClr val="38BDF8"/>
            </a:solidFill>
            <a:prstDash val="solid"/>
          </a:ln>
        </p:spPr>
      </p:sp>
      <p:sp>
        <p:nvSpPr>
          <p:cNvPr id="29" name="Shape 27"/>
          <p:cNvSpPr/>
          <p:nvPr/>
        </p:nvSpPr>
        <p:spPr>
          <a:xfrm>
            <a:off x="3986784" y="2756207"/>
            <a:ext cx="109728" cy="0"/>
          </a:xfrm>
          <a:prstGeom prst="line">
            <a:avLst/>
          </a:prstGeom>
          <a:noFill/>
          <a:ln w="15875">
            <a:solidFill>
              <a:srgbClr val="38BDF8"/>
            </a:solidFill>
            <a:prstDash val="solid"/>
          </a:ln>
        </p:spPr>
      </p:sp>
      <p:sp>
        <p:nvSpPr>
          <p:cNvPr id="30" name="Shape 28"/>
          <p:cNvSpPr/>
          <p:nvPr/>
        </p:nvSpPr>
        <p:spPr>
          <a:xfrm>
            <a:off x="3986784" y="4232598"/>
            <a:ext cx="109728" cy="0"/>
          </a:xfrm>
          <a:prstGeom prst="line">
            <a:avLst/>
          </a:prstGeom>
          <a:noFill/>
          <a:ln w="15875">
            <a:solidFill>
              <a:srgbClr val="38BDF8"/>
            </a:solidFill>
            <a:prstDash val="solid"/>
          </a:ln>
        </p:spPr>
      </p:sp>
      <p:sp>
        <p:nvSpPr>
          <p:cNvPr id="31" name="Shape 29"/>
          <p:cNvSpPr/>
          <p:nvPr/>
        </p:nvSpPr>
        <p:spPr>
          <a:xfrm>
            <a:off x="3922776" y="3266694"/>
            <a:ext cx="237744" cy="237744"/>
          </a:xfrm>
          <a:prstGeom prst="ellipse">
            <a:avLst/>
          </a:prstGeom>
          <a:solidFill>
            <a:srgbClr val="38BDF8"/>
          </a:solidFill>
          <a:ln w="9525">
            <a:solidFill>
              <a:srgbClr val="38BDF8"/>
            </a:solidFill>
            <a:prstDash val="solid"/>
          </a:ln>
        </p:spPr>
      </p:sp>
      <p:sp>
        <p:nvSpPr>
          <p:cNvPr id="32" name="Text 30"/>
          <p:cNvSpPr txBox="1"/>
          <p:nvPr/>
        </p:nvSpPr>
        <p:spPr>
          <a:xfrm>
            <a:off x="4224528" y="3156966"/>
            <a:ext cx="822960" cy="457200"/>
          </a:xfrm>
          <a:prstGeom prst="rect">
            <a:avLst/>
          </a:prstGeom>
          <a:noFill/>
          <a:ln/>
        </p:spPr>
        <p:txBody>
          <a:bodyPr wrap="square" lIns="0" tIns="0" rIns="0" bIns="0" rtlCol="0" anchor="t"/>
          <a:lstStyle/>
          <a:p>
            <a:pPr algn="l" indent="0" marL="0">
              <a:buNone/>
            </a:pPr>
            <a:r>
              <a:rPr lang="en-US" sz="1300" b="1" dirty="0">
                <a:solidFill>
                  <a:srgbClr val="38BDF8"/>
                </a:solidFill>
                <a:latin typeface="Arial" pitchFamily="34" charset="0"/>
                <a:ea typeface="Arial" pitchFamily="34" charset="-122"/>
                <a:cs typeface="Arial" pitchFamily="34" charset="-120"/>
              </a:rPr>
              <a:t>21/30</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5C</a:t>
            </a:r>
            <a:endParaRPr lang="en-US" sz="1300" dirty="0"/>
          </a:p>
        </p:txBody>
      </p:sp>
      <p:sp>
        <p:nvSpPr>
          <p:cNvPr id="33" name="Text 31"/>
          <p:cNvSpPr txBox="1"/>
          <p:nvPr/>
        </p:nvSpPr>
        <p:spPr>
          <a:xfrm>
            <a:off x="3291840" y="5230368"/>
            <a:ext cx="2011680" cy="566928"/>
          </a:xfrm>
          <a:prstGeom prst="rect">
            <a:avLst/>
          </a:prstGeom>
          <a:noFill/>
          <a:ln/>
        </p:spPr>
        <p:txBody>
          <a:bodyPr wrap="square" lIns="0" tIns="0" rIns="0" bIns="0" rtlCol="0" anchor="t"/>
          <a:lstStyle/>
          <a:p>
            <a:pPr algn="ctr" indent="0" marL="0">
              <a:buNone/>
            </a:pPr>
            <a:r>
              <a:rPr lang="en-US" sz="1500" b="1" dirty="0">
                <a:solidFill>
                  <a:srgbClr val="F1F5F9"/>
                </a:solidFill>
                <a:latin typeface="Arial" pitchFamily="34" charset="0"/>
                <a:ea typeface="Arial" pitchFamily="34" charset="-122"/>
                <a:cs typeface="Arial" pitchFamily="34" charset="-120"/>
              </a:rPr>
              <a:t>Global · oracle</a:t>
            </a:r>
            <a:endParaRPr lang="en-US" sz="1500" dirty="0"/>
          </a:p>
          <a:p>
            <a:pPr algn="ctr" indent="0" marL="0">
              <a:buNone/>
            </a:pPr>
            <a:r>
              <a:rPr lang="en-US" sz="1500" dirty="0">
                <a:solidFill>
                  <a:srgbClr val="6B7A93"/>
                </a:solidFill>
                <a:latin typeface="Arial" pitchFamily="34" charset="0"/>
                <a:ea typeface="Arial" pitchFamily="34" charset="-122"/>
                <a:cs typeface="Arial" pitchFamily="34" charset="-120"/>
              </a:rPr>
              <a:t>L11 · α 0.5 · β 0.3</a:t>
            </a:r>
            <a:endParaRPr lang="en-US" sz="1500" dirty="0"/>
          </a:p>
        </p:txBody>
      </p:sp>
      <p:sp>
        <p:nvSpPr>
          <p:cNvPr id="34" name="Shape 32"/>
          <p:cNvSpPr/>
          <p:nvPr/>
        </p:nvSpPr>
        <p:spPr>
          <a:xfrm>
            <a:off x="5184648" y="3002272"/>
            <a:ext cx="0" cy="1542639"/>
          </a:xfrm>
          <a:prstGeom prst="line">
            <a:avLst/>
          </a:prstGeom>
          <a:noFill/>
          <a:ln w="15875">
            <a:solidFill>
              <a:srgbClr val="A3AEC2"/>
            </a:solidFill>
            <a:prstDash val="solid"/>
          </a:ln>
        </p:spPr>
      </p:sp>
      <p:sp>
        <p:nvSpPr>
          <p:cNvPr id="35" name="Shape 33"/>
          <p:cNvSpPr/>
          <p:nvPr/>
        </p:nvSpPr>
        <p:spPr>
          <a:xfrm>
            <a:off x="5129784" y="3002272"/>
            <a:ext cx="109728" cy="0"/>
          </a:xfrm>
          <a:prstGeom prst="line">
            <a:avLst/>
          </a:prstGeom>
          <a:noFill/>
          <a:ln w="15875">
            <a:solidFill>
              <a:srgbClr val="A3AEC2"/>
            </a:solidFill>
            <a:prstDash val="solid"/>
          </a:ln>
        </p:spPr>
      </p:sp>
      <p:sp>
        <p:nvSpPr>
          <p:cNvPr id="36" name="Shape 34"/>
          <p:cNvSpPr/>
          <p:nvPr/>
        </p:nvSpPr>
        <p:spPr>
          <a:xfrm>
            <a:off x="5129784" y="4544911"/>
            <a:ext cx="109728" cy="0"/>
          </a:xfrm>
          <a:prstGeom prst="line">
            <a:avLst/>
          </a:prstGeom>
          <a:noFill/>
          <a:ln w="15875">
            <a:solidFill>
              <a:srgbClr val="A3AEC2"/>
            </a:solidFill>
            <a:prstDash val="solid"/>
          </a:ln>
        </p:spPr>
      </p:sp>
      <p:sp>
        <p:nvSpPr>
          <p:cNvPr id="37" name="Shape 35"/>
          <p:cNvSpPr/>
          <p:nvPr/>
        </p:nvSpPr>
        <p:spPr>
          <a:xfrm>
            <a:off x="5065776" y="3582162"/>
            <a:ext cx="237744" cy="237744"/>
          </a:xfrm>
          <a:prstGeom prst="ellipse">
            <a:avLst/>
          </a:prstGeom>
          <a:solidFill>
            <a:srgbClr val="A3AEC2"/>
          </a:solidFill>
          <a:ln w="9525">
            <a:solidFill>
              <a:srgbClr val="A3AEC2"/>
            </a:solidFill>
            <a:prstDash val="solid"/>
          </a:ln>
        </p:spPr>
      </p:sp>
      <p:sp>
        <p:nvSpPr>
          <p:cNvPr id="38" name="Text 36"/>
          <p:cNvSpPr txBox="1"/>
          <p:nvPr/>
        </p:nvSpPr>
        <p:spPr>
          <a:xfrm>
            <a:off x="5367528" y="3472434"/>
            <a:ext cx="822960" cy="457200"/>
          </a:xfrm>
          <a:prstGeom prst="rect">
            <a:avLst/>
          </a:prstGeom>
          <a:noFill/>
          <a:ln/>
        </p:spPr>
        <p:txBody>
          <a:bodyPr wrap="square" lIns="0" tIns="0" rIns="0" bIns="0" rtlCol="0" anchor="t"/>
          <a:lstStyle/>
          <a:p>
            <a:pPr algn="l" indent="0" marL="0">
              <a:buNone/>
            </a:pPr>
            <a:r>
              <a:rPr lang="en-US" sz="1300" b="1" dirty="0">
                <a:solidFill>
                  <a:srgbClr val="A3AEC2"/>
                </a:solidFill>
                <a:latin typeface="Arial" pitchFamily="34" charset="0"/>
                <a:ea typeface="Arial" pitchFamily="34" charset="-122"/>
                <a:cs typeface="Arial" pitchFamily="34" charset="-120"/>
              </a:rPr>
              <a:t>19/30</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5A</a:t>
            </a:r>
            <a:endParaRPr lang="en-US" sz="1300" dirty="0"/>
          </a:p>
        </p:txBody>
      </p:sp>
      <p:sp>
        <p:nvSpPr>
          <p:cNvPr id="39" name="Shape 37"/>
          <p:cNvSpPr/>
          <p:nvPr/>
        </p:nvSpPr>
        <p:spPr>
          <a:xfrm>
            <a:off x="6144768" y="2756207"/>
            <a:ext cx="0" cy="1476390"/>
          </a:xfrm>
          <a:prstGeom prst="line">
            <a:avLst/>
          </a:prstGeom>
          <a:noFill/>
          <a:ln w="15875">
            <a:solidFill>
              <a:srgbClr val="A3AEC2"/>
            </a:solidFill>
            <a:prstDash val="solid"/>
          </a:ln>
        </p:spPr>
      </p:sp>
      <p:sp>
        <p:nvSpPr>
          <p:cNvPr id="40" name="Shape 38"/>
          <p:cNvSpPr/>
          <p:nvPr/>
        </p:nvSpPr>
        <p:spPr>
          <a:xfrm>
            <a:off x="6089904" y="2756207"/>
            <a:ext cx="109728" cy="0"/>
          </a:xfrm>
          <a:prstGeom prst="line">
            <a:avLst/>
          </a:prstGeom>
          <a:noFill/>
          <a:ln w="15875">
            <a:solidFill>
              <a:srgbClr val="A3AEC2"/>
            </a:solidFill>
            <a:prstDash val="solid"/>
          </a:ln>
        </p:spPr>
      </p:sp>
      <p:sp>
        <p:nvSpPr>
          <p:cNvPr id="41" name="Shape 39"/>
          <p:cNvSpPr/>
          <p:nvPr/>
        </p:nvSpPr>
        <p:spPr>
          <a:xfrm>
            <a:off x="6089904" y="4232598"/>
            <a:ext cx="109728" cy="0"/>
          </a:xfrm>
          <a:prstGeom prst="line">
            <a:avLst/>
          </a:prstGeom>
          <a:noFill/>
          <a:ln w="15875">
            <a:solidFill>
              <a:srgbClr val="A3AEC2"/>
            </a:solidFill>
            <a:prstDash val="solid"/>
          </a:ln>
        </p:spPr>
      </p:sp>
      <p:sp>
        <p:nvSpPr>
          <p:cNvPr id="42" name="Shape 40"/>
          <p:cNvSpPr/>
          <p:nvPr/>
        </p:nvSpPr>
        <p:spPr>
          <a:xfrm>
            <a:off x="6025896" y="3266694"/>
            <a:ext cx="237744" cy="237744"/>
          </a:xfrm>
          <a:prstGeom prst="ellipse">
            <a:avLst/>
          </a:prstGeom>
          <a:solidFill>
            <a:srgbClr val="0B1220"/>
          </a:solidFill>
          <a:ln w="28575">
            <a:solidFill>
              <a:srgbClr val="A3AEC2"/>
            </a:solidFill>
            <a:prstDash val="solid"/>
          </a:ln>
        </p:spPr>
      </p:sp>
      <p:sp>
        <p:nvSpPr>
          <p:cNvPr id="43" name="Text 41"/>
          <p:cNvSpPr txBox="1"/>
          <p:nvPr/>
        </p:nvSpPr>
        <p:spPr>
          <a:xfrm>
            <a:off x="6327648" y="3156966"/>
            <a:ext cx="822960" cy="457200"/>
          </a:xfrm>
          <a:prstGeom prst="rect">
            <a:avLst/>
          </a:prstGeom>
          <a:noFill/>
          <a:ln/>
        </p:spPr>
        <p:txBody>
          <a:bodyPr wrap="square" lIns="0" tIns="0" rIns="0" bIns="0" rtlCol="0" anchor="t"/>
          <a:lstStyle/>
          <a:p>
            <a:pPr algn="l" indent="0" marL="0">
              <a:buNone/>
            </a:pPr>
            <a:r>
              <a:rPr lang="en-US" sz="1300" b="1" dirty="0">
                <a:solidFill>
                  <a:srgbClr val="A3AEC2"/>
                </a:solidFill>
                <a:latin typeface="Arial" pitchFamily="34" charset="0"/>
                <a:ea typeface="Arial" pitchFamily="34" charset="-122"/>
                <a:cs typeface="Arial" pitchFamily="34" charset="-120"/>
              </a:rPr>
              <a:t>21/30</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4A</a:t>
            </a:r>
            <a:endParaRPr lang="en-US" sz="1300" dirty="0"/>
          </a:p>
        </p:txBody>
      </p:sp>
      <p:sp>
        <p:nvSpPr>
          <p:cNvPr id="44" name="Shape 42"/>
          <p:cNvSpPr/>
          <p:nvPr/>
        </p:nvSpPr>
        <p:spPr>
          <a:xfrm>
            <a:off x="7104888" y="3262533"/>
            <a:ext cx="0" cy="1580495"/>
          </a:xfrm>
          <a:prstGeom prst="line">
            <a:avLst/>
          </a:prstGeom>
          <a:noFill/>
          <a:ln w="15875">
            <a:solidFill>
              <a:srgbClr val="A3AEC2"/>
            </a:solidFill>
            <a:prstDash val="solid"/>
          </a:ln>
        </p:spPr>
      </p:sp>
      <p:sp>
        <p:nvSpPr>
          <p:cNvPr id="45" name="Shape 43"/>
          <p:cNvSpPr/>
          <p:nvPr/>
        </p:nvSpPr>
        <p:spPr>
          <a:xfrm>
            <a:off x="7050024" y="3262533"/>
            <a:ext cx="109728" cy="0"/>
          </a:xfrm>
          <a:prstGeom prst="line">
            <a:avLst/>
          </a:prstGeom>
          <a:noFill/>
          <a:ln w="15875">
            <a:solidFill>
              <a:srgbClr val="A3AEC2"/>
            </a:solidFill>
            <a:prstDash val="solid"/>
          </a:ln>
        </p:spPr>
      </p:sp>
      <p:sp>
        <p:nvSpPr>
          <p:cNvPr id="46" name="Shape 44"/>
          <p:cNvSpPr/>
          <p:nvPr/>
        </p:nvSpPr>
        <p:spPr>
          <a:xfrm>
            <a:off x="7050024" y="4843028"/>
            <a:ext cx="109728" cy="0"/>
          </a:xfrm>
          <a:prstGeom prst="line">
            <a:avLst/>
          </a:prstGeom>
          <a:noFill/>
          <a:ln w="15875">
            <a:solidFill>
              <a:srgbClr val="A3AEC2"/>
            </a:solidFill>
            <a:prstDash val="solid"/>
          </a:ln>
        </p:spPr>
      </p:sp>
      <p:sp>
        <p:nvSpPr>
          <p:cNvPr id="47" name="Shape 45"/>
          <p:cNvSpPr/>
          <p:nvPr/>
        </p:nvSpPr>
        <p:spPr>
          <a:xfrm>
            <a:off x="6986016" y="3897630"/>
            <a:ext cx="237744" cy="237744"/>
          </a:xfrm>
          <a:prstGeom prst="ellipse">
            <a:avLst/>
          </a:prstGeom>
          <a:solidFill>
            <a:srgbClr val="A3AEC2"/>
          </a:solidFill>
          <a:ln w="9525">
            <a:solidFill>
              <a:srgbClr val="A3AEC2"/>
            </a:solidFill>
            <a:prstDash val="solid"/>
          </a:ln>
        </p:spPr>
      </p:sp>
      <p:sp>
        <p:nvSpPr>
          <p:cNvPr id="48" name="Text 46"/>
          <p:cNvSpPr txBox="1"/>
          <p:nvPr/>
        </p:nvSpPr>
        <p:spPr>
          <a:xfrm>
            <a:off x="7287768" y="3787902"/>
            <a:ext cx="822960" cy="457200"/>
          </a:xfrm>
          <a:prstGeom prst="rect">
            <a:avLst/>
          </a:prstGeom>
          <a:noFill/>
          <a:ln/>
        </p:spPr>
        <p:txBody>
          <a:bodyPr wrap="square" lIns="0" tIns="0" rIns="0" bIns="0" rtlCol="0" anchor="t"/>
          <a:lstStyle/>
          <a:p>
            <a:pPr algn="l" indent="0" marL="0">
              <a:buNone/>
            </a:pPr>
            <a:r>
              <a:rPr lang="en-US" sz="1300" b="1" dirty="0">
                <a:solidFill>
                  <a:srgbClr val="A3AEC2"/>
                </a:solidFill>
                <a:latin typeface="Arial" pitchFamily="34" charset="0"/>
                <a:ea typeface="Arial" pitchFamily="34" charset="-122"/>
                <a:cs typeface="Arial" pitchFamily="34" charset="-120"/>
              </a:rPr>
              <a:t>17/30</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5C</a:t>
            </a:r>
            <a:endParaRPr lang="en-US" sz="1300" dirty="0"/>
          </a:p>
        </p:txBody>
      </p:sp>
      <p:sp>
        <p:nvSpPr>
          <p:cNvPr id="49" name="Text 47"/>
          <p:cNvSpPr txBox="1"/>
          <p:nvPr/>
        </p:nvSpPr>
        <p:spPr>
          <a:xfrm>
            <a:off x="5394960" y="5230368"/>
            <a:ext cx="2011680" cy="566928"/>
          </a:xfrm>
          <a:prstGeom prst="rect">
            <a:avLst/>
          </a:prstGeom>
          <a:noFill/>
          <a:ln/>
        </p:spPr>
        <p:txBody>
          <a:bodyPr wrap="square" lIns="0" tIns="0" rIns="0" bIns="0" rtlCol="0" anchor="t"/>
          <a:lstStyle/>
          <a:p>
            <a:pPr algn="ctr" indent="0" marL="0">
              <a:buNone/>
            </a:pPr>
            <a:r>
              <a:rPr lang="en-US" sz="1500" b="1" dirty="0">
                <a:solidFill>
                  <a:srgbClr val="F1F5F9"/>
                </a:solidFill>
                <a:latin typeface="Arial" pitchFamily="34" charset="0"/>
                <a:ea typeface="Arial" pitchFamily="34" charset="-122"/>
                <a:cs typeface="Arial" pitchFamily="34" charset="-120"/>
              </a:rPr>
              <a:t>Unsteered baseline</a:t>
            </a:r>
            <a:endParaRPr lang="en-US" sz="1500" dirty="0"/>
          </a:p>
          <a:p>
            <a:pPr algn="ctr" indent="0" marL="0">
              <a:buNone/>
            </a:pPr>
            <a:r>
              <a:rPr lang="en-US" sz="1500" dirty="0">
                <a:solidFill>
                  <a:srgbClr val="6B7A93"/>
                </a:solidFill>
                <a:latin typeface="Arial" pitchFamily="34" charset="0"/>
                <a:ea typeface="Arial" pitchFamily="34" charset="-122"/>
                <a:cs typeface="Arial" pitchFamily="34" charset="-120"/>
              </a:rPr>
              <a:t>same states</a:t>
            </a:r>
            <a:endParaRPr lang="en-US" sz="1500" dirty="0"/>
          </a:p>
        </p:txBody>
      </p:sp>
      <p:sp>
        <p:nvSpPr>
          <p:cNvPr id="50" name="Shape 48"/>
          <p:cNvSpPr/>
          <p:nvPr/>
        </p:nvSpPr>
        <p:spPr>
          <a:xfrm>
            <a:off x="598932" y="1239012"/>
            <a:ext cx="155448" cy="155448"/>
          </a:xfrm>
          <a:prstGeom prst="ellipse">
            <a:avLst/>
          </a:prstGeom>
          <a:solidFill>
            <a:srgbClr val="A7B4C8"/>
          </a:solidFill>
          <a:ln w="9525">
            <a:solidFill>
              <a:srgbClr val="A7B4C8"/>
            </a:solidFill>
            <a:prstDash val="solid"/>
          </a:ln>
        </p:spPr>
      </p:sp>
      <p:sp>
        <p:nvSpPr>
          <p:cNvPr id="51" name="Text 49"/>
          <p:cNvSpPr txBox="1"/>
          <p:nvPr/>
        </p:nvSpPr>
        <p:spPr>
          <a:xfrm>
            <a:off x="850392" y="118872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released default, unseeded</a:t>
            </a:r>
            <a:endParaRPr lang="en-US" sz="1300" dirty="0"/>
          </a:p>
        </p:txBody>
      </p:sp>
      <p:sp>
        <p:nvSpPr>
          <p:cNvPr id="52" name="Shape 50"/>
          <p:cNvSpPr/>
          <p:nvPr/>
        </p:nvSpPr>
        <p:spPr>
          <a:xfrm>
            <a:off x="3250692" y="1239012"/>
            <a:ext cx="155448" cy="155448"/>
          </a:xfrm>
          <a:prstGeom prst="ellipse">
            <a:avLst/>
          </a:prstGeom>
          <a:solidFill>
            <a:srgbClr val="0B1220"/>
          </a:solidFill>
          <a:ln w="25400">
            <a:solidFill>
              <a:srgbClr val="A7B4C8"/>
            </a:solidFill>
            <a:prstDash val="solid"/>
          </a:ln>
        </p:spPr>
      </p:sp>
      <p:sp>
        <p:nvSpPr>
          <p:cNvPr id="53" name="Text 51"/>
          <p:cNvSpPr txBox="1"/>
          <p:nvPr/>
        </p:nvSpPr>
        <p:spPr>
          <a:xfrm>
            <a:off x="3502152" y="118872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paired noise, seed 100 (Phase 4A)</a:t>
            </a:r>
            <a:endParaRPr lang="en-US" sz="1300" dirty="0"/>
          </a:p>
        </p:txBody>
      </p:sp>
      <p:sp>
        <p:nvSpPr>
          <p:cNvPr id="54" name="Text 52"/>
          <p:cNvSpPr txBox="1"/>
          <p:nvPr/>
        </p:nvSpPr>
        <p:spPr>
          <a:xfrm>
            <a:off x="8092440" y="1417320"/>
            <a:ext cx="3550615" cy="868680"/>
          </a:xfrm>
          <a:prstGeom prst="rect">
            <a:avLst/>
          </a:prstGeom>
          <a:noFill/>
          <a:ln/>
        </p:spPr>
        <p:txBody>
          <a:bodyPr wrap="square" lIns="0" tIns="0" rIns="0" bIns="0" rtlCol="0" anchor="t"/>
          <a:lstStyle/>
          <a:p>
            <a:pPr algn="l" indent="0" marL="0">
              <a:buNone/>
            </a:pPr>
            <a:r>
              <a:rPr lang="en-US" sz="2400" b="1" dirty="0">
                <a:solidFill>
                  <a:srgbClr val="38BDF8"/>
                </a:solidFill>
                <a:latin typeface="Arial" pitchFamily="34" charset="0"/>
                <a:ea typeface="Arial" pitchFamily="34" charset="-122"/>
                <a:cs typeface="Arial" pitchFamily="34" charset="-120"/>
              </a:rPr>
              <a:t>Oracle selection did not close the gap.</a:t>
            </a:r>
            <a:endParaRPr lang="en-US" sz="2400" dirty="0"/>
          </a:p>
        </p:txBody>
      </p:sp>
      <p:sp>
        <p:nvSpPr>
          <p:cNvPr id="55" name="Text 53"/>
          <p:cNvSpPr txBox="1"/>
          <p:nvPr/>
        </p:nvSpPr>
        <p:spPr>
          <a:xfrm>
            <a:off x="8092440" y="2423160"/>
            <a:ext cx="3550615" cy="3383280"/>
          </a:xfrm>
          <a:prstGeom prst="rect">
            <a:avLst/>
          </a:prstGeom>
          <a:noFill/>
          <a:ln/>
        </p:spPr>
        <p:txBody>
          <a:bodyPr wrap="square" lIns="0" tIns="0" rIns="0" bIns="0" rtlCol="0" anchor="t"/>
          <a:lstStyle/>
          <a:p>
            <a:pPr algn="l" marL="177800" indent="-177800">
              <a:spcAft>
                <a:spcPts val="900"/>
              </a:spcAft>
              <a:buSzPct val="100000"/>
              <a:buChar char="•"/>
            </a:pPr>
            <a:r>
              <a:rPr lang="en-US" sz="1500" dirty="0">
                <a:solidFill>
                  <a:srgbClr val="A7B4C8"/>
                </a:solidFill>
                <a:latin typeface="Arial" pitchFamily="34" charset="0"/>
                <a:ea typeface="Arial" pitchFamily="34" charset="-122"/>
                <a:cs typeface="Arial" pitchFamily="34" charset="-120"/>
              </a:rPr>
              <a:t>Global runs 19, 20, 21 of 30 → pooled </a:t>
            </a:r>
            <a:pPr algn="l" marL="177800" indent="-177800">
              <a:spcAft>
                <a:spcPts val="900"/>
              </a:spcAft>
              <a:buSzPct val="100000"/>
              <a:buChar char="•"/>
            </a:pPr>
            <a:r>
              <a:rPr lang="en-US" sz="1500" b="1" dirty="0">
                <a:solidFill>
                  <a:srgbClr val="A7B4C8"/>
                </a:solidFill>
                <a:latin typeface="Arial" pitchFamily="34" charset="0"/>
                <a:ea typeface="Arial" pitchFamily="34" charset="-122"/>
                <a:cs typeface="Arial" pitchFamily="34" charset="-120"/>
              </a:rPr>
              <a:t>60/90</a:t>
            </a:r>
            <a:endParaRPr lang="en-US" sz="1500" dirty="0"/>
          </a:p>
          <a:p>
            <a:pPr algn="l" marL="177800" indent="-177800">
              <a:spcAft>
                <a:spcPts val="900"/>
              </a:spcAft>
              <a:buSzPct val="100000"/>
              <a:buChar char="•"/>
            </a:pPr>
            <a:r>
              <a:rPr lang="en-US" sz="1500" dirty="0">
                <a:solidFill>
                  <a:srgbClr val="A7B4C8"/>
                </a:solidFill>
                <a:latin typeface="Arial" pitchFamily="34" charset="0"/>
                <a:ea typeface="Arial" pitchFamily="34" charset="-122"/>
                <a:cs typeface="Arial" pitchFamily="34" charset="-120"/>
              </a:rPr>
              <a:t>Unsteered runs 19, 21, 17 of 30 → pooled </a:t>
            </a:r>
            <a:pPr algn="l" marL="177800" indent="-177800">
              <a:spcAft>
                <a:spcPts val="900"/>
              </a:spcAft>
              <a:buSzPct val="100000"/>
              <a:buChar char="•"/>
            </a:pPr>
            <a:r>
              <a:rPr lang="en-US" sz="1500" b="1" dirty="0">
                <a:solidFill>
                  <a:srgbClr val="A7B4C8"/>
                </a:solidFill>
                <a:latin typeface="Arial" pitchFamily="34" charset="0"/>
                <a:ea typeface="Arial" pitchFamily="34" charset="-122"/>
                <a:cs typeface="Arial" pitchFamily="34" charset="-120"/>
              </a:rPr>
              <a:t>57/90</a:t>
            </a:r>
            <a:endParaRPr lang="en-US" sz="1500" dirty="0"/>
          </a:p>
          <a:p>
            <a:pPr algn="l" marL="177800" indent="-177800">
              <a:spcAft>
                <a:spcPts val="900"/>
              </a:spcAft>
              <a:buSzPct val="100000"/>
              <a:buChar char="•"/>
            </a:pPr>
            <a:r>
              <a:rPr lang="en-US" sz="1500" dirty="0">
                <a:solidFill>
                  <a:srgbClr val="A7B4C8"/>
                </a:solidFill>
                <a:latin typeface="Arial" pitchFamily="34" charset="0"/>
                <a:ea typeface="Arial" pitchFamily="34" charset="-122"/>
                <a:cs typeface="Arial" pitchFamily="34" charset="-120"/>
              </a:rPr>
              <a:t>vs 28/30: Fisher p = 0.010 (5A), 0.042 (5C) </a:t>
            </a:r>
            <a:pPr algn="l" marL="177800" indent="-177800">
              <a:spcAft>
                <a:spcPts val="900"/>
              </a:spcAft>
              <a:buSzPct val="100000"/>
              <a:buChar char="•"/>
            </a:pPr>
            <a:r>
              <a:rPr lang="en-US" sz="1500" dirty="0">
                <a:solidFill>
                  <a:srgbClr val="6B7A93"/>
                </a:solidFill>
                <a:latin typeface="Arial" pitchFamily="34" charset="0"/>
                <a:ea typeface="Arial" pitchFamily="34" charset="-122"/>
                <a:cs typeface="Arial" pitchFamily="34" charset="-120"/>
              </a:rPr>
              <a:t>— reference only, paper states unknown</a:t>
            </a:r>
            <a:endParaRPr lang="en-US" sz="1500" dirty="0"/>
          </a:p>
          <a:p>
            <a:pPr algn="l" marL="177800" indent="-177800">
              <a:spcAft>
                <a:spcPts val="900"/>
              </a:spcAft>
              <a:buSzPct val="100000"/>
              <a:buChar char="•"/>
            </a:pPr>
            <a:r>
              <a:rPr lang="en-US" sz="1500" dirty="0">
                <a:solidFill>
                  <a:srgbClr val="A7B4C8"/>
                </a:solidFill>
                <a:latin typeface="Arial" pitchFamily="34" charset="0"/>
                <a:ea typeface="Arial" pitchFamily="34" charset="-122"/>
                <a:cs typeface="Arial" pitchFamily="34" charset="-120"/>
              </a:rPr>
              <a:t>Other 5C oracles: positive-only 17/30 (paper 24/30) · per-step 15/30 at α = 1 (paper 26/30 at α = 10, not like-for-like)</a:t>
            </a:r>
            <a:endParaRPr lang="en-US" sz="1500" dirty="0"/>
          </a:p>
        </p:txBody>
      </p:sp>
      <p:sp>
        <p:nvSpPr>
          <p:cNvPr id="56" name="Text 54"/>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phase5a_ks3_episode_results.csv · phase4a_episode_results.csv (set S) · phase5c_test_episode_results.csv · released main, V0 builder</a:t>
            </a:r>
            <a:endParaRPr lang="en-US" sz="1000" dirty="0"/>
          </a:p>
        </p:txBody>
      </p:sp>
      <p:sp>
        <p:nvSpPr>
          <p:cNvPr id="57" name="Text 55"/>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58" name="Text 56"/>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7 / 21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STOCHASTICITY</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The unsteered policy alone moves by ±3 of 15</a:t>
            </a:r>
            <a:endParaRPr lang="en-US" sz="3000" dirty="0"/>
          </a:p>
        </p:txBody>
      </p:sp>
      <p:sp>
        <p:nvSpPr>
          <p:cNvPr id="4" name="Shape 2"/>
          <p:cNvSpPr/>
          <p:nvPr/>
        </p:nvSpPr>
        <p:spPr>
          <a:xfrm>
            <a:off x="2743200" y="1828800"/>
            <a:ext cx="0" cy="3145536"/>
          </a:xfrm>
          <a:prstGeom prst="line">
            <a:avLst/>
          </a:prstGeom>
          <a:noFill/>
          <a:ln w="9525">
            <a:solidFill>
              <a:srgbClr val="22314A"/>
            </a:solidFill>
            <a:prstDash val="solid"/>
          </a:ln>
        </p:spPr>
      </p:sp>
      <p:sp>
        <p:nvSpPr>
          <p:cNvPr id="5" name="Text 3"/>
          <p:cNvSpPr txBox="1"/>
          <p:nvPr/>
        </p:nvSpPr>
        <p:spPr>
          <a:xfrm>
            <a:off x="2468880" y="5020056"/>
            <a:ext cx="548640" cy="237744"/>
          </a:xfrm>
          <a:prstGeom prst="rect">
            <a:avLst/>
          </a:prstGeom>
          <a:noFill/>
          <a:ln/>
        </p:spPr>
        <p:txBody>
          <a:bodyPr wrap="square" lIns="0" tIns="0" rIns="0" bIns="0" rtlCol="0" anchor="t"/>
          <a:lstStyle/>
          <a:p>
            <a:pPr algn="ctr" indent="0" marL="0">
              <a:buNone/>
            </a:pPr>
            <a:r>
              <a:rPr lang="en-US" sz="1300" dirty="0">
                <a:solidFill>
                  <a:srgbClr val="6B7A93"/>
                </a:solidFill>
                <a:latin typeface="Arial" pitchFamily="34" charset="0"/>
                <a:ea typeface="Arial" pitchFamily="34" charset="-122"/>
                <a:cs typeface="Arial" pitchFamily="34" charset="-120"/>
              </a:rPr>
              <a:t>0.00</a:t>
            </a:r>
            <a:endParaRPr lang="en-US" sz="1300" dirty="0"/>
          </a:p>
        </p:txBody>
      </p:sp>
      <p:sp>
        <p:nvSpPr>
          <p:cNvPr id="6" name="Shape 4"/>
          <p:cNvSpPr/>
          <p:nvPr/>
        </p:nvSpPr>
        <p:spPr>
          <a:xfrm>
            <a:off x="3954780" y="1828800"/>
            <a:ext cx="0" cy="3145536"/>
          </a:xfrm>
          <a:prstGeom prst="line">
            <a:avLst/>
          </a:prstGeom>
          <a:noFill/>
          <a:ln w="9525">
            <a:solidFill>
              <a:srgbClr val="22314A"/>
            </a:solidFill>
            <a:prstDash val="solid"/>
          </a:ln>
        </p:spPr>
      </p:sp>
      <p:sp>
        <p:nvSpPr>
          <p:cNvPr id="7" name="Text 5"/>
          <p:cNvSpPr txBox="1"/>
          <p:nvPr/>
        </p:nvSpPr>
        <p:spPr>
          <a:xfrm>
            <a:off x="3680460" y="5020056"/>
            <a:ext cx="548640" cy="237744"/>
          </a:xfrm>
          <a:prstGeom prst="rect">
            <a:avLst/>
          </a:prstGeom>
          <a:noFill/>
          <a:ln/>
        </p:spPr>
        <p:txBody>
          <a:bodyPr wrap="square" lIns="0" tIns="0" rIns="0" bIns="0" rtlCol="0" anchor="t"/>
          <a:lstStyle/>
          <a:p>
            <a:pPr algn="ctr" indent="0" marL="0">
              <a:buNone/>
            </a:pPr>
            <a:r>
              <a:rPr lang="en-US" sz="1300" dirty="0">
                <a:solidFill>
                  <a:srgbClr val="6B7A93"/>
                </a:solidFill>
                <a:latin typeface="Arial" pitchFamily="34" charset="0"/>
                <a:ea typeface="Arial" pitchFamily="34" charset="-122"/>
                <a:cs typeface="Arial" pitchFamily="34" charset="-120"/>
              </a:rPr>
              <a:t>0.25</a:t>
            </a:r>
            <a:endParaRPr lang="en-US" sz="1300" dirty="0"/>
          </a:p>
        </p:txBody>
      </p:sp>
      <p:sp>
        <p:nvSpPr>
          <p:cNvPr id="8" name="Shape 6"/>
          <p:cNvSpPr/>
          <p:nvPr/>
        </p:nvSpPr>
        <p:spPr>
          <a:xfrm>
            <a:off x="5166360" y="1828800"/>
            <a:ext cx="0" cy="3145536"/>
          </a:xfrm>
          <a:prstGeom prst="line">
            <a:avLst/>
          </a:prstGeom>
          <a:noFill/>
          <a:ln w="9525">
            <a:solidFill>
              <a:srgbClr val="22314A"/>
            </a:solidFill>
            <a:prstDash val="solid"/>
          </a:ln>
        </p:spPr>
      </p:sp>
      <p:sp>
        <p:nvSpPr>
          <p:cNvPr id="9" name="Text 7"/>
          <p:cNvSpPr txBox="1"/>
          <p:nvPr/>
        </p:nvSpPr>
        <p:spPr>
          <a:xfrm>
            <a:off x="4892040" y="5020056"/>
            <a:ext cx="548640" cy="237744"/>
          </a:xfrm>
          <a:prstGeom prst="rect">
            <a:avLst/>
          </a:prstGeom>
          <a:noFill/>
          <a:ln/>
        </p:spPr>
        <p:txBody>
          <a:bodyPr wrap="square" lIns="0" tIns="0" rIns="0" bIns="0" rtlCol="0" anchor="t"/>
          <a:lstStyle/>
          <a:p>
            <a:pPr algn="ctr" indent="0" marL="0">
              <a:buNone/>
            </a:pPr>
            <a:r>
              <a:rPr lang="en-US" sz="1300" dirty="0">
                <a:solidFill>
                  <a:srgbClr val="6B7A93"/>
                </a:solidFill>
                <a:latin typeface="Arial" pitchFamily="34" charset="0"/>
                <a:ea typeface="Arial" pitchFamily="34" charset="-122"/>
                <a:cs typeface="Arial" pitchFamily="34" charset="-120"/>
              </a:rPr>
              <a:t>0.50</a:t>
            </a:r>
            <a:endParaRPr lang="en-US" sz="1300" dirty="0"/>
          </a:p>
        </p:txBody>
      </p:sp>
      <p:sp>
        <p:nvSpPr>
          <p:cNvPr id="10" name="Shape 8"/>
          <p:cNvSpPr/>
          <p:nvPr/>
        </p:nvSpPr>
        <p:spPr>
          <a:xfrm>
            <a:off x="6377940" y="1828800"/>
            <a:ext cx="0" cy="3145536"/>
          </a:xfrm>
          <a:prstGeom prst="line">
            <a:avLst/>
          </a:prstGeom>
          <a:noFill/>
          <a:ln w="9525">
            <a:solidFill>
              <a:srgbClr val="22314A"/>
            </a:solidFill>
            <a:prstDash val="solid"/>
          </a:ln>
        </p:spPr>
      </p:sp>
      <p:sp>
        <p:nvSpPr>
          <p:cNvPr id="11" name="Text 9"/>
          <p:cNvSpPr txBox="1"/>
          <p:nvPr/>
        </p:nvSpPr>
        <p:spPr>
          <a:xfrm>
            <a:off x="6103620" y="5020056"/>
            <a:ext cx="548640" cy="237744"/>
          </a:xfrm>
          <a:prstGeom prst="rect">
            <a:avLst/>
          </a:prstGeom>
          <a:noFill/>
          <a:ln/>
        </p:spPr>
        <p:txBody>
          <a:bodyPr wrap="square" lIns="0" tIns="0" rIns="0" bIns="0" rtlCol="0" anchor="t"/>
          <a:lstStyle/>
          <a:p>
            <a:pPr algn="ctr" indent="0" marL="0">
              <a:buNone/>
            </a:pPr>
            <a:r>
              <a:rPr lang="en-US" sz="1300" dirty="0">
                <a:solidFill>
                  <a:srgbClr val="6B7A93"/>
                </a:solidFill>
                <a:latin typeface="Arial" pitchFamily="34" charset="0"/>
                <a:ea typeface="Arial" pitchFamily="34" charset="-122"/>
                <a:cs typeface="Arial" pitchFamily="34" charset="-120"/>
              </a:rPr>
              <a:t>0.75</a:t>
            </a:r>
            <a:endParaRPr lang="en-US" sz="1300" dirty="0"/>
          </a:p>
        </p:txBody>
      </p:sp>
      <p:sp>
        <p:nvSpPr>
          <p:cNvPr id="12" name="Shape 10"/>
          <p:cNvSpPr/>
          <p:nvPr/>
        </p:nvSpPr>
        <p:spPr>
          <a:xfrm>
            <a:off x="7589520" y="1828800"/>
            <a:ext cx="0" cy="3145536"/>
          </a:xfrm>
          <a:prstGeom prst="line">
            <a:avLst/>
          </a:prstGeom>
          <a:noFill/>
          <a:ln w="9525">
            <a:solidFill>
              <a:srgbClr val="22314A"/>
            </a:solidFill>
            <a:prstDash val="solid"/>
          </a:ln>
        </p:spPr>
      </p:sp>
      <p:sp>
        <p:nvSpPr>
          <p:cNvPr id="13" name="Text 11"/>
          <p:cNvSpPr txBox="1"/>
          <p:nvPr/>
        </p:nvSpPr>
        <p:spPr>
          <a:xfrm>
            <a:off x="7315200" y="5020056"/>
            <a:ext cx="548640" cy="237744"/>
          </a:xfrm>
          <a:prstGeom prst="rect">
            <a:avLst/>
          </a:prstGeom>
          <a:noFill/>
          <a:ln/>
        </p:spPr>
        <p:txBody>
          <a:bodyPr wrap="square" lIns="0" tIns="0" rIns="0" bIns="0" rtlCol="0" anchor="t"/>
          <a:lstStyle/>
          <a:p>
            <a:pPr algn="ctr" indent="0" marL="0">
              <a:buNone/>
            </a:pPr>
            <a:r>
              <a:rPr lang="en-US" sz="1300" dirty="0">
                <a:solidFill>
                  <a:srgbClr val="6B7A93"/>
                </a:solidFill>
                <a:latin typeface="Arial" pitchFamily="34" charset="0"/>
                <a:ea typeface="Arial" pitchFamily="34" charset="-122"/>
                <a:cs typeface="Arial" pitchFamily="34" charset="-120"/>
              </a:rPr>
              <a:t>1.00</a:t>
            </a:r>
            <a:endParaRPr lang="en-US" sz="1300" dirty="0"/>
          </a:p>
        </p:txBody>
      </p:sp>
      <p:sp>
        <p:nvSpPr>
          <p:cNvPr id="14" name="Text 12"/>
          <p:cNvSpPr txBox="1"/>
          <p:nvPr/>
        </p:nvSpPr>
        <p:spPr>
          <a:xfrm>
            <a:off x="2743200" y="5276088"/>
            <a:ext cx="4846320" cy="256032"/>
          </a:xfrm>
          <a:prstGeom prst="rect">
            <a:avLst/>
          </a:prstGeom>
          <a:noFill/>
          <a:ln/>
        </p:spPr>
        <p:txBody>
          <a:bodyPr wrap="square" lIns="0" tIns="0" rIns="0" bIns="0" rtlCol="0" anchor="t"/>
          <a:lstStyle/>
          <a:p>
            <a:pPr algn="ctr" indent="0" marL="0">
              <a:buNone/>
            </a:pPr>
            <a:r>
              <a:rPr lang="en-US" sz="1300" dirty="0">
                <a:solidFill>
                  <a:srgbClr val="6B7A93"/>
                </a:solidFill>
                <a:latin typeface="Arial" pitchFamily="34" charset="0"/>
                <a:ea typeface="Arial" pitchFamily="34" charset="-122"/>
                <a:cs typeface="Arial" pitchFamily="34" charset="-120"/>
              </a:rPr>
              <a:t>Unsteered success rate (same policy, same states)</a:t>
            </a:r>
            <a:endParaRPr lang="en-US" sz="1300" dirty="0"/>
          </a:p>
        </p:txBody>
      </p:sp>
      <p:sp>
        <p:nvSpPr>
          <p:cNvPr id="15" name="Text 13"/>
          <p:cNvSpPr txBox="1"/>
          <p:nvPr/>
        </p:nvSpPr>
        <p:spPr>
          <a:xfrm>
            <a:off x="548640" y="1965960"/>
            <a:ext cx="2103120" cy="603504"/>
          </a:xfrm>
          <a:prstGeom prst="rect">
            <a:avLst/>
          </a:prstGeom>
          <a:noFill/>
          <a:ln/>
        </p:spPr>
        <p:txBody>
          <a:bodyPr wrap="square" lIns="0" tIns="0" rIns="0" bIns="0" rtlCol="0" anchor="t"/>
          <a:lstStyle/>
          <a:p>
            <a:pPr algn="l" indent="0" marL="0">
              <a:buNone/>
            </a:pPr>
            <a:r>
              <a:rPr lang="en-US" sz="1600" b="1" dirty="0">
                <a:solidFill>
                  <a:srgbClr val="F1F5F9"/>
                </a:solidFill>
                <a:latin typeface="Arial" pitchFamily="34" charset="0"/>
                <a:ea typeface="Arial" pitchFamily="34" charset="-122"/>
                <a:cs typeface="Arial" pitchFamily="34" charset="-120"/>
              </a:rPr>
              <a:t>States 15–29</a:t>
            </a:r>
            <a:endParaRPr lang="en-US" sz="1600" dirty="0"/>
          </a:p>
          <a:p>
            <a:pPr algn="l" indent="0" marL="0">
              <a:buNone/>
            </a:pPr>
            <a:r>
              <a:rPr lang="en-US" sz="1600" dirty="0">
                <a:solidFill>
                  <a:srgbClr val="6B7A93"/>
                </a:solidFill>
                <a:latin typeface="Arial" pitchFamily="34" charset="0"/>
                <a:ea typeface="Arial" pitchFamily="34" charset="-122"/>
                <a:cs typeface="Arial" pitchFamily="34" charset="-120"/>
              </a:rPr>
              <a:t>15 episodes</a:t>
            </a:r>
            <a:endParaRPr lang="en-US" sz="1600" dirty="0"/>
          </a:p>
        </p:txBody>
      </p:sp>
      <p:sp>
        <p:nvSpPr>
          <p:cNvPr id="16" name="Shape 14"/>
          <p:cNvSpPr/>
          <p:nvPr/>
        </p:nvSpPr>
        <p:spPr>
          <a:xfrm>
            <a:off x="5004816" y="2212848"/>
            <a:ext cx="1938528" cy="91440"/>
          </a:xfrm>
          <a:prstGeom prst="rect">
            <a:avLst/>
          </a:prstGeom>
          <a:solidFill>
            <a:srgbClr val="26354F"/>
          </a:solidFill>
          <a:ln/>
        </p:spPr>
      </p:sp>
      <p:sp>
        <p:nvSpPr>
          <p:cNvPr id="17" name="Shape 15"/>
          <p:cNvSpPr/>
          <p:nvPr/>
        </p:nvSpPr>
        <p:spPr>
          <a:xfrm>
            <a:off x="4895088" y="2148840"/>
            <a:ext cx="219456" cy="219456"/>
          </a:xfrm>
          <a:prstGeom prst="ellipse">
            <a:avLst/>
          </a:prstGeom>
          <a:solidFill>
            <a:srgbClr val="0B1220"/>
          </a:solidFill>
          <a:ln w="28575">
            <a:solidFill>
              <a:srgbClr val="A3AEC2"/>
            </a:solidFill>
            <a:prstDash val="solid"/>
          </a:ln>
        </p:spPr>
      </p:sp>
      <p:sp>
        <p:nvSpPr>
          <p:cNvPr id="18" name="Text 16"/>
          <p:cNvSpPr txBox="1"/>
          <p:nvPr/>
        </p:nvSpPr>
        <p:spPr>
          <a:xfrm>
            <a:off x="4639056" y="1828800"/>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7/15</a:t>
            </a:r>
            <a:endParaRPr lang="en-US" sz="1300" dirty="0"/>
          </a:p>
        </p:txBody>
      </p:sp>
      <p:sp>
        <p:nvSpPr>
          <p:cNvPr id="19" name="Shape 17"/>
          <p:cNvSpPr/>
          <p:nvPr/>
        </p:nvSpPr>
        <p:spPr>
          <a:xfrm>
            <a:off x="5218176" y="2148840"/>
            <a:ext cx="219456" cy="219456"/>
          </a:xfrm>
          <a:prstGeom prst="ellipse">
            <a:avLst/>
          </a:prstGeom>
          <a:solidFill>
            <a:srgbClr val="A3AEC2"/>
          </a:solidFill>
          <a:ln w="9525">
            <a:solidFill>
              <a:srgbClr val="A3AEC2"/>
            </a:solidFill>
            <a:prstDash val="solid"/>
          </a:ln>
        </p:spPr>
      </p:sp>
      <p:sp>
        <p:nvSpPr>
          <p:cNvPr id="20" name="Text 18"/>
          <p:cNvSpPr txBox="1"/>
          <p:nvPr/>
        </p:nvSpPr>
        <p:spPr>
          <a:xfrm>
            <a:off x="4962144" y="2395728"/>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8/15</a:t>
            </a:r>
            <a:endParaRPr lang="en-US" sz="1300" dirty="0"/>
          </a:p>
        </p:txBody>
      </p:sp>
      <p:sp>
        <p:nvSpPr>
          <p:cNvPr id="21" name="Shape 19"/>
          <p:cNvSpPr/>
          <p:nvPr/>
        </p:nvSpPr>
        <p:spPr>
          <a:xfrm>
            <a:off x="5864352" y="2148840"/>
            <a:ext cx="219456" cy="219456"/>
          </a:xfrm>
          <a:prstGeom prst="ellipse">
            <a:avLst/>
          </a:prstGeom>
          <a:solidFill>
            <a:srgbClr val="0B1220"/>
          </a:solidFill>
          <a:ln w="28575">
            <a:solidFill>
              <a:srgbClr val="A3AEC2"/>
            </a:solidFill>
            <a:prstDash val="solid"/>
          </a:ln>
        </p:spPr>
      </p:sp>
      <p:sp>
        <p:nvSpPr>
          <p:cNvPr id="22" name="Text 20"/>
          <p:cNvSpPr txBox="1"/>
          <p:nvPr/>
        </p:nvSpPr>
        <p:spPr>
          <a:xfrm>
            <a:off x="5608320" y="1828800"/>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10/15</a:t>
            </a:r>
            <a:endParaRPr lang="en-US" sz="1300" dirty="0"/>
          </a:p>
        </p:txBody>
      </p:sp>
      <p:sp>
        <p:nvSpPr>
          <p:cNvPr id="23" name="Shape 21"/>
          <p:cNvSpPr/>
          <p:nvPr/>
        </p:nvSpPr>
        <p:spPr>
          <a:xfrm>
            <a:off x="6833616" y="2148840"/>
            <a:ext cx="219456" cy="219456"/>
          </a:xfrm>
          <a:prstGeom prst="ellipse">
            <a:avLst/>
          </a:prstGeom>
          <a:solidFill>
            <a:srgbClr val="0B1220"/>
          </a:solidFill>
          <a:ln w="28575">
            <a:solidFill>
              <a:srgbClr val="A3AEC2"/>
            </a:solidFill>
            <a:prstDash val="solid"/>
          </a:ln>
        </p:spPr>
      </p:sp>
      <p:sp>
        <p:nvSpPr>
          <p:cNvPr id="24" name="Text 22"/>
          <p:cNvSpPr txBox="1"/>
          <p:nvPr/>
        </p:nvSpPr>
        <p:spPr>
          <a:xfrm>
            <a:off x="6577584" y="2395728"/>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13/15</a:t>
            </a:r>
            <a:endParaRPr lang="en-US" sz="1300" dirty="0"/>
          </a:p>
        </p:txBody>
      </p:sp>
      <p:sp>
        <p:nvSpPr>
          <p:cNvPr id="25" name="Text 23"/>
          <p:cNvSpPr txBox="1"/>
          <p:nvPr/>
        </p:nvSpPr>
        <p:spPr>
          <a:xfrm>
            <a:off x="7699248" y="2130552"/>
            <a:ext cx="1188720" cy="256032"/>
          </a:xfrm>
          <a:prstGeom prst="rect">
            <a:avLst/>
          </a:prstGeom>
          <a:noFill/>
          <a:ln/>
        </p:spPr>
        <p:txBody>
          <a:bodyPr wrap="square" lIns="0" tIns="0" rIns="0" bIns="0" rtlCol="0" anchor="t"/>
          <a:lstStyle/>
          <a:p>
            <a:pPr algn="l" indent="0" marL="0">
              <a:buNone/>
            </a:pPr>
            <a:r>
              <a:rPr lang="en-US" sz="1300" dirty="0">
                <a:solidFill>
                  <a:srgbClr val="A7B4C8"/>
                </a:solidFill>
                <a:latin typeface="Arial" pitchFamily="34" charset="0"/>
                <a:ea typeface="Arial" pitchFamily="34" charset="-122"/>
                <a:cs typeface="Arial" pitchFamily="34" charset="-120"/>
              </a:rPr>
              <a:t>range 7–13</a:t>
            </a:r>
            <a:endParaRPr lang="en-US" sz="1300" dirty="0"/>
          </a:p>
        </p:txBody>
      </p:sp>
      <p:sp>
        <p:nvSpPr>
          <p:cNvPr id="26" name="Text 24"/>
          <p:cNvSpPr txBox="1"/>
          <p:nvPr/>
        </p:nvSpPr>
        <p:spPr>
          <a:xfrm>
            <a:off x="548640" y="3044952"/>
            <a:ext cx="2103120" cy="603504"/>
          </a:xfrm>
          <a:prstGeom prst="rect">
            <a:avLst/>
          </a:prstGeom>
          <a:noFill/>
          <a:ln/>
        </p:spPr>
        <p:txBody>
          <a:bodyPr wrap="square" lIns="0" tIns="0" rIns="0" bIns="0" rtlCol="0" anchor="t"/>
          <a:lstStyle/>
          <a:p>
            <a:pPr algn="l" indent="0" marL="0">
              <a:buNone/>
            </a:pPr>
            <a:r>
              <a:rPr lang="en-US" sz="1600" b="1" dirty="0">
                <a:solidFill>
                  <a:srgbClr val="F1F5F9"/>
                </a:solidFill>
                <a:latin typeface="Arial" pitchFamily="34" charset="0"/>
                <a:ea typeface="Arial" pitchFamily="34" charset="-122"/>
                <a:cs typeface="Arial" pitchFamily="34" charset="-120"/>
              </a:rPr>
              <a:t>States 0–14</a:t>
            </a:r>
            <a:endParaRPr lang="en-US" sz="1600" dirty="0"/>
          </a:p>
          <a:p>
            <a:pPr algn="l" indent="0" marL="0">
              <a:buNone/>
            </a:pPr>
            <a:r>
              <a:rPr lang="en-US" sz="1600" dirty="0">
                <a:solidFill>
                  <a:srgbClr val="6B7A93"/>
                </a:solidFill>
                <a:latin typeface="Arial" pitchFamily="34" charset="0"/>
                <a:ea typeface="Arial" pitchFamily="34" charset="-122"/>
                <a:cs typeface="Arial" pitchFamily="34" charset="-120"/>
              </a:rPr>
              <a:t>15 episodes (fit states)</a:t>
            </a:r>
            <a:endParaRPr lang="en-US" sz="1600" dirty="0"/>
          </a:p>
        </p:txBody>
      </p:sp>
      <p:sp>
        <p:nvSpPr>
          <p:cNvPr id="27" name="Shape 25"/>
          <p:cNvSpPr/>
          <p:nvPr/>
        </p:nvSpPr>
        <p:spPr>
          <a:xfrm>
            <a:off x="4035552" y="3291840"/>
            <a:ext cx="2261616" cy="91440"/>
          </a:xfrm>
          <a:prstGeom prst="rect">
            <a:avLst/>
          </a:prstGeom>
          <a:solidFill>
            <a:srgbClr val="26354F"/>
          </a:solidFill>
          <a:ln/>
        </p:spPr>
      </p:sp>
      <p:sp>
        <p:nvSpPr>
          <p:cNvPr id="28" name="Shape 26"/>
          <p:cNvSpPr/>
          <p:nvPr/>
        </p:nvSpPr>
        <p:spPr>
          <a:xfrm>
            <a:off x="3925824" y="3227832"/>
            <a:ext cx="219456" cy="219456"/>
          </a:xfrm>
          <a:prstGeom prst="ellipse">
            <a:avLst/>
          </a:prstGeom>
          <a:solidFill>
            <a:srgbClr val="A3AEC2"/>
          </a:solidFill>
          <a:ln w="9525">
            <a:solidFill>
              <a:srgbClr val="A3AEC2"/>
            </a:solidFill>
            <a:prstDash val="solid"/>
          </a:ln>
        </p:spPr>
      </p:sp>
      <p:sp>
        <p:nvSpPr>
          <p:cNvPr id="29" name="Text 27"/>
          <p:cNvSpPr txBox="1"/>
          <p:nvPr/>
        </p:nvSpPr>
        <p:spPr>
          <a:xfrm>
            <a:off x="3669792" y="2907792"/>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4/15</a:t>
            </a:r>
            <a:endParaRPr lang="en-US" sz="1300" dirty="0"/>
          </a:p>
        </p:txBody>
      </p:sp>
      <p:sp>
        <p:nvSpPr>
          <p:cNvPr id="30" name="Shape 28"/>
          <p:cNvSpPr/>
          <p:nvPr/>
        </p:nvSpPr>
        <p:spPr>
          <a:xfrm>
            <a:off x="4248912" y="3227832"/>
            <a:ext cx="219456" cy="219456"/>
          </a:xfrm>
          <a:prstGeom prst="ellipse">
            <a:avLst/>
          </a:prstGeom>
          <a:solidFill>
            <a:srgbClr val="A3AEC2"/>
          </a:solidFill>
          <a:ln w="9525">
            <a:solidFill>
              <a:srgbClr val="A3AEC2"/>
            </a:solidFill>
            <a:prstDash val="solid"/>
          </a:ln>
        </p:spPr>
      </p:sp>
      <p:sp>
        <p:nvSpPr>
          <p:cNvPr id="31" name="Text 29"/>
          <p:cNvSpPr txBox="1"/>
          <p:nvPr/>
        </p:nvSpPr>
        <p:spPr>
          <a:xfrm>
            <a:off x="3992880" y="3474720"/>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5/15</a:t>
            </a:r>
            <a:endParaRPr lang="en-US" sz="1300" dirty="0"/>
          </a:p>
        </p:txBody>
      </p:sp>
      <p:sp>
        <p:nvSpPr>
          <p:cNvPr id="32" name="Shape 30"/>
          <p:cNvSpPr/>
          <p:nvPr/>
        </p:nvSpPr>
        <p:spPr>
          <a:xfrm>
            <a:off x="4572000" y="3227832"/>
            <a:ext cx="219456" cy="219456"/>
          </a:xfrm>
          <a:prstGeom prst="ellipse">
            <a:avLst/>
          </a:prstGeom>
          <a:solidFill>
            <a:srgbClr val="A3AEC2"/>
          </a:solidFill>
          <a:ln w="9525">
            <a:solidFill>
              <a:srgbClr val="A3AEC2"/>
            </a:solidFill>
            <a:prstDash val="solid"/>
          </a:ln>
        </p:spPr>
      </p:sp>
      <p:sp>
        <p:nvSpPr>
          <p:cNvPr id="33" name="Text 31"/>
          <p:cNvSpPr txBox="1"/>
          <p:nvPr/>
        </p:nvSpPr>
        <p:spPr>
          <a:xfrm>
            <a:off x="4315968" y="2907792"/>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6/15</a:t>
            </a:r>
            <a:endParaRPr lang="en-US" sz="1300" dirty="0"/>
          </a:p>
        </p:txBody>
      </p:sp>
      <p:sp>
        <p:nvSpPr>
          <p:cNvPr id="34" name="Shape 32"/>
          <p:cNvSpPr/>
          <p:nvPr/>
        </p:nvSpPr>
        <p:spPr>
          <a:xfrm>
            <a:off x="5218176" y="3227832"/>
            <a:ext cx="219456" cy="219456"/>
          </a:xfrm>
          <a:prstGeom prst="ellipse">
            <a:avLst/>
          </a:prstGeom>
          <a:solidFill>
            <a:srgbClr val="A3AEC2"/>
          </a:solidFill>
          <a:ln w="9525">
            <a:solidFill>
              <a:srgbClr val="A3AEC2"/>
            </a:solidFill>
            <a:prstDash val="solid"/>
          </a:ln>
        </p:spPr>
      </p:sp>
      <p:sp>
        <p:nvSpPr>
          <p:cNvPr id="35" name="Text 33"/>
          <p:cNvSpPr txBox="1"/>
          <p:nvPr/>
        </p:nvSpPr>
        <p:spPr>
          <a:xfrm>
            <a:off x="4962144" y="3474720"/>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8/15</a:t>
            </a:r>
            <a:endParaRPr lang="en-US" sz="1300" dirty="0"/>
          </a:p>
        </p:txBody>
      </p:sp>
      <p:sp>
        <p:nvSpPr>
          <p:cNvPr id="36" name="Shape 34"/>
          <p:cNvSpPr/>
          <p:nvPr/>
        </p:nvSpPr>
        <p:spPr>
          <a:xfrm>
            <a:off x="5864352" y="3227832"/>
            <a:ext cx="219456" cy="219456"/>
          </a:xfrm>
          <a:prstGeom prst="ellipse">
            <a:avLst/>
          </a:prstGeom>
          <a:solidFill>
            <a:srgbClr val="A3AEC2"/>
          </a:solidFill>
          <a:ln w="9525">
            <a:solidFill>
              <a:srgbClr val="A3AEC2"/>
            </a:solidFill>
            <a:prstDash val="solid"/>
          </a:ln>
        </p:spPr>
      </p:sp>
      <p:sp>
        <p:nvSpPr>
          <p:cNvPr id="37" name="Text 35"/>
          <p:cNvSpPr txBox="1"/>
          <p:nvPr/>
        </p:nvSpPr>
        <p:spPr>
          <a:xfrm>
            <a:off x="5608320" y="2907792"/>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10/15</a:t>
            </a:r>
            <a:endParaRPr lang="en-US" sz="1300" dirty="0"/>
          </a:p>
        </p:txBody>
      </p:sp>
      <p:sp>
        <p:nvSpPr>
          <p:cNvPr id="38" name="Shape 36"/>
          <p:cNvSpPr/>
          <p:nvPr/>
        </p:nvSpPr>
        <p:spPr>
          <a:xfrm>
            <a:off x="6187440" y="3227832"/>
            <a:ext cx="219456" cy="219456"/>
          </a:xfrm>
          <a:prstGeom prst="ellipse">
            <a:avLst/>
          </a:prstGeom>
          <a:solidFill>
            <a:srgbClr val="A3AEC2"/>
          </a:solidFill>
          <a:ln w="9525">
            <a:solidFill>
              <a:srgbClr val="A3AEC2"/>
            </a:solidFill>
            <a:prstDash val="solid"/>
          </a:ln>
        </p:spPr>
      </p:sp>
      <p:sp>
        <p:nvSpPr>
          <p:cNvPr id="39" name="Text 37"/>
          <p:cNvSpPr txBox="1"/>
          <p:nvPr/>
        </p:nvSpPr>
        <p:spPr>
          <a:xfrm>
            <a:off x="5931408" y="3474720"/>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11/15</a:t>
            </a:r>
            <a:endParaRPr lang="en-US" sz="1300" dirty="0"/>
          </a:p>
        </p:txBody>
      </p:sp>
      <p:sp>
        <p:nvSpPr>
          <p:cNvPr id="40" name="Text 38"/>
          <p:cNvSpPr txBox="1"/>
          <p:nvPr/>
        </p:nvSpPr>
        <p:spPr>
          <a:xfrm>
            <a:off x="7699248" y="3209544"/>
            <a:ext cx="1188720" cy="256032"/>
          </a:xfrm>
          <a:prstGeom prst="rect">
            <a:avLst/>
          </a:prstGeom>
          <a:noFill/>
          <a:ln/>
        </p:spPr>
        <p:txBody>
          <a:bodyPr wrap="square" lIns="0" tIns="0" rIns="0" bIns="0" rtlCol="0" anchor="t"/>
          <a:lstStyle/>
          <a:p>
            <a:pPr algn="l" indent="0" marL="0">
              <a:buNone/>
            </a:pPr>
            <a:r>
              <a:rPr lang="en-US" sz="1300" dirty="0">
                <a:solidFill>
                  <a:srgbClr val="A7B4C8"/>
                </a:solidFill>
                <a:latin typeface="Arial" pitchFamily="34" charset="0"/>
                <a:ea typeface="Arial" pitchFamily="34" charset="-122"/>
                <a:cs typeface="Arial" pitchFamily="34" charset="-120"/>
              </a:rPr>
              <a:t>range 4–11</a:t>
            </a:r>
            <a:endParaRPr lang="en-US" sz="1300" dirty="0"/>
          </a:p>
        </p:txBody>
      </p:sp>
      <p:sp>
        <p:nvSpPr>
          <p:cNvPr id="41" name="Text 39"/>
          <p:cNvSpPr txBox="1"/>
          <p:nvPr/>
        </p:nvSpPr>
        <p:spPr>
          <a:xfrm>
            <a:off x="548640" y="4123944"/>
            <a:ext cx="2103120" cy="603504"/>
          </a:xfrm>
          <a:prstGeom prst="rect">
            <a:avLst/>
          </a:prstGeom>
          <a:noFill/>
          <a:ln/>
        </p:spPr>
        <p:txBody>
          <a:bodyPr wrap="square" lIns="0" tIns="0" rIns="0" bIns="0" rtlCol="0" anchor="t"/>
          <a:lstStyle/>
          <a:p>
            <a:pPr algn="l" indent="0" marL="0">
              <a:buNone/>
            </a:pPr>
            <a:r>
              <a:rPr lang="en-US" sz="1600" b="1" dirty="0">
                <a:solidFill>
                  <a:srgbClr val="F1F5F9"/>
                </a:solidFill>
                <a:latin typeface="Arial" pitchFamily="34" charset="0"/>
                <a:ea typeface="Arial" pitchFamily="34" charset="-122"/>
                <a:cs typeface="Arial" pitchFamily="34" charset="-120"/>
              </a:rPr>
              <a:t>States 15–44</a:t>
            </a:r>
            <a:endParaRPr lang="en-US" sz="1600" dirty="0"/>
          </a:p>
          <a:p>
            <a:pPr algn="l" indent="0" marL="0">
              <a:buNone/>
            </a:pPr>
            <a:r>
              <a:rPr lang="en-US" sz="1600" dirty="0">
                <a:solidFill>
                  <a:srgbClr val="6B7A93"/>
                </a:solidFill>
                <a:latin typeface="Arial" pitchFamily="34" charset="0"/>
                <a:ea typeface="Arial" pitchFamily="34" charset="-122"/>
                <a:cs typeface="Arial" pitchFamily="34" charset="-120"/>
              </a:rPr>
              <a:t>30 episodes</a:t>
            </a:r>
            <a:endParaRPr lang="en-US" sz="1600" dirty="0"/>
          </a:p>
        </p:txBody>
      </p:sp>
      <p:sp>
        <p:nvSpPr>
          <p:cNvPr id="42" name="Shape 40"/>
          <p:cNvSpPr/>
          <p:nvPr/>
        </p:nvSpPr>
        <p:spPr>
          <a:xfrm>
            <a:off x="5489448" y="4370832"/>
            <a:ext cx="646176" cy="91440"/>
          </a:xfrm>
          <a:prstGeom prst="rect">
            <a:avLst/>
          </a:prstGeom>
          <a:solidFill>
            <a:srgbClr val="26354F"/>
          </a:solidFill>
          <a:ln/>
        </p:spPr>
      </p:sp>
      <p:sp>
        <p:nvSpPr>
          <p:cNvPr id="43" name="Shape 41"/>
          <p:cNvSpPr/>
          <p:nvPr/>
        </p:nvSpPr>
        <p:spPr>
          <a:xfrm>
            <a:off x="5379720" y="4306824"/>
            <a:ext cx="219456" cy="219456"/>
          </a:xfrm>
          <a:prstGeom prst="ellipse">
            <a:avLst/>
          </a:prstGeom>
          <a:solidFill>
            <a:srgbClr val="A3AEC2"/>
          </a:solidFill>
          <a:ln w="9525">
            <a:solidFill>
              <a:srgbClr val="A3AEC2"/>
            </a:solidFill>
            <a:prstDash val="solid"/>
          </a:ln>
        </p:spPr>
      </p:sp>
      <p:sp>
        <p:nvSpPr>
          <p:cNvPr id="44" name="Text 42"/>
          <p:cNvSpPr txBox="1"/>
          <p:nvPr/>
        </p:nvSpPr>
        <p:spPr>
          <a:xfrm>
            <a:off x="5123688" y="3986784"/>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17/30</a:t>
            </a:r>
            <a:endParaRPr lang="en-US" sz="1300" dirty="0"/>
          </a:p>
        </p:txBody>
      </p:sp>
      <p:sp>
        <p:nvSpPr>
          <p:cNvPr id="45" name="Shape 43"/>
          <p:cNvSpPr/>
          <p:nvPr/>
        </p:nvSpPr>
        <p:spPr>
          <a:xfrm>
            <a:off x="5702808" y="4306824"/>
            <a:ext cx="219456" cy="219456"/>
          </a:xfrm>
          <a:prstGeom prst="ellipse">
            <a:avLst/>
          </a:prstGeom>
          <a:solidFill>
            <a:srgbClr val="A3AEC2"/>
          </a:solidFill>
          <a:ln w="9525">
            <a:solidFill>
              <a:srgbClr val="A3AEC2"/>
            </a:solidFill>
            <a:prstDash val="solid"/>
          </a:ln>
        </p:spPr>
      </p:sp>
      <p:sp>
        <p:nvSpPr>
          <p:cNvPr id="46" name="Text 44"/>
          <p:cNvSpPr txBox="1"/>
          <p:nvPr/>
        </p:nvSpPr>
        <p:spPr>
          <a:xfrm>
            <a:off x="5446776" y="4553712"/>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19/30</a:t>
            </a:r>
            <a:endParaRPr lang="en-US" sz="1300" dirty="0"/>
          </a:p>
        </p:txBody>
      </p:sp>
      <p:sp>
        <p:nvSpPr>
          <p:cNvPr id="47" name="Shape 45"/>
          <p:cNvSpPr/>
          <p:nvPr/>
        </p:nvSpPr>
        <p:spPr>
          <a:xfrm>
            <a:off x="6025896" y="4306824"/>
            <a:ext cx="219456" cy="219456"/>
          </a:xfrm>
          <a:prstGeom prst="ellipse">
            <a:avLst/>
          </a:prstGeom>
          <a:solidFill>
            <a:srgbClr val="0B1220"/>
          </a:solidFill>
          <a:ln w="28575">
            <a:solidFill>
              <a:srgbClr val="A3AEC2"/>
            </a:solidFill>
            <a:prstDash val="solid"/>
          </a:ln>
        </p:spPr>
      </p:sp>
      <p:sp>
        <p:nvSpPr>
          <p:cNvPr id="48" name="Text 46"/>
          <p:cNvSpPr txBox="1"/>
          <p:nvPr/>
        </p:nvSpPr>
        <p:spPr>
          <a:xfrm>
            <a:off x="5769864" y="3986784"/>
            <a:ext cx="731520" cy="27432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21/30</a:t>
            </a:r>
            <a:endParaRPr lang="en-US" sz="1300" dirty="0"/>
          </a:p>
        </p:txBody>
      </p:sp>
      <p:sp>
        <p:nvSpPr>
          <p:cNvPr id="49" name="Text 47"/>
          <p:cNvSpPr txBox="1"/>
          <p:nvPr/>
        </p:nvSpPr>
        <p:spPr>
          <a:xfrm>
            <a:off x="7699248" y="4288536"/>
            <a:ext cx="1188720" cy="256032"/>
          </a:xfrm>
          <a:prstGeom prst="rect">
            <a:avLst/>
          </a:prstGeom>
          <a:noFill/>
          <a:ln/>
        </p:spPr>
        <p:txBody>
          <a:bodyPr wrap="square" lIns="0" tIns="0" rIns="0" bIns="0" rtlCol="0" anchor="t"/>
          <a:lstStyle/>
          <a:p>
            <a:pPr algn="l" indent="0" marL="0">
              <a:buNone/>
            </a:pPr>
            <a:r>
              <a:rPr lang="en-US" sz="1300" dirty="0">
                <a:solidFill>
                  <a:srgbClr val="A7B4C8"/>
                </a:solidFill>
                <a:latin typeface="Arial" pitchFamily="34" charset="0"/>
                <a:ea typeface="Arial" pitchFamily="34" charset="-122"/>
                <a:cs typeface="Arial" pitchFamily="34" charset="-120"/>
              </a:rPr>
              <a:t>range 17–21</a:t>
            </a:r>
            <a:endParaRPr lang="en-US" sz="1300" dirty="0"/>
          </a:p>
        </p:txBody>
      </p:sp>
      <p:sp>
        <p:nvSpPr>
          <p:cNvPr id="50" name="Shape 48"/>
          <p:cNvSpPr/>
          <p:nvPr/>
        </p:nvSpPr>
        <p:spPr>
          <a:xfrm>
            <a:off x="553212" y="1284732"/>
            <a:ext cx="155448" cy="155448"/>
          </a:xfrm>
          <a:prstGeom prst="ellipse">
            <a:avLst/>
          </a:prstGeom>
          <a:solidFill>
            <a:srgbClr val="0B1220"/>
          </a:solidFill>
          <a:ln w="25400">
            <a:solidFill>
              <a:srgbClr val="A3AEC2"/>
            </a:solidFill>
            <a:prstDash val="solid"/>
          </a:ln>
        </p:spPr>
      </p:sp>
      <p:sp>
        <p:nvSpPr>
          <p:cNvPr id="51" name="Text 49"/>
          <p:cNvSpPr txBox="1"/>
          <p:nvPr/>
        </p:nvSpPr>
        <p:spPr>
          <a:xfrm>
            <a:off x="804672" y="1234440"/>
            <a:ext cx="40233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paired noise seed (1D: 100/200/300; 4A: 100)</a:t>
            </a:r>
            <a:endParaRPr lang="en-US" sz="1300" dirty="0"/>
          </a:p>
        </p:txBody>
      </p:sp>
      <p:sp>
        <p:nvSpPr>
          <p:cNvPr id="52" name="Shape 50"/>
          <p:cNvSpPr/>
          <p:nvPr/>
        </p:nvSpPr>
        <p:spPr>
          <a:xfrm>
            <a:off x="4759452" y="1284732"/>
            <a:ext cx="155448" cy="155448"/>
          </a:xfrm>
          <a:prstGeom prst="ellipse">
            <a:avLst/>
          </a:prstGeom>
          <a:solidFill>
            <a:srgbClr val="A3AEC2"/>
          </a:solidFill>
          <a:ln w="9525">
            <a:solidFill>
              <a:srgbClr val="A3AEC2"/>
            </a:solidFill>
            <a:prstDash val="solid"/>
          </a:ln>
        </p:spPr>
      </p:sp>
      <p:sp>
        <p:nvSpPr>
          <p:cNvPr id="53" name="Text 51"/>
          <p:cNvSpPr txBox="1"/>
          <p:nvPr/>
        </p:nvSpPr>
        <p:spPr>
          <a:xfrm>
            <a:off x="5010912" y="123444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released default, unseeded</a:t>
            </a:r>
            <a:endParaRPr lang="en-US" sz="1300" dirty="0"/>
          </a:p>
        </p:txBody>
      </p:sp>
      <p:sp>
        <p:nvSpPr>
          <p:cNvPr id="54" name="Text 52"/>
          <p:cNvSpPr txBox="1"/>
          <p:nvPr/>
        </p:nvSpPr>
        <p:spPr>
          <a:xfrm>
            <a:off x="9052560" y="1371600"/>
            <a:ext cx="2590495" cy="1188720"/>
          </a:xfrm>
          <a:prstGeom prst="rect">
            <a:avLst/>
          </a:prstGeom>
          <a:noFill/>
          <a:ln/>
        </p:spPr>
        <p:txBody>
          <a:bodyPr wrap="square" lIns="0" tIns="0" rIns="0" bIns="0" rtlCol="0" anchor="t"/>
          <a:lstStyle/>
          <a:p>
            <a:pPr algn="l" indent="0" marL="0">
              <a:buNone/>
            </a:pPr>
            <a:r>
              <a:rPr lang="en-US" sz="2000" b="1" dirty="0">
                <a:solidFill>
                  <a:srgbClr val="38BDF8"/>
                </a:solidFill>
                <a:latin typeface="Arial" pitchFamily="34" charset="0"/>
                <a:ea typeface="Arial" pitchFamily="34" charset="-122"/>
                <a:cs typeface="Arial" pitchFamily="34" charset="-120"/>
              </a:rPr>
              <a:t>A single stochastic run cannot resolve a 2–4 episode difference.</a:t>
            </a:r>
            <a:endParaRPr lang="en-US" sz="2000" dirty="0"/>
          </a:p>
        </p:txBody>
      </p:sp>
      <p:sp>
        <p:nvSpPr>
          <p:cNvPr id="55" name="Text 53"/>
          <p:cNvSpPr txBox="1"/>
          <p:nvPr/>
        </p:nvSpPr>
        <p:spPr>
          <a:xfrm>
            <a:off x="9052560" y="2697480"/>
            <a:ext cx="2590495" cy="3108960"/>
          </a:xfrm>
          <a:prstGeom prst="rect">
            <a:avLst/>
          </a:prstGeom>
          <a:noFill/>
          <a:ln/>
        </p:spPr>
        <p:txBody>
          <a:bodyPr wrap="square" lIns="0" tIns="0" rIns="0" bIns="0" rtlCol="0" anchor="t"/>
          <a:lstStyle/>
          <a:p>
            <a:pPr algn="l" marL="177800" indent="-177800">
              <a:spcAft>
                <a:spcPts val="1000"/>
              </a:spcAft>
              <a:buSzPct val="100000"/>
              <a:buChar char="•"/>
            </a:pPr>
            <a:r>
              <a:rPr lang="en-US" sz="1500" b="1" dirty="0">
                <a:solidFill>
                  <a:srgbClr val="A7B4C8"/>
                </a:solidFill>
                <a:latin typeface="Arial" pitchFamily="34" charset="0"/>
                <a:ea typeface="Arial" pitchFamily="34" charset="-122"/>
                <a:cs typeface="Arial" pitchFamily="34" charset="-120"/>
              </a:rPr>
              <a:t>11 / 15</a:t>
            </a:r>
            <a:pPr algn="l" marL="177800" indent="-177800">
              <a:spcAft>
                <a:spcPts val="1000"/>
              </a:spcAft>
              <a:buSzPct val="100000"/>
              <a:buChar char="•"/>
            </a:pPr>
            <a:r>
              <a:rPr lang="en-US" sz="1500" dirty="0">
                <a:solidFill>
                  <a:srgbClr val="A7B4C8"/>
                </a:solidFill>
                <a:latin typeface="Arial" pitchFamily="34" charset="0"/>
                <a:ea typeface="Arial" pitchFamily="34" charset="-122"/>
                <a:cs typeface="Arial" pitchFamily="34" charset="-120"/>
              </a:rPr>
              <a:t> states flip outcome with the noise seed alone (1D)</a:t>
            </a:r>
            <a:endParaRPr lang="en-US" sz="1500" dirty="0"/>
          </a:p>
          <a:p>
            <a:pPr algn="l" marL="177800" indent="-177800">
              <a:spcAft>
                <a:spcPts val="1000"/>
              </a:spcAft>
              <a:buSzPct val="100000"/>
              <a:buChar char="•"/>
            </a:pPr>
            <a:r>
              <a:rPr lang="en-US" sz="1500" dirty="0">
                <a:solidFill>
                  <a:srgbClr val="A7B4C8"/>
                </a:solidFill>
                <a:latin typeface="Arial" pitchFamily="34" charset="0"/>
                <a:ea typeface="Arial" pitchFamily="34" charset="-122"/>
                <a:cs typeface="Arial" pitchFamily="34" charset="-120"/>
              </a:rPr>
              <a:t>Binomial SD at N = 30, p ≈ 0.6: </a:t>
            </a:r>
            <a:pPr algn="l" marL="177800" indent="-177800">
              <a:spcAft>
                <a:spcPts val="1000"/>
              </a:spcAft>
              <a:buSzPct val="100000"/>
              <a:buChar char="•"/>
            </a:pPr>
            <a:r>
              <a:rPr lang="en-US" sz="1500" b="1" dirty="0">
                <a:solidFill>
                  <a:srgbClr val="A7B4C8"/>
                </a:solidFill>
                <a:latin typeface="Arial" pitchFamily="34" charset="0"/>
                <a:ea typeface="Arial" pitchFamily="34" charset="-122"/>
                <a:cs typeface="Arial" pitchFamily="34" charset="-120"/>
              </a:rPr>
              <a:t>≈ 0.09</a:t>
            </a:r>
            <a:pPr algn="l" marL="177800" indent="-177800">
              <a:spcAft>
                <a:spcPts val="1000"/>
              </a:spcAft>
              <a:buSzPct val="100000"/>
              <a:buChar char="•"/>
            </a:pPr>
            <a:r>
              <a:rPr lang="en-US" sz="1500" dirty="0">
                <a:solidFill>
                  <a:srgbClr val="A7B4C8"/>
                </a:solidFill>
                <a:latin typeface="Arial" pitchFamily="34" charset="0"/>
                <a:ea typeface="Arial" pitchFamily="34" charset="-122"/>
                <a:cs typeface="Arial" pitchFamily="34" charset="-120"/>
              </a:rPr>
              <a:t> (≈ 2.7 episodes)</a:t>
            </a:r>
            <a:endParaRPr lang="en-US" sz="1500" dirty="0"/>
          </a:p>
          <a:p>
            <a:pPr algn="l" marL="177800" indent="-177800">
              <a:spcAft>
                <a:spcPts val="1000"/>
              </a:spcAft>
              <a:buSzPct val="100000"/>
              <a:buChar char="•"/>
            </a:pPr>
            <a:r>
              <a:rPr lang="en-US" sz="1500" dirty="0">
                <a:solidFill>
                  <a:srgbClr val="A7B4C8"/>
                </a:solidFill>
                <a:latin typeface="Arial" pitchFamily="34" charset="0"/>
                <a:ea typeface="Arial" pitchFamily="34" charset="-122"/>
                <a:cs typeface="Arial" pitchFamily="34" charset="-120"/>
              </a:rPr>
              <a:t>Paired noise: V0 ↔ V3 agreement </a:t>
            </a:r>
            <a:pPr algn="l" marL="177800" indent="-177800">
              <a:spcAft>
                <a:spcPts val="1000"/>
              </a:spcAft>
              <a:buSzPct val="100000"/>
              <a:buChar char="•"/>
            </a:pPr>
            <a:r>
              <a:rPr lang="en-US" sz="1500" b="1" dirty="0">
                <a:solidFill>
                  <a:srgbClr val="A7B4C8"/>
                </a:solidFill>
                <a:latin typeface="Arial" pitchFamily="34" charset="0"/>
                <a:ea typeface="Arial" pitchFamily="34" charset="-122"/>
                <a:cs typeface="Arial" pitchFamily="34" charset="-120"/>
              </a:rPr>
              <a:t>9/15 → 15/15</a:t>
            </a:r>
            <a:endParaRPr lang="en-US" sz="1500" dirty="0"/>
          </a:p>
        </p:txBody>
      </p:sp>
      <p:sp>
        <p:nvSpPr>
          <p:cNvPr id="56" name="Text 54"/>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phase1c/1d_episode_results.csv · phase1a_activation_collection.yaml · phase5c_ks3_oracle_sweep.yaml (fit baselines) · phase4a/5a/5c episode CSVs</a:t>
            </a:r>
            <a:endParaRPr lang="en-US" sz="1000" dirty="0"/>
          </a:p>
        </p:txBody>
      </p:sp>
      <p:sp>
        <p:nvSpPr>
          <p:cNvPr id="57" name="Text 55"/>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58" name="Text 56"/>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8 / 21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MECHANISM · PHASE 1E</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What does COAST actually do to h?</a:t>
            </a:r>
            <a:endParaRPr lang="en-US" sz="3000" dirty="0"/>
          </a:p>
        </p:txBody>
      </p:sp>
      <p:sp>
        <p:nvSpPr>
          <p:cNvPr id="4" name="Shape 2"/>
          <p:cNvSpPr/>
          <p:nvPr/>
        </p:nvSpPr>
        <p:spPr>
          <a:xfrm>
            <a:off x="548640" y="1325880"/>
            <a:ext cx="5806440" cy="3977640"/>
          </a:xfrm>
          <a:prstGeom prst="roundRect">
            <a:avLst>
              <a:gd name="adj" fmla="val 1839"/>
            </a:avLst>
          </a:prstGeom>
          <a:solidFill>
            <a:srgbClr val="131E33"/>
          </a:solidFill>
          <a:ln/>
        </p:spPr>
      </p:sp>
      <p:sp>
        <p:nvSpPr>
          <p:cNvPr id="5" name="Text 3"/>
          <p:cNvSpPr txBox="1"/>
          <p:nvPr/>
        </p:nvSpPr>
        <p:spPr>
          <a:xfrm>
            <a:off x="822960" y="1481328"/>
            <a:ext cx="5394960" cy="2514600"/>
          </a:xfrm>
          <a:prstGeom prst="rect">
            <a:avLst/>
          </a:prstGeom>
          <a:noFill/>
          <a:ln/>
        </p:spPr>
        <p:txBody>
          <a:bodyPr wrap="square" lIns="0" tIns="0" rIns="0" bIns="0" rtlCol="0" anchor="t"/>
          <a:lstStyle/>
          <a:p>
            <a:pPr algn="l" indent="0" marL="0">
              <a:spcAft>
                <a:spcPts val="900"/>
              </a:spcAft>
              <a:buNone/>
            </a:pPr>
            <a:r>
              <a:rPr lang="en-US" sz="1900" dirty="0">
                <a:solidFill>
                  <a:srgbClr val="F1F5F9"/>
                </a:solidFill>
                <a:latin typeface="Cambria Math" pitchFamily="34" charset="0"/>
                <a:ea typeface="Cambria Math" pitchFamily="34" charset="-122"/>
                <a:cs typeface="Cambria Math" pitchFamily="34" charset="-120"/>
              </a:rPr>
              <a:t>M = (1 − β) I + β C</a:t>
            </a:r>
            <a:endParaRPr lang="en-US" sz="1900" dirty="0"/>
          </a:p>
          <a:p>
            <a:pPr algn="l" indent="0" marL="0">
              <a:spcAft>
                <a:spcPts val="900"/>
              </a:spcAft>
              <a:buNone/>
            </a:pPr>
            <a:r>
              <a:rPr lang="en-US" sz="1900" dirty="0">
                <a:solidFill>
                  <a:srgbClr val="F1F5F9"/>
                </a:solidFill>
                <a:latin typeface="Cambria Math" pitchFamily="34" charset="0"/>
                <a:ea typeface="Cambria Math" pitchFamily="34" charset="-122"/>
                <a:cs typeface="Cambria Math" pitchFamily="34" charset="-120"/>
              </a:rPr>
              <a:t>code:  h′ = h M</a:t>
            </a:r>
            <a:pPr algn="l" indent="0" marL="0">
              <a:spcAft>
                <a:spcPts val="900"/>
              </a:spcAft>
              <a:buNone/>
            </a:pPr>
            <a:r>
              <a:rPr lang="en-US" sz="1900" baseline="30000" dirty="0">
                <a:solidFill>
                  <a:srgbClr val="F1F5F9"/>
                </a:solidFill>
                <a:latin typeface="Cambria Math" pitchFamily="34" charset="0"/>
                <a:ea typeface="Cambria Math" pitchFamily="34" charset="-122"/>
                <a:cs typeface="Cambria Math" pitchFamily="34" charset="-120"/>
              </a:rPr>
              <a:t>T</a:t>
            </a:r>
            <a:pPr algn="l" indent="0" marL="0">
              <a:spcAft>
                <a:spcPts val="900"/>
              </a:spcAft>
              <a:buNone/>
            </a:pPr>
            <a:r>
              <a:rPr lang="en-US" sz="1900" dirty="0">
                <a:solidFill>
                  <a:srgbClr val="F1F5F9"/>
                </a:solidFill>
                <a:latin typeface="Cambria Math" pitchFamily="34" charset="0"/>
                <a:ea typeface="Cambria Math" pitchFamily="34" charset="-122"/>
                <a:cs typeface="Cambria Math" pitchFamily="34" charset="-120"/>
              </a:rPr>
              <a:t>  (row)   ⇔   h′ = M h  (column)</a:t>
            </a:r>
            <a:endParaRPr lang="en-US" sz="1900" dirty="0"/>
          </a:p>
          <a:p>
            <a:pPr algn="l" indent="0" marL="0">
              <a:spcAft>
                <a:spcPts val="900"/>
              </a:spcAft>
              <a:buNone/>
            </a:pPr>
            <a:r>
              <a:rPr lang="en-US" sz="1900" dirty="0">
                <a:solidFill>
                  <a:srgbClr val="F1F5F9"/>
                </a:solidFill>
                <a:latin typeface="Cambria Math" pitchFamily="34" charset="0"/>
                <a:ea typeface="Cambria Math" pitchFamily="34" charset="-122"/>
                <a:cs typeface="Cambria Math" pitchFamily="34" charset="-120"/>
              </a:rPr>
              <a:t>h′ = (1 − β) h + β C h</a:t>
            </a:r>
            <a:endParaRPr lang="en-US" sz="1900" dirty="0"/>
          </a:p>
          <a:p>
            <a:pPr algn="l" indent="0" marL="0">
              <a:spcAft>
                <a:spcPts val="900"/>
              </a:spcAft>
              <a:buNone/>
            </a:pPr>
            <a:r>
              <a:rPr lang="en-US" sz="1900" dirty="0">
                <a:solidFill>
                  <a:srgbClr val="F1F5F9"/>
                </a:solidFill>
                <a:latin typeface="Cambria Math" pitchFamily="34" charset="0"/>
                <a:ea typeface="Cambria Math" pitchFamily="34" charset="-122"/>
                <a:cs typeface="Cambria Math" pitchFamily="34" charset="-120"/>
              </a:rPr>
              <a:t>Δh = h′ − h = β (C h − h)</a:t>
            </a:r>
            <a:endParaRPr lang="en-US" sz="1900" dirty="0"/>
          </a:p>
          <a:p>
            <a:pPr algn="l" indent="0" marL="0">
              <a:spcAft>
                <a:spcPts val="900"/>
              </a:spcAft>
              <a:buNone/>
            </a:pPr>
            <a:r>
              <a:rPr lang="en-US" sz="1900" dirty="0">
                <a:solidFill>
                  <a:srgbClr val="F1F5F9"/>
                </a:solidFill>
                <a:latin typeface="Cambria Math" pitchFamily="34" charset="0"/>
                <a:ea typeface="Cambria Math" pitchFamily="34" charset="-122"/>
                <a:cs typeface="Cambria Math" pitchFamily="34" charset="-120"/>
              </a:rPr>
              <a:t>ρ = h</a:t>
            </a:r>
            <a:pPr algn="l" indent="0" marL="0">
              <a:spcAft>
                <a:spcPts val="900"/>
              </a:spcAft>
              <a:buNone/>
            </a:pPr>
            <a:r>
              <a:rPr lang="en-US" sz="1900" baseline="30000" dirty="0">
                <a:solidFill>
                  <a:srgbClr val="F1F5F9"/>
                </a:solidFill>
                <a:latin typeface="Cambria Math" pitchFamily="34" charset="0"/>
                <a:ea typeface="Cambria Math" pitchFamily="34" charset="-122"/>
                <a:cs typeface="Cambria Math" pitchFamily="34" charset="-120"/>
              </a:rPr>
              <a:t>T</a:t>
            </a:r>
            <a:pPr algn="l" indent="0" marL="0">
              <a:spcAft>
                <a:spcPts val="900"/>
              </a:spcAft>
              <a:buNone/>
            </a:pPr>
            <a:r>
              <a:rPr lang="en-US" sz="1900" dirty="0">
                <a:solidFill>
                  <a:srgbClr val="F1F5F9"/>
                </a:solidFill>
                <a:latin typeface="Cambria Math" pitchFamily="34" charset="0"/>
                <a:ea typeface="Cambria Math" pitchFamily="34" charset="-122"/>
                <a:cs typeface="Cambria Math" pitchFamily="34" charset="-120"/>
              </a:rPr>
              <a:t>C h / ‖h‖</a:t>
            </a:r>
            <a:pPr algn="l" indent="0" marL="0">
              <a:spcAft>
                <a:spcPts val="900"/>
              </a:spcAft>
              <a:buNone/>
            </a:pPr>
            <a:r>
              <a:rPr lang="en-US" sz="1900" baseline="30000" dirty="0">
                <a:solidFill>
                  <a:srgbClr val="F1F5F9"/>
                </a:solidFill>
                <a:latin typeface="Cambria Math" pitchFamily="34" charset="0"/>
                <a:ea typeface="Cambria Math" pitchFamily="34" charset="-122"/>
                <a:cs typeface="Cambria Math" pitchFamily="34" charset="-120"/>
              </a:rPr>
              <a:t>2</a:t>
            </a:r>
            <a:pPr algn="l" indent="0" marL="0">
              <a:spcAft>
                <a:spcPts val="900"/>
              </a:spcAft>
              <a:buNone/>
            </a:pPr>
            <a:r>
              <a:rPr lang="en-US" sz="1900" dirty="0">
                <a:solidFill>
                  <a:srgbClr val="F1F5F9"/>
                </a:solidFill>
                <a:latin typeface="Cambria Math" pitchFamily="34" charset="0"/>
                <a:ea typeface="Cambria Math" pitchFamily="34" charset="-122"/>
                <a:cs typeface="Cambria Math" pitchFamily="34" charset="-120"/>
              </a:rPr>
              <a:t> ≈ 0   ⇒   h′ ≈ (1 − β) h</a:t>
            </a:r>
            <a:endParaRPr lang="en-US" sz="1900" dirty="0"/>
          </a:p>
        </p:txBody>
      </p:sp>
      <p:sp>
        <p:nvSpPr>
          <p:cNvPr id="6" name="Text 4"/>
          <p:cNvSpPr txBox="1"/>
          <p:nvPr/>
        </p:nvSpPr>
        <p:spPr>
          <a:xfrm>
            <a:off x="822960" y="4069080"/>
            <a:ext cx="5394960" cy="1143000"/>
          </a:xfrm>
          <a:prstGeom prst="rect">
            <a:avLst/>
          </a:prstGeom>
          <a:noFill/>
          <a:ln/>
        </p:spPr>
        <p:txBody>
          <a:bodyPr wrap="square" lIns="0" tIns="0" rIns="0" bIns="0" rtlCol="0" anchor="t"/>
          <a:lstStyle/>
          <a:p>
            <a:pPr algn="l" indent="0" marL="0">
              <a:spcAft>
                <a:spcPts val="400"/>
              </a:spcAft>
              <a:buNone/>
            </a:pPr>
            <a:r>
              <a:rPr lang="en-US" sz="1350" dirty="0">
                <a:solidFill>
                  <a:srgbClr val="A7B4C8"/>
                </a:solidFill>
                <a:latin typeface="Arial" pitchFamily="34" charset="0"/>
                <a:ea typeface="Arial" pitchFamily="34" charset="-122"/>
                <a:cs typeface="Arial" pitchFamily="34" charset="-120"/>
              </a:rPr>
              <a:t>h ∈ ℝ</a:t>
            </a:r>
            <a:pPr algn="l" indent="0" marL="0">
              <a:spcAft>
                <a:spcPts val="400"/>
              </a:spcAft>
              <a:buNone/>
            </a:pPr>
            <a:r>
              <a:rPr lang="en-US" sz="1350" baseline="30000" dirty="0">
                <a:solidFill>
                  <a:srgbClr val="A7B4C8"/>
                </a:solidFill>
                <a:latin typeface="Arial" pitchFamily="34" charset="0"/>
                <a:ea typeface="Arial" pitchFamily="34" charset="-122"/>
                <a:cs typeface="Arial" pitchFamily="34" charset="-120"/>
              </a:rPr>
              <a:t>1024</a:t>
            </a:r>
            <a:pPr algn="l" indent="0" marL="0">
              <a:spcAft>
                <a:spcPts val="400"/>
              </a:spcAft>
              <a:buNone/>
            </a:pPr>
            <a:r>
              <a:rPr lang="en-US" sz="1350" dirty="0">
                <a:solidFill>
                  <a:srgbClr val="A7B4C8"/>
                </a:solidFill>
                <a:latin typeface="Arial" pitchFamily="34" charset="0"/>
                <a:ea typeface="Arial" pitchFamily="34" charset="-122"/>
                <a:cs typeface="Arial" pitchFamily="34" charset="-120"/>
              </a:rPr>
              <a:t> per action token  ·  M, C ∈ ℝ</a:t>
            </a:r>
            <a:pPr algn="l" indent="0" marL="0">
              <a:spcAft>
                <a:spcPts val="400"/>
              </a:spcAft>
              <a:buNone/>
            </a:pPr>
            <a:r>
              <a:rPr lang="en-US" sz="1350" baseline="30000" dirty="0">
                <a:solidFill>
                  <a:srgbClr val="A7B4C8"/>
                </a:solidFill>
                <a:latin typeface="Arial" pitchFamily="34" charset="0"/>
                <a:ea typeface="Arial" pitchFamily="34" charset="-122"/>
                <a:cs typeface="Arial" pitchFamily="34" charset="-120"/>
              </a:rPr>
              <a:t>1024 × 1024</a:t>
            </a:r>
            <a:endParaRPr lang="en-US" sz="1350" dirty="0"/>
          </a:p>
          <a:p>
            <a:pPr algn="l" indent="0" marL="0">
              <a:spcAft>
                <a:spcPts val="400"/>
              </a:spcAft>
              <a:buNone/>
            </a:pPr>
            <a:r>
              <a:rPr lang="en-US" sz="1350" dirty="0">
                <a:solidFill>
                  <a:srgbClr val="A7B4C8"/>
                </a:solidFill>
                <a:latin typeface="Arial" pitchFamily="34" charset="0"/>
                <a:ea typeface="Arial" pitchFamily="34" charset="-122"/>
                <a:cs typeface="Arial" pitchFamily="34" charset="-120"/>
              </a:rPr>
              <a:t>applied to all 10 tokens at all 10 denoising steps, layer 5</a:t>
            </a:r>
            <a:endParaRPr lang="en-US" sz="1350" dirty="0"/>
          </a:p>
          <a:p>
            <a:pPr algn="l" indent="0" marL="0">
              <a:spcAft>
                <a:spcPts val="400"/>
              </a:spcAft>
              <a:buNone/>
            </a:pPr>
            <a:r>
              <a:rPr lang="en-US" sz="1350" dirty="0">
                <a:solidFill>
                  <a:srgbClr val="A7B4C8"/>
                </a:solidFill>
                <a:latin typeface="Arial" pitchFamily="34" charset="0"/>
                <a:ea typeface="Arial" pitchFamily="34" charset="-122"/>
                <a:cs typeface="Arial" pitchFamily="34" charset="-120"/>
              </a:rPr>
              <a:t>C symmetric ⇒ ‖βCh‖ ≤ β λ</a:t>
            </a:r>
            <a:pPr algn="l" indent="0" marL="0">
              <a:spcAft>
                <a:spcPts val="400"/>
              </a:spcAft>
              <a:buNone/>
            </a:pPr>
            <a:r>
              <a:rPr lang="en-US" sz="1350" baseline="-40000" dirty="0">
                <a:solidFill>
                  <a:srgbClr val="A7B4C8"/>
                </a:solidFill>
                <a:latin typeface="Arial" pitchFamily="34" charset="0"/>
                <a:ea typeface="Arial" pitchFamily="34" charset="-122"/>
                <a:cs typeface="Arial" pitchFamily="34" charset="-120"/>
              </a:rPr>
              <a:t>max</a:t>
            </a:r>
            <a:pPr algn="l" indent="0" marL="0">
              <a:spcAft>
                <a:spcPts val="400"/>
              </a:spcAft>
              <a:buNone/>
            </a:pPr>
            <a:r>
              <a:rPr lang="en-US" sz="1350" dirty="0">
                <a:solidFill>
                  <a:srgbClr val="A7B4C8"/>
                </a:solidFill>
                <a:latin typeface="Arial" pitchFamily="34" charset="0"/>
                <a:ea typeface="Arial" pitchFamily="34" charset="-122"/>
                <a:cs typeface="Arial" pitchFamily="34" charset="-120"/>
              </a:rPr>
              <a:t> ‖h‖;  λ</a:t>
            </a:r>
            <a:pPr algn="l" indent="0" marL="0">
              <a:spcAft>
                <a:spcPts val="400"/>
              </a:spcAft>
              <a:buNone/>
            </a:pPr>
            <a:r>
              <a:rPr lang="en-US" sz="1350" baseline="-40000" dirty="0">
                <a:solidFill>
                  <a:srgbClr val="A7B4C8"/>
                </a:solidFill>
                <a:latin typeface="Arial" pitchFamily="34" charset="0"/>
                <a:ea typeface="Arial" pitchFamily="34" charset="-122"/>
                <a:cs typeface="Arial" pitchFamily="34" charset="-120"/>
              </a:rPr>
              <a:t>max</a:t>
            </a:r>
            <a:pPr algn="l" indent="0" marL="0">
              <a:spcAft>
                <a:spcPts val="400"/>
              </a:spcAft>
              <a:buNone/>
            </a:pPr>
            <a:r>
              <a:rPr lang="en-US" sz="1350" dirty="0">
                <a:solidFill>
                  <a:srgbClr val="A7B4C8"/>
                </a:solidFill>
                <a:latin typeface="Arial" pitchFamily="34" charset="0"/>
                <a:ea typeface="Arial" pitchFamily="34" charset="-122"/>
                <a:cs typeface="Arial" pitchFamily="34" charset="-120"/>
              </a:rPr>
              <a:t> = 0.352 ⇒ ≤ 3.5 % of ‖h‖</a:t>
            </a:r>
            <a:endParaRPr lang="en-US" sz="1350" dirty="0"/>
          </a:p>
        </p:txBody>
      </p:sp>
      <p:sp>
        <p:nvSpPr>
          <p:cNvPr id="7" name="Shape 5"/>
          <p:cNvSpPr/>
          <p:nvPr/>
        </p:nvSpPr>
        <p:spPr>
          <a:xfrm>
            <a:off x="6629400" y="1325880"/>
            <a:ext cx="1579778" cy="1417320"/>
          </a:xfrm>
          <a:prstGeom prst="roundRect">
            <a:avLst>
              <a:gd name="adj" fmla="val 5161"/>
            </a:avLst>
          </a:prstGeom>
          <a:solidFill>
            <a:srgbClr val="131E33"/>
          </a:solidFill>
          <a:ln/>
        </p:spPr>
      </p:sp>
      <p:sp>
        <p:nvSpPr>
          <p:cNvPr id="8" name="Text 6"/>
          <p:cNvSpPr txBox="1"/>
          <p:nvPr/>
        </p:nvSpPr>
        <p:spPr>
          <a:xfrm>
            <a:off x="6629400" y="1417320"/>
            <a:ext cx="1579778" cy="566928"/>
          </a:xfrm>
          <a:prstGeom prst="rect">
            <a:avLst/>
          </a:prstGeom>
          <a:noFill/>
          <a:ln/>
        </p:spPr>
        <p:txBody>
          <a:bodyPr wrap="square" lIns="0" tIns="0" rIns="0" bIns="0" rtlCol="0" anchor="ctr"/>
          <a:lstStyle/>
          <a:p>
            <a:pPr algn="ctr" indent="0" marL="0">
              <a:buNone/>
            </a:pPr>
            <a:r>
              <a:rPr lang="en-US" sz="2800" b="1" dirty="0">
                <a:solidFill>
                  <a:srgbClr val="38BDF8"/>
                </a:solidFill>
                <a:latin typeface="Arial" pitchFamily="34" charset="0"/>
                <a:ea typeface="Arial" pitchFamily="34" charset="-122"/>
                <a:cs typeface="Arial" pitchFamily="34" charset="-120"/>
              </a:rPr>
              <a:t>0.0994</a:t>
            </a:r>
            <a:endParaRPr lang="en-US" sz="2800" dirty="0"/>
          </a:p>
        </p:txBody>
      </p:sp>
      <p:sp>
        <p:nvSpPr>
          <p:cNvPr id="9" name="Text 7"/>
          <p:cNvSpPr txBox="1"/>
          <p:nvPr/>
        </p:nvSpPr>
        <p:spPr>
          <a:xfrm>
            <a:off x="6675120" y="2029968"/>
            <a:ext cx="1488338" cy="64008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‖Δh‖ / ‖h‖</a:t>
            </a:r>
            <a:endParaRPr lang="en-US" sz="1300" dirty="0"/>
          </a:p>
          <a:p>
            <a:pPr algn="ctr" indent="0" marL="0">
              <a:buNone/>
            </a:pPr>
            <a:r>
              <a:rPr lang="en-US" sz="1300" dirty="0">
                <a:solidFill>
                  <a:srgbClr val="6B7A93"/>
                </a:solidFill>
                <a:latin typeface="Arial" pitchFamily="34" charset="0"/>
                <a:ea typeface="Arial" pitchFamily="34" charset="-122"/>
                <a:cs typeface="Arial" pitchFamily="34" charset="-120"/>
              </a:rPr>
              <a:t>β = 0.1</a:t>
            </a:r>
            <a:endParaRPr lang="en-US" sz="1300" dirty="0"/>
          </a:p>
        </p:txBody>
      </p:sp>
      <p:sp>
        <p:nvSpPr>
          <p:cNvPr id="10" name="Shape 8"/>
          <p:cNvSpPr/>
          <p:nvPr/>
        </p:nvSpPr>
        <p:spPr>
          <a:xfrm>
            <a:off x="8346338" y="1325880"/>
            <a:ext cx="1579778" cy="1417320"/>
          </a:xfrm>
          <a:prstGeom prst="roundRect">
            <a:avLst>
              <a:gd name="adj" fmla="val 5161"/>
            </a:avLst>
          </a:prstGeom>
          <a:solidFill>
            <a:srgbClr val="131E33"/>
          </a:solidFill>
          <a:ln/>
        </p:spPr>
      </p:sp>
      <p:sp>
        <p:nvSpPr>
          <p:cNvPr id="11" name="Text 9"/>
          <p:cNvSpPr txBox="1"/>
          <p:nvPr/>
        </p:nvSpPr>
        <p:spPr>
          <a:xfrm>
            <a:off x="8346338" y="1417320"/>
            <a:ext cx="1579778" cy="566928"/>
          </a:xfrm>
          <a:prstGeom prst="rect">
            <a:avLst/>
          </a:prstGeom>
          <a:noFill/>
          <a:ln/>
        </p:spPr>
        <p:txBody>
          <a:bodyPr wrap="square" lIns="0" tIns="0" rIns="0" bIns="0" rtlCol="0" anchor="ctr"/>
          <a:lstStyle/>
          <a:p>
            <a:pPr algn="ctr" indent="0" marL="0">
              <a:buNone/>
            </a:pPr>
            <a:r>
              <a:rPr lang="en-US" sz="2800" b="1" dirty="0">
                <a:solidFill>
                  <a:srgbClr val="38BDF8"/>
                </a:solidFill>
                <a:latin typeface="Arial" pitchFamily="34" charset="0"/>
                <a:ea typeface="Arial" pitchFamily="34" charset="-122"/>
                <a:cs typeface="Arial" pitchFamily="34" charset="-120"/>
              </a:rPr>
              <a:t>−0.9996</a:t>
            </a:r>
            <a:endParaRPr lang="en-US" sz="2800" dirty="0"/>
          </a:p>
        </p:txBody>
      </p:sp>
      <p:sp>
        <p:nvSpPr>
          <p:cNvPr id="12" name="Text 10"/>
          <p:cNvSpPr txBox="1"/>
          <p:nvPr/>
        </p:nvSpPr>
        <p:spPr>
          <a:xfrm>
            <a:off x="8392058" y="2029968"/>
            <a:ext cx="1488338" cy="64008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cos(Δh, h)</a:t>
            </a:r>
            <a:endParaRPr lang="en-US" sz="1300" dirty="0"/>
          </a:p>
          <a:p>
            <a:pPr algn="ctr" indent="0" marL="0">
              <a:buNone/>
            </a:pPr>
            <a:r>
              <a:rPr lang="en-US" sz="1300" dirty="0">
                <a:solidFill>
                  <a:srgbClr val="6B7A93"/>
                </a:solidFill>
                <a:latin typeface="Arial" pitchFamily="34" charset="0"/>
                <a:ea typeface="Arial" pitchFamily="34" charset="-122"/>
                <a:cs typeface="Arial" pitchFamily="34" charset="-120"/>
              </a:rPr>
              <a:t>−1 = pure shrink</a:t>
            </a:r>
            <a:endParaRPr lang="en-US" sz="1300" dirty="0"/>
          </a:p>
        </p:txBody>
      </p:sp>
      <p:sp>
        <p:nvSpPr>
          <p:cNvPr id="13" name="Shape 11"/>
          <p:cNvSpPr/>
          <p:nvPr/>
        </p:nvSpPr>
        <p:spPr>
          <a:xfrm>
            <a:off x="10063277" y="1325880"/>
            <a:ext cx="1579778" cy="1417320"/>
          </a:xfrm>
          <a:prstGeom prst="roundRect">
            <a:avLst>
              <a:gd name="adj" fmla="val 5161"/>
            </a:avLst>
          </a:prstGeom>
          <a:solidFill>
            <a:srgbClr val="131E33"/>
          </a:solidFill>
          <a:ln/>
        </p:spPr>
      </p:sp>
      <p:sp>
        <p:nvSpPr>
          <p:cNvPr id="14" name="Text 12"/>
          <p:cNvSpPr txBox="1"/>
          <p:nvPr/>
        </p:nvSpPr>
        <p:spPr>
          <a:xfrm>
            <a:off x="10063277" y="1417320"/>
            <a:ext cx="1579778" cy="566928"/>
          </a:xfrm>
          <a:prstGeom prst="rect">
            <a:avLst/>
          </a:prstGeom>
          <a:noFill/>
          <a:ln/>
        </p:spPr>
        <p:txBody>
          <a:bodyPr wrap="square" lIns="0" tIns="0" rIns="0" bIns="0" rtlCol="0" anchor="ctr"/>
          <a:lstStyle/>
          <a:p>
            <a:pPr algn="ctr" indent="0" marL="0">
              <a:buNone/>
            </a:pPr>
            <a:r>
              <a:rPr lang="en-US" sz="2800" b="1" dirty="0">
                <a:solidFill>
                  <a:srgbClr val="38BDF8"/>
                </a:solidFill>
                <a:latin typeface="Arial" pitchFamily="34" charset="0"/>
                <a:ea typeface="Arial" pitchFamily="34" charset="-122"/>
                <a:cs typeface="Arial" pitchFamily="34" charset="-120"/>
              </a:rPr>
              <a:t>≈ 0.006</a:t>
            </a:r>
            <a:endParaRPr lang="en-US" sz="2800" dirty="0"/>
          </a:p>
        </p:txBody>
      </p:sp>
      <p:sp>
        <p:nvSpPr>
          <p:cNvPr id="15" name="Text 13"/>
          <p:cNvSpPr txBox="1"/>
          <p:nvPr/>
        </p:nvSpPr>
        <p:spPr>
          <a:xfrm>
            <a:off x="10108997" y="2029968"/>
            <a:ext cx="1488338" cy="640080"/>
          </a:xfrm>
          <a:prstGeom prst="rect">
            <a:avLst/>
          </a:prstGeom>
          <a:noFill/>
          <a:ln/>
        </p:spPr>
        <p:txBody>
          <a:bodyPr wrap="square" lIns="0" tIns="0" rIns="0" bIns="0" rtlCol="0" anchor="t"/>
          <a:lstStyle/>
          <a:p>
            <a:pPr algn="ctr" indent="0" marL="0">
              <a:buNone/>
            </a:pPr>
            <a:r>
              <a:rPr lang="en-US" sz="1300" b="1" dirty="0">
                <a:solidFill>
                  <a:srgbClr val="F1F5F9"/>
                </a:solidFill>
                <a:latin typeface="Arial" pitchFamily="34" charset="0"/>
                <a:ea typeface="Arial" pitchFamily="34" charset="-122"/>
                <a:cs typeface="Arial" pitchFamily="34" charset="-120"/>
              </a:rPr>
              <a:t>ρ = hᵀCh / ‖h‖²</a:t>
            </a:r>
            <a:endParaRPr lang="en-US" sz="1300" dirty="0"/>
          </a:p>
          <a:p>
            <a:pPr algn="ctr" indent="0" marL="0">
              <a:buNone/>
            </a:pPr>
            <a:r>
              <a:rPr lang="en-US" sz="1300" dirty="0">
                <a:solidFill>
                  <a:srgbClr val="6B7A93"/>
                </a:solidFill>
                <a:latin typeface="Arial" pitchFamily="34" charset="0"/>
                <a:ea typeface="Arial" pitchFamily="34" charset="-122"/>
                <a:cs typeface="Arial" pitchFamily="34" charset="-120"/>
              </a:rPr>
              <a:t>trace/d = 0.0185</a:t>
            </a:r>
            <a:endParaRPr lang="en-US" sz="1300" dirty="0"/>
          </a:p>
        </p:txBody>
      </p:sp>
      <p:sp>
        <p:nvSpPr>
          <p:cNvPr id="16" name="Text 14"/>
          <p:cNvSpPr txBox="1"/>
          <p:nvPr/>
        </p:nvSpPr>
        <p:spPr>
          <a:xfrm>
            <a:off x="6629400" y="2816352"/>
            <a:ext cx="5013655" cy="256032"/>
          </a:xfrm>
          <a:prstGeom prst="rect">
            <a:avLst/>
          </a:prstGeom>
          <a:noFill/>
          <a:ln/>
        </p:spPr>
        <p:txBody>
          <a:bodyPr wrap="square" lIns="0" tIns="0" rIns="0" bIns="0" rtlCol="0" anchor="t"/>
          <a:lstStyle/>
          <a:p>
            <a:pPr algn="l" indent="0" marL="0">
              <a:buNone/>
            </a:pPr>
            <a:r>
              <a:rPr lang="en-US" sz="1250" dirty="0">
                <a:solidFill>
                  <a:srgbClr val="6B7A93"/>
                </a:solidFill>
                <a:latin typeface="Arial" pitchFamily="34" charset="0"/>
                <a:ea typeface="Arial" pitchFamily="34" charset="-122"/>
                <a:cs typeface="Arial" pitchFamily="34" charset="-120"/>
              </a:rPr>
              <a:t>9,220 hook applications · V0 · L5 α 0.5 β 0.1 · states 15–29 (1E)</a:t>
            </a:r>
            <a:endParaRPr lang="en-US" sz="1250" dirty="0"/>
          </a:p>
        </p:txBody>
      </p:sp>
      <p:sp>
        <p:nvSpPr>
          <p:cNvPr id="17" name="Shape 15"/>
          <p:cNvSpPr/>
          <p:nvPr/>
        </p:nvSpPr>
        <p:spPr>
          <a:xfrm>
            <a:off x="6766560" y="3429000"/>
            <a:ext cx="4480560" cy="0"/>
          </a:xfrm>
          <a:prstGeom prst="line">
            <a:avLst/>
          </a:prstGeom>
          <a:noFill/>
          <a:ln w="31750">
            <a:solidFill>
              <a:srgbClr val="F1F5F9"/>
            </a:solidFill>
            <a:prstDash val="solid"/>
            <a:tailEnd type="triangle"/>
          </a:ln>
        </p:spPr>
      </p:sp>
      <p:sp>
        <p:nvSpPr>
          <p:cNvPr id="18" name="Text 16"/>
          <p:cNvSpPr txBox="1"/>
          <p:nvPr/>
        </p:nvSpPr>
        <p:spPr>
          <a:xfrm>
            <a:off x="11292840" y="3264408"/>
            <a:ext cx="365760" cy="329184"/>
          </a:xfrm>
          <a:prstGeom prst="rect">
            <a:avLst/>
          </a:prstGeom>
          <a:noFill/>
          <a:ln/>
        </p:spPr>
        <p:txBody>
          <a:bodyPr wrap="square" lIns="0" tIns="0" rIns="0" bIns="0" rtlCol="0" anchor="t"/>
          <a:lstStyle/>
          <a:p>
            <a:pPr algn="l" indent="0" marL="0">
              <a:buNone/>
            </a:pPr>
            <a:r>
              <a:rPr lang="en-US" sz="1800" b="1" dirty="0">
                <a:solidFill>
                  <a:srgbClr val="F1F5F9"/>
                </a:solidFill>
                <a:latin typeface="Cambria Math" pitchFamily="34" charset="0"/>
                <a:ea typeface="Cambria Math" pitchFamily="34" charset="-122"/>
                <a:cs typeface="Cambria Math" pitchFamily="34" charset="-120"/>
              </a:rPr>
              <a:t>h</a:t>
            </a:r>
            <a:endParaRPr lang="en-US" sz="1800" dirty="0"/>
          </a:p>
        </p:txBody>
      </p:sp>
      <p:sp>
        <p:nvSpPr>
          <p:cNvPr id="19" name="Shape 17"/>
          <p:cNvSpPr/>
          <p:nvPr/>
        </p:nvSpPr>
        <p:spPr>
          <a:xfrm>
            <a:off x="6766560" y="4069080"/>
            <a:ext cx="4032504" cy="0"/>
          </a:xfrm>
          <a:prstGeom prst="line">
            <a:avLst/>
          </a:prstGeom>
          <a:noFill/>
          <a:ln w="31750">
            <a:solidFill>
              <a:srgbClr val="38BDF8"/>
            </a:solidFill>
            <a:prstDash val="solid"/>
            <a:tailEnd type="triangle"/>
          </a:ln>
        </p:spPr>
      </p:sp>
      <p:sp>
        <p:nvSpPr>
          <p:cNvPr id="20" name="Text 18"/>
          <p:cNvSpPr txBox="1"/>
          <p:nvPr/>
        </p:nvSpPr>
        <p:spPr>
          <a:xfrm>
            <a:off x="6858000" y="4105656"/>
            <a:ext cx="1828800" cy="292608"/>
          </a:xfrm>
          <a:prstGeom prst="rect">
            <a:avLst/>
          </a:prstGeom>
          <a:noFill/>
          <a:ln/>
        </p:spPr>
        <p:txBody>
          <a:bodyPr wrap="square" lIns="0" tIns="0" rIns="0" bIns="0" rtlCol="0" anchor="t"/>
          <a:lstStyle/>
          <a:p>
            <a:pPr algn="l" indent="0" marL="0">
              <a:buNone/>
            </a:pPr>
            <a:r>
              <a:rPr lang="en-US" sz="1500" dirty="0">
                <a:solidFill>
                  <a:srgbClr val="38BDF8"/>
                </a:solidFill>
                <a:latin typeface="Cambria Math" pitchFamily="34" charset="0"/>
                <a:ea typeface="Cambria Math" pitchFamily="34" charset="-122"/>
                <a:cs typeface="Cambria Math" pitchFamily="34" charset="-120"/>
              </a:rPr>
              <a:t>(1 − β) h</a:t>
            </a:r>
            <a:endParaRPr lang="en-US" sz="1500" dirty="0"/>
          </a:p>
        </p:txBody>
      </p:sp>
      <p:sp>
        <p:nvSpPr>
          <p:cNvPr id="21" name="Shape 19"/>
          <p:cNvSpPr/>
          <p:nvPr/>
        </p:nvSpPr>
        <p:spPr>
          <a:xfrm flipV="1">
            <a:off x="10799064" y="3813048"/>
            <a:ext cx="0" cy="256032"/>
          </a:xfrm>
          <a:prstGeom prst="line">
            <a:avLst/>
          </a:prstGeom>
          <a:noFill/>
          <a:ln w="22225">
            <a:solidFill>
              <a:srgbClr val="F2C94C"/>
            </a:solidFill>
            <a:prstDash val="dash"/>
            <a:tailEnd type="triangle"/>
          </a:ln>
        </p:spPr>
      </p:sp>
      <p:sp>
        <p:nvSpPr>
          <p:cNvPr id="22" name="Text 20"/>
          <p:cNvSpPr txBox="1"/>
          <p:nvPr/>
        </p:nvSpPr>
        <p:spPr>
          <a:xfrm>
            <a:off x="9061704" y="3703320"/>
            <a:ext cx="1645920" cy="274320"/>
          </a:xfrm>
          <a:prstGeom prst="rect">
            <a:avLst/>
          </a:prstGeom>
          <a:noFill/>
          <a:ln/>
        </p:spPr>
        <p:txBody>
          <a:bodyPr wrap="square" lIns="0" tIns="0" rIns="0" bIns="0" rtlCol="0" anchor="t"/>
          <a:lstStyle/>
          <a:p>
            <a:pPr algn="r" indent="0" marL="0">
              <a:buNone/>
            </a:pPr>
            <a:r>
              <a:rPr lang="en-US" sz="1300" dirty="0">
                <a:solidFill>
                  <a:srgbClr val="F2C94C"/>
                </a:solidFill>
                <a:latin typeface="Cambria Math" pitchFamily="34" charset="0"/>
                <a:ea typeface="Cambria Math" pitchFamily="34" charset="-122"/>
                <a:cs typeface="Cambria Math" pitchFamily="34" charset="-120"/>
              </a:rPr>
              <a:t>+ β C h  (tiny)</a:t>
            </a:r>
            <a:endParaRPr lang="en-US" sz="1300" dirty="0"/>
          </a:p>
        </p:txBody>
      </p:sp>
      <p:sp>
        <p:nvSpPr>
          <p:cNvPr id="23" name="Text 21"/>
          <p:cNvSpPr txBox="1"/>
          <p:nvPr/>
        </p:nvSpPr>
        <p:spPr>
          <a:xfrm>
            <a:off x="6766560" y="4416552"/>
            <a:ext cx="5013655" cy="237744"/>
          </a:xfrm>
          <a:prstGeom prst="rect">
            <a:avLst/>
          </a:prstGeom>
          <a:noFill/>
          <a:ln/>
        </p:spPr>
        <p:txBody>
          <a:bodyPr wrap="square" lIns="0" tIns="0" rIns="0" bIns="0" rtlCol="0" anchor="t"/>
          <a:lstStyle/>
          <a:p>
            <a:pPr algn="l" indent="0" marL="0">
              <a:buNone/>
            </a:pPr>
            <a:r>
              <a:rPr lang="en-US" sz="1150" dirty="0">
                <a:solidFill>
                  <a:srgbClr val="6B7A93"/>
                </a:solidFill>
                <a:latin typeface="Arial" pitchFamily="34" charset="0"/>
                <a:ea typeface="Arial" pitchFamily="34" charset="-122"/>
                <a:cs typeface="Arial" pitchFamily="34" charset="-120"/>
              </a:rPr>
              <a:t>sketch, not to scale: the βCh component is magnified</a:t>
            </a:r>
            <a:endParaRPr lang="en-US" sz="1150" dirty="0"/>
          </a:p>
        </p:txBody>
      </p:sp>
      <p:sp>
        <p:nvSpPr>
          <p:cNvPr id="24" name="Shape 22"/>
          <p:cNvSpPr/>
          <p:nvPr/>
        </p:nvSpPr>
        <p:spPr>
          <a:xfrm>
            <a:off x="6629400" y="4800600"/>
            <a:ext cx="5013655" cy="1097280"/>
          </a:xfrm>
          <a:prstGeom prst="roundRect">
            <a:avLst>
              <a:gd name="adj" fmla="val 6667"/>
            </a:avLst>
          </a:prstGeom>
          <a:solidFill>
            <a:srgbClr val="0E4A66"/>
          </a:solidFill>
          <a:ln w="12700">
            <a:solidFill>
              <a:srgbClr val="38BDF8"/>
            </a:solidFill>
            <a:prstDash val="solid"/>
          </a:ln>
        </p:spPr>
      </p:sp>
      <p:sp>
        <p:nvSpPr>
          <p:cNvPr id="25" name="Text 23"/>
          <p:cNvSpPr txBox="1"/>
          <p:nvPr/>
        </p:nvSpPr>
        <p:spPr>
          <a:xfrm>
            <a:off x="6812280" y="4828032"/>
            <a:ext cx="4647895" cy="1042416"/>
          </a:xfrm>
          <a:prstGeom prst="rect">
            <a:avLst/>
          </a:prstGeom>
          <a:noFill/>
          <a:ln/>
        </p:spPr>
        <p:txBody>
          <a:bodyPr wrap="square" lIns="0" tIns="0" rIns="0" bIns="0" rtlCol="0" anchor="ctr"/>
          <a:lstStyle/>
          <a:p>
            <a:pPr algn="l" indent="0" marL="0">
              <a:buNone/>
            </a:pPr>
            <a:r>
              <a:rPr lang="en-US" sz="1450" dirty="0">
                <a:solidFill>
                  <a:srgbClr val="F1F5F9"/>
                </a:solidFill>
                <a:latin typeface="Arial" pitchFamily="34" charset="0"/>
                <a:ea typeface="Arial" pitchFamily="34" charset="-122"/>
                <a:cs typeface="Arial" pitchFamily="34" charset="-120"/>
              </a:rPr>
              <a:t>The tested intervention is nearly antiparallel to h — consistent with dominant contraction, h′ ≈ 0.9006·h.</a:t>
            </a:r>
            <a:endParaRPr lang="en-US" sz="1450" dirty="0"/>
          </a:p>
          <a:p>
            <a:pPr algn="l" indent="0" marL="0">
              <a:buNone/>
            </a:pPr>
            <a:r>
              <a:rPr lang="en-US" sz="1450" dirty="0">
                <a:solidFill>
                  <a:srgbClr val="6B7A93"/>
                </a:solidFill>
                <a:latin typeface="Arial" pitchFamily="34" charset="0"/>
                <a:ea typeface="Arial" pitchFamily="34" charset="-122"/>
                <a:cs typeface="Arial" pitchFamily="34" charset="-120"/>
              </a:rPr>
              <a:t>7A, candidate builder, 4/4 tasks: cos(Δh, h) from −0.9979 to −0.9996</a:t>
            </a:r>
            <a:endParaRPr lang="en-US" sz="1450" dirty="0"/>
          </a:p>
        </p:txBody>
      </p:sp>
      <p:sp>
        <p:nvSpPr>
          <p:cNvPr id="26" name="Text 24"/>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phase1e_intervention_diagnostics.yaml (V0, L5 α 0.5 β 0.1, states 15–29, seed 100) · phase7a_operator_diagnostics.csv · steering.py:447, 461</a:t>
            </a:r>
            <a:endParaRPr lang="en-US" sz="1000" dirty="0"/>
          </a:p>
        </p:txBody>
      </p:sp>
      <p:sp>
        <p:nvSpPr>
          <p:cNvPr id="27" name="Text 25"/>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28" name="Text 26"/>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9 / 21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MECHANISM ABLATIONS · 2A / 2B / 3A</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COAST vs shrinkage vs a spectrum-matched random C</a:t>
            </a:r>
            <a:endParaRPr lang="en-US" sz="3000" dirty="0"/>
          </a:p>
        </p:txBody>
      </p:sp>
      <p:sp>
        <p:nvSpPr>
          <p:cNvPr id="4" name="Text 2"/>
          <p:cNvSpPr txBox="1"/>
          <p:nvPr/>
        </p:nvSpPr>
        <p:spPr>
          <a:xfrm>
            <a:off x="548640" y="1325880"/>
            <a:ext cx="4160520" cy="310896"/>
          </a:xfrm>
          <a:prstGeom prst="rect">
            <a:avLst/>
          </a:prstGeom>
          <a:noFill/>
          <a:ln/>
        </p:spPr>
        <p:txBody>
          <a:bodyPr wrap="square" lIns="0" tIns="0" rIns="0" bIns="0" rtlCol="0" anchor="t"/>
          <a:lstStyle/>
          <a:p>
            <a:pPr algn="l" indent="0" marL="0">
              <a:buNone/>
            </a:pPr>
            <a:r>
              <a:rPr lang="en-US" sz="1600" b="1" dirty="0">
                <a:solidFill>
                  <a:srgbClr val="F1F5F9"/>
                </a:solidFill>
                <a:latin typeface="Arial" pitchFamily="34" charset="0"/>
                <a:ea typeface="Arial" pitchFamily="34" charset="-122"/>
                <a:cs typeface="Arial" pitchFamily="34" charset="-120"/>
              </a:rPr>
              <a:t>Development · states 15–29 (2A/2B)</a:t>
            </a:r>
            <a:endParaRPr lang="en-US" sz="1600" dirty="0"/>
          </a:p>
        </p:txBody>
      </p:sp>
      <p:sp>
        <p:nvSpPr>
          <p:cNvPr id="5" name="Shape 3"/>
          <p:cNvSpPr/>
          <p:nvPr/>
        </p:nvSpPr>
        <p:spPr>
          <a:xfrm>
            <a:off x="868680" y="4343400"/>
            <a:ext cx="3840480" cy="0"/>
          </a:xfrm>
          <a:prstGeom prst="line">
            <a:avLst/>
          </a:prstGeom>
          <a:noFill/>
          <a:ln w="9525">
            <a:solidFill>
              <a:srgbClr val="22314A"/>
            </a:solidFill>
            <a:prstDash val="solid"/>
          </a:ln>
        </p:spPr>
      </p:sp>
      <p:sp>
        <p:nvSpPr>
          <p:cNvPr id="6" name="Text 4"/>
          <p:cNvSpPr txBox="1"/>
          <p:nvPr/>
        </p:nvSpPr>
        <p:spPr>
          <a:xfrm>
            <a:off x="457200" y="4224528"/>
            <a:ext cx="320040" cy="237744"/>
          </a:xfrm>
          <a:prstGeom prst="rect">
            <a:avLst/>
          </a:prstGeom>
          <a:noFill/>
          <a:ln/>
        </p:spPr>
        <p:txBody>
          <a:bodyPr wrap="square" lIns="0" tIns="0" rIns="0" bIns="0" rtlCol="0" anchor="t"/>
          <a:lstStyle/>
          <a:p>
            <a:pPr algn="r" indent="0" marL="0">
              <a:buNone/>
            </a:pPr>
            <a:r>
              <a:rPr lang="en-US" sz="1200" dirty="0">
                <a:solidFill>
                  <a:srgbClr val="6B7A93"/>
                </a:solidFill>
                <a:latin typeface="Arial" pitchFamily="34" charset="0"/>
                <a:ea typeface="Arial" pitchFamily="34" charset="-122"/>
                <a:cs typeface="Arial" pitchFamily="34" charset="-120"/>
              </a:rPr>
              <a:t>0</a:t>
            </a:r>
            <a:endParaRPr lang="en-US" sz="1200" dirty="0"/>
          </a:p>
        </p:txBody>
      </p:sp>
      <p:sp>
        <p:nvSpPr>
          <p:cNvPr id="7" name="Shape 5"/>
          <p:cNvSpPr/>
          <p:nvPr/>
        </p:nvSpPr>
        <p:spPr>
          <a:xfrm>
            <a:off x="868680" y="3535680"/>
            <a:ext cx="3840480" cy="0"/>
          </a:xfrm>
          <a:prstGeom prst="line">
            <a:avLst/>
          </a:prstGeom>
          <a:noFill/>
          <a:ln w="9525">
            <a:solidFill>
              <a:srgbClr val="22314A"/>
            </a:solidFill>
            <a:prstDash val="solid"/>
          </a:ln>
        </p:spPr>
      </p:sp>
      <p:sp>
        <p:nvSpPr>
          <p:cNvPr id="8" name="Text 6"/>
          <p:cNvSpPr txBox="1"/>
          <p:nvPr/>
        </p:nvSpPr>
        <p:spPr>
          <a:xfrm>
            <a:off x="457200" y="3416808"/>
            <a:ext cx="320040" cy="237744"/>
          </a:xfrm>
          <a:prstGeom prst="rect">
            <a:avLst/>
          </a:prstGeom>
          <a:noFill/>
          <a:ln/>
        </p:spPr>
        <p:txBody>
          <a:bodyPr wrap="square" lIns="0" tIns="0" rIns="0" bIns="0" rtlCol="0" anchor="t"/>
          <a:lstStyle/>
          <a:p>
            <a:pPr algn="r" indent="0" marL="0">
              <a:buNone/>
            </a:pPr>
            <a:r>
              <a:rPr lang="en-US" sz="1200" dirty="0">
                <a:solidFill>
                  <a:srgbClr val="6B7A93"/>
                </a:solidFill>
                <a:latin typeface="Arial" pitchFamily="34" charset="0"/>
                <a:ea typeface="Arial" pitchFamily="34" charset="-122"/>
                <a:cs typeface="Arial" pitchFamily="34" charset="-120"/>
              </a:rPr>
              <a:t>5</a:t>
            </a:r>
            <a:endParaRPr lang="en-US" sz="1200" dirty="0"/>
          </a:p>
        </p:txBody>
      </p:sp>
      <p:sp>
        <p:nvSpPr>
          <p:cNvPr id="9" name="Shape 7"/>
          <p:cNvSpPr/>
          <p:nvPr/>
        </p:nvSpPr>
        <p:spPr>
          <a:xfrm>
            <a:off x="868680" y="2727960"/>
            <a:ext cx="3840480" cy="0"/>
          </a:xfrm>
          <a:prstGeom prst="line">
            <a:avLst/>
          </a:prstGeom>
          <a:noFill/>
          <a:ln w="9525">
            <a:solidFill>
              <a:srgbClr val="22314A"/>
            </a:solidFill>
            <a:prstDash val="solid"/>
          </a:ln>
        </p:spPr>
      </p:sp>
      <p:sp>
        <p:nvSpPr>
          <p:cNvPr id="10" name="Text 8"/>
          <p:cNvSpPr txBox="1"/>
          <p:nvPr/>
        </p:nvSpPr>
        <p:spPr>
          <a:xfrm>
            <a:off x="457200" y="2609088"/>
            <a:ext cx="320040" cy="237744"/>
          </a:xfrm>
          <a:prstGeom prst="rect">
            <a:avLst/>
          </a:prstGeom>
          <a:noFill/>
          <a:ln/>
        </p:spPr>
        <p:txBody>
          <a:bodyPr wrap="square" lIns="0" tIns="0" rIns="0" bIns="0" rtlCol="0" anchor="t"/>
          <a:lstStyle/>
          <a:p>
            <a:pPr algn="r" indent="0" marL="0">
              <a:buNone/>
            </a:pPr>
            <a:r>
              <a:rPr lang="en-US" sz="1200" dirty="0">
                <a:solidFill>
                  <a:srgbClr val="6B7A93"/>
                </a:solidFill>
                <a:latin typeface="Arial" pitchFamily="34" charset="0"/>
                <a:ea typeface="Arial" pitchFamily="34" charset="-122"/>
                <a:cs typeface="Arial" pitchFamily="34" charset="-120"/>
              </a:rPr>
              <a:t>10</a:t>
            </a:r>
            <a:endParaRPr lang="en-US" sz="1200" dirty="0"/>
          </a:p>
        </p:txBody>
      </p:sp>
      <p:sp>
        <p:nvSpPr>
          <p:cNvPr id="11" name="Shape 9"/>
          <p:cNvSpPr/>
          <p:nvPr/>
        </p:nvSpPr>
        <p:spPr>
          <a:xfrm>
            <a:off x="868680" y="1920240"/>
            <a:ext cx="3840480" cy="0"/>
          </a:xfrm>
          <a:prstGeom prst="line">
            <a:avLst/>
          </a:prstGeom>
          <a:noFill/>
          <a:ln w="9525">
            <a:solidFill>
              <a:srgbClr val="22314A"/>
            </a:solidFill>
            <a:prstDash val="solid"/>
          </a:ln>
        </p:spPr>
      </p:sp>
      <p:sp>
        <p:nvSpPr>
          <p:cNvPr id="12" name="Text 10"/>
          <p:cNvSpPr txBox="1"/>
          <p:nvPr/>
        </p:nvSpPr>
        <p:spPr>
          <a:xfrm>
            <a:off x="457200" y="1801368"/>
            <a:ext cx="320040" cy="237744"/>
          </a:xfrm>
          <a:prstGeom prst="rect">
            <a:avLst/>
          </a:prstGeom>
          <a:noFill/>
          <a:ln/>
        </p:spPr>
        <p:txBody>
          <a:bodyPr wrap="square" lIns="0" tIns="0" rIns="0" bIns="0" rtlCol="0" anchor="t"/>
          <a:lstStyle/>
          <a:p>
            <a:pPr algn="r" indent="0" marL="0">
              <a:buNone/>
            </a:pPr>
            <a:r>
              <a:rPr lang="en-US" sz="1200" dirty="0">
                <a:solidFill>
                  <a:srgbClr val="6B7A93"/>
                </a:solidFill>
                <a:latin typeface="Arial" pitchFamily="34" charset="0"/>
                <a:ea typeface="Arial" pitchFamily="34" charset="-122"/>
                <a:cs typeface="Arial" pitchFamily="34" charset="-120"/>
              </a:rPr>
              <a:t>15</a:t>
            </a:r>
            <a:endParaRPr lang="en-US" sz="1200" dirty="0"/>
          </a:p>
        </p:txBody>
      </p:sp>
      <p:sp>
        <p:nvSpPr>
          <p:cNvPr id="13" name="Shape 11"/>
          <p:cNvSpPr/>
          <p:nvPr/>
        </p:nvSpPr>
        <p:spPr>
          <a:xfrm>
            <a:off x="1138199" y="2243328"/>
            <a:ext cx="581101" cy="2100072"/>
          </a:xfrm>
          <a:prstGeom prst="rect">
            <a:avLst/>
          </a:prstGeom>
          <a:solidFill>
            <a:srgbClr val="A3AEC2"/>
          </a:solidFill>
          <a:ln/>
        </p:spPr>
      </p:sp>
      <p:sp>
        <p:nvSpPr>
          <p:cNvPr id="14" name="Text 12"/>
          <p:cNvSpPr txBox="1"/>
          <p:nvPr/>
        </p:nvSpPr>
        <p:spPr>
          <a:xfrm>
            <a:off x="955319" y="1932432"/>
            <a:ext cx="946861" cy="274320"/>
          </a:xfrm>
          <a:prstGeom prst="rect">
            <a:avLst/>
          </a:prstGeom>
          <a:noFill/>
          <a:ln/>
        </p:spPr>
        <p:txBody>
          <a:bodyPr wrap="square" lIns="0" tIns="0" rIns="0" bIns="0" rtlCol="0" anchor="t"/>
          <a:lstStyle/>
          <a:p>
            <a:pPr algn="ctr" indent="0" marL="0">
              <a:buNone/>
            </a:pPr>
            <a:r>
              <a:rPr lang="en-US" sz="1500" b="1" dirty="0">
                <a:solidFill>
                  <a:srgbClr val="F1F5F9"/>
                </a:solidFill>
                <a:latin typeface="Arial" pitchFamily="34" charset="0"/>
                <a:ea typeface="Arial" pitchFamily="34" charset="-122"/>
                <a:cs typeface="Arial" pitchFamily="34" charset="-120"/>
              </a:rPr>
              <a:t>13/15</a:t>
            </a:r>
            <a:endParaRPr lang="en-US" sz="1500" dirty="0"/>
          </a:p>
        </p:txBody>
      </p:sp>
      <p:sp>
        <p:nvSpPr>
          <p:cNvPr id="15" name="Text 13"/>
          <p:cNvSpPr txBox="1"/>
          <p:nvPr/>
        </p:nvSpPr>
        <p:spPr>
          <a:xfrm>
            <a:off x="909599" y="4398264"/>
            <a:ext cx="1038301" cy="256032"/>
          </a:xfrm>
          <a:prstGeom prst="rect">
            <a:avLst/>
          </a:prstGeom>
          <a:noFill/>
          <a:ln/>
        </p:spPr>
        <p:txBody>
          <a:bodyPr wrap="square" lIns="0" tIns="0" rIns="0" bIns="0" rtlCol="0" anchor="t"/>
          <a:lstStyle/>
          <a:p>
            <a:pPr algn="ctr" indent="0" marL="0">
              <a:buNone/>
            </a:pPr>
            <a:r>
              <a:rPr lang="en-US" sz="1250" dirty="0">
                <a:solidFill>
                  <a:srgbClr val="A7B4C8"/>
                </a:solidFill>
                <a:latin typeface="Arial" pitchFamily="34" charset="0"/>
                <a:ea typeface="Arial" pitchFamily="34" charset="-122"/>
                <a:cs typeface="Arial" pitchFamily="34" charset="-120"/>
              </a:rPr>
              <a:t>Baseline</a:t>
            </a:r>
            <a:endParaRPr lang="en-US" sz="1250" dirty="0"/>
          </a:p>
        </p:txBody>
      </p:sp>
      <p:sp>
        <p:nvSpPr>
          <p:cNvPr id="16" name="Shape 14"/>
          <p:cNvSpPr/>
          <p:nvPr/>
        </p:nvSpPr>
        <p:spPr>
          <a:xfrm>
            <a:off x="2075459" y="2727960"/>
            <a:ext cx="581101" cy="1615440"/>
          </a:xfrm>
          <a:prstGeom prst="rect">
            <a:avLst/>
          </a:prstGeom>
          <a:solidFill>
            <a:srgbClr val="7F8CA3"/>
          </a:solidFill>
          <a:ln/>
        </p:spPr>
      </p:sp>
      <p:sp>
        <p:nvSpPr>
          <p:cNvPr id="17" name="Text 15"/>
          <p:cNvSpPr txBox="1"/>
          <p:nvPr/>
        </p:nvSpPr>
        <p:spPr>
          <a:xfrm>
            <a:off x="1892579" y="2417064"/>
            <a:ext cx="946861" cy="274320"/>
          </a:xfrm>
          <a:prstGeom prst="rect">
            <a:avLst/>
          </a:prstGeom>
          <a:noFill/>
          <a:ln/>
        </p:spPr>
        <p:txBody>
          <a:bodyPr wrap="square" lIns="0" tIns="0" rIns="0" bIns="0" rtlCol="0" anchor="t"/>
          <a:lstStyle/>
          <a:p>
            <a:pPr algn="ctr" indent="0" marL="0">
              <a:buNone/>
            </a:pPr>
            <a:r>
              <a:rPr lang="en-US" sz="1500" b="1" dirty="0">
                <a:solidFill>
                  <a:srgbClr val="F1F5F9"/>
                </a:solidFill>
                <a:latin typeface="Arial" pitchFamily="34" charset="0"/>
                <a:ea typeface="Arial" pitchFamily="34" charset="-122"/>
                <a:cs typeface="Arial" pitchFamily="34" charset="-120"/>
              </a:rPr>
              <a:t>10/15</a:t>
            </a:r>
            <a:endParaRPr lang="en-US" sz="1500" dirty="0"/>
          </a:p>
        </p:txBody>
      </p:sp>
      <p:sp>
        <p:nvSpPr>
          <p:cNvPr id="18" name="Text 16"/>
          <p:cNvSpPr txBox="1"/>
          <p:nvPr/>
        </p:nvSpPr>
        <p:spPr>
          <a:xfrm>
            <a:off x="1846859" y="4398264"/>
            <a:ext cx="1038301" cy="256032"/>
          </a:xfrm>
          <a:prstGeom prst="rect">
            <a:avLst/>
          </a:prstGeom>
          <a:noFill/>
          <a:ln/>
        </p:spPr>
        <p:txBody>
          <a:bodyPr wrap="square" lIns="0" tIns="0" rIns="0" bIns="0" rtlCol="0" anchor="t"/>
          <a:lstStyle/>
          <a:p>
            <a:pPr algn="ctr" indent="0" marL="0">
              <a:buNone/>
            </a:pPr>
            <a:r>
              <a:rPr lang="en-US" sz="1250" dirty="0">
                <a:solidFill>
                  <a:srgbClr val="A7B4C8"/>
                </a:solidFill>
                <a:latin typeface="Arial" pitchFamily="34" charset="0"/>
                <a:ea typeface="Arial" pitchFamily="34" charset="-122"/>
                <a:cs typeface="Arial" pitchFamily="34" charset="-120"/>
              </a:rPr>
              <a:t>Shrink</a:t>
            </a:r>
            <a:endParaRPr lang="en-US" sz="1250" dirty="0"/>
          </a:p>
        </p:txBody>
      </p:sp>
      <p:sp>
        <p:nvSpPr>
          <p:cNvPr id="19" name="Shape 17"/>
          <p:cNvSpPr/>
          <p:nvPr/>
        </p:nvSpPr>
        <p:spPr>
          <a:xfrm>
            <a:off x="3012719" y="2566416"/>
            <a:ext cx="581101" cy="1776984"/>
          </a:xfrm>
          <a:prstGeom prst="rect">
            <a:avLst/>
          </a:prstGeom>
          <a:solidFill>
            <a:srgbClr val="38BDF8"/>
          </a:solidFill>
          <a:ln/>
        </p:spPr>
      </p:sp>
      <p:sp>
        <p:nvSpPr>
          <p:cNvPr id="20" name="Text 18"/>
          <p:cNvSpPr txBox="1"/>
          <p:nvPr/>
        </p:nvSpPr>
        <p:spPr>
          <a:xfrm>
            <a:off x="2829839" y="2255520"/>
            <a:ext cx="946861" cy="274320"/>
          </a:xfrm>
          <a:prstGeom prst="rect">
            <a:avLst/>
          </a:prstGeom>
          <a:noFill/>
          <a:ln/>
        </p:spPr>
        <p:txBody>
          <a:bodyPr wrap="square" lIns="0" tIns="0" rIns="0" bIns="0" rtlCol="0" anchor="t"/>
          <a:lstStyle/>
          <a:p>
            <a:pPr algn="ctr" indent="0" marL="0">
              <a:buNone/>
            </a:pPr>
            <a:r>
              <a:rPr lang="en-US" sz="1500" b="1" dirty="0">
                <a:solidFill>
                  <a:srgbClr val="38BDF8"/>
                </a:solidFill>
                <a:latin typeface="Arial" pitchFamily="34" charset="0"/>
                <a:ea typeface="Arial" pitchFamily="34" charset="-122"/>
                <a:cs typeface="Arial" pitchFamily="34" charset="-120"/>
              </a:rPr>
              <a:t>11/15</a:t>
            </a:r>
            <a:endParaRPr lang="en-US" sz="1500" dirty="0"/>
          </a:p>
        </p:txBody>
      </p:sp>
      <p:sp>
        <p:nvSpPr>
          <p:cNvPr id="21" name="Text 19"/>
          <p:cNvSpPr txBox="1"/>
          <p:nvPr/>
        </p:nvSpPr>
        <p:spPr>
          <a:xfrm>
            <a:off x="2784119" y="4398264"/>
            <a:ext cx="1038301" cy="256032"/>
          </a:xfrm>
          <a:prstGeom prst="rect">
            <a:avLst/>
          </a:prstGeom>
          <a:noFill/>
          <a:ln/>
        </p:spPr>
        <p:txBody>
          <a:bodyPr wrap="square" lIns="0" tIns="0" rIns="0" bIns="0" rtlCol="0" anchor="t"/>
          <a:lstStyle/>
          <a:p>
            <a:pPr algn="ctr" indent="0" marL="0">
              <a:buNone/>
            </a:pPr>
            <a:r>
              <a:rPr lang="en-US" sz="1250" dirty="0">
                <a:solidFill>
                  <a:srgbClr val="A7B4C8"/>
                </a:solidFill>
                <a:latin typeface="Arial" pitchFamily="34" charset="0"/>
                <a:ea typeface="Arial" pitchFamily="34" charset="-122"/>
                <a:cs typeface="Arial" pitchFamily="34" charset="-120"/>
              </a:rPr>
              <a:t>COAST</a:t>
            </a:r>
            <a:endParaRPr lang="en-US" sz="1250" dirty="0"/>
          </a:p>
        </p:txBody>
      </p:sp>
      <p:sp>
        <p:nvSpPr>
          <p:cNvPr id="22" name="Shape 20"/>
          <p:cNvSpPr/>
          <p:nvPr/>
        </p:nvSpPr>
        <p:spPr>
          <a:xfrm>
            <a:off x="3949979" y="2566416"/>
            <a:ext cx="581101" cy="1776984"/>
          </a:xfrm>
          <a:prstGeom prst="rect">
            <a:avLst/>
          </a:prstGeom>
          <a:solidFill>
            <a:srgbClr val="0B1220"/>
          </a:solidFill>
          <a:ln w="12700">
            <a:solidFill>
              <a:srgbClr val="A3AEC2"/>
            </a:solidFill>
            <a:prstDash val="dash"/>
          </a:ln>
        </p:spPr>
      </p:sp>
      <p:sp>
        <p:nvSpPr>
          <p:cNvPr id="23" name="Text 21"/>
          <p:cNvSpPr txBox="1"/>
          <p:nvPr/>
        </p:nvSpPr>
        <p:spPr>
          <a:xfrm>
            <a:off x="3767099" y="2255520"/>
            <a:ext cx="946861" cy="274320"/>
          </a:xfrm>
          <a:prstGeom prst="rect">
            <a:avLst/>
          </a:prstGeom>
          <a:noFill/>
          <a:ln/>
        </p:spPr>
        <p:txBody>
          <a:bodyPr wrap="square" lIns="0" tIns="0" rIns="0" bIns="0" rtlCol="0" anchor="t"/>
          <a:lstStyle/>
          <a:p>
            <a:pPr algn="ctr" indent="0" marL="0">
              <a:buNone/>
            </a:pPr>
            <a:r>
              <a:rPr lang="en-US" sz="1500" b="1" dirty="0">
                <a:solidFill>
                  <a:srgbClr val="F1F5F9"/>
                </a:solidFill>
                <a:latin typeface="Arial" pitchFamily="34" charset="0"/>
                <a:ea typeface="Arial" pitchFamily="34" charset="-122"/>
                <a:cs typeface="Arial" pitchFamily="34" charset="-120"/>
              </a:rPr>
              <a:t>11/15</a:t>
            </a:r>
            <a:endParaRPr lang="en-US" sz="1500" dirty="0"/>
          </a:p>
        </p:txBody>
      </p:sp>
      <p:sp>
        <p:nvSpPr>
          <p:cNvPr id="24" name="Text 22"/>
          <p:cNvSpPr txBox="1"/>
          <p:nvPr/>
        </p:nvSpPr>
        <p:spPr>
          <a:xfrm>
            <a:off x="3721379" y="4398264"/>
            <a:ext cx="1038301" cy="256032"/>
          </a:xfrm>
          <a:prstGeom prst="rect">
            <a:avLst/>
          </a:prstGeom>
          <a:noFill/>
          <a:ln/>
        </p:spPr>
        <p:txBody>
          <a:bodyPr wrap="square" lIns="0" tIns="0" rIns="0" bIns="0" rtlCol="0" anchor="t"/>
          <a:lstStyle/>
          <a:p>
            <a:pPr algn="ctr" indent="0" marL="0">
              <a:buNone/>
            </a:pPr>
            <a:r>
              <a:rPr lang="en-US" sz="1250" dirty="0">
                <a:solidFill>
                  <a:srgbClr val="A7B4C8"/>
                </a:solidFill>
                <a:latin typeface="Arial" pitchFamily="34" charset="0"/>
                <a:ea typeface="Arial" pitchFamily="34" charset="-122"/>
                <a:cs typeface="Arial" pitchFamily="34" charset="-120"/>
              </a:rPr>
              <a:t>Random</a:t>
            </a:r>
            <a:endParaRPr lang="en-US" sz="1250" dirty="0"/>
          </a:p>
        </p:txBody>
      </p:sp>
      <p:sp>
        <p:nvSpPr>
          <p:cNvPr id="25" name="Text 23"/>
          <p:cNvSpPr txBox="1"/>
          <p:nvPr/>
        </p:nvSpPr>
        <p:spPr>
          <a:xfrm>
            <a:off x="548640" y="4791456"/>
            <a:ext cx="4160520" cy="274320"/>
          </a:xfrm>
          <a:prstGeom prst="rect">
            <a:avLst/>
          </a:prstGeom>
          <a:noFill/>
          <a:ln/>
        </p:spPr>
        <p:txBody>
          <a:bodyPr wrap="square" lIns="0" tIns="0" rIns="0" bIns="0" rtlCol="0" anchor="t"/>
          <a:lstStyle/>
          <a:p>
            <a:pPr algn="l" indent="0" marL="0">
              <a:buNone/>
            </a:pPr>
            <a:r>
              <a:rPr lang="en-US" sz="1400" dirty="0">
                <a:solidFill>
                  <a:srgbClr val="F1F5F9"/>
                </a:solidFill>
                <a:latin typeface="Arial" pitchFamily="34" charset="0"/>
                <a:ea typeface="Arial" pitchFamily="34" charset="-122"/>
                <a:cs typeface="Arial" pitchFamily="34" charset="-120"/>
              </a:rPr>
              <a:t>COAST ↔ shrink </a:t>
            </a:r>
            <a:pPr algn="l" indent="0" marL="0">
              <a:buNone/>
            </a:pPr>
            <a:r>
              <a:rPr lang="en-US" sz="1400" b="1" dirty="0">
                <a:solidFill>
                  <a:srgbClr val="F1F5F9"/>
                </a:solidFill>
                <a:latin typeface="Arial" pitchFamily="34" charset="0"/>
                <a:ea typeface="Arial" pitchFamily="34" charset="-122"/>
                <a:cs typeface="Arial" pitchFamily="34" charset="-120"/>
              </a:rPr>
              <a:t>14/15</a:t>
            </a:r>
            <a:pPr algn="l" indent="0" marL="0">
              <a:buNone/>
            </a:pPr>
            <a:r>
              <a:rPr lang="en-US" sz="1400" dirty="0">
                <a:solidFill>
                  <a:srgbClr val="F1F5F9"/>
                </a:solidFill>
                <a:latin typeface="Arial" pitchFamily="34" charset="0"/>
                <a:ea typeface="Arial" pitchFamily="34" charset="-122"/>
                <a:cs typeface="Arial" pitchFamily="34" charset="-120"/>
              </a:rPr>
              <a:t> · COAST ↔ random </a:t>
            </a:r>
            <a:pPr algn="l" indent="0" marL="0">
              <a:buNone/>
            </a:pPr>
            <a:r>
              <a:rPr lang="en-US" sz="1400" b="1" dirty="0">
                <a:solidFill>
                  <a:srgbClr val="F1F5F9"/>
                </a:solidFill>
                <a:latin typeface="Arial" pitchFamily="34" charset="0"/>
                <a:ea typeface="Arial" pitchFamily="34" charset="-122"/>
                <a:cs typeface="Arial" pitchFamily="34" charset="-120"/>
              </a:rPr>
              <a:t>15/15</a:t>
            </a:r>
            <a:endParaRPr lang="en-US" sz="1400" dirty="0"/>
          </a:p>
        </p:txBody>
      </p:sp>
      <p:sp>
        <p:nvSpPr>
          <p:cNvPr id="26" name="Text 24"/>
          <p:cNvSpPr txBox="1"/>
          <p:nvPr/>
        </p:nvSpPr>
        <p:spPr>
          <a:xfrm>
            <a:off x="4983480" y="1325880"/>
            <a:ext cx="4160520" cy="310896"/>
          </a:xfrm>
          <a:prstGeom prst="rect">
            <a:avLst/>
          </a:prstGeom>
          <a:noFill/>
          <a:ln/>
        </p:spPr>
        <p:txBody>
          <a:bodyPr wrap="square" lIns="0" tIns="0" rIns="0" bIns="0" rtlCol="0" anchor="t"/>
          <a:lstStyle/>
          <a:p>
            <a:pPr algn="l" indent="0" marL="0">
              <a:buNone/>
            </a:pPr>
            <a:r>
              <a:rPr lang="en-US" sz="1600" b="1" dirty="0">
                <a:solidFill>
                  <a:srgbClr val="F1F5F9"/>
                </a:solidFill>
                <a:latin typeface="Arial" pitchFamily="34" charset="0"/>
                <a:ea typeface="Arial" pitchFamily="34" charset="-122"/>
                <a:cs typeface="Arial" pitchFamily="34" charset="-120"/>
              </a:rPr>
              <a:t>Held-out · states 30–44 (3A)</a:t>
            </a:r>
            <a:endParaRPr lang="en-US" sz="1600" dirty="0"/>
          </a:p>
        </p:txBody>
      </p:sp>
      <p:sp>
        <p:nvSpPr>
          <p:cNvPr id="27" name="Shape 25"/>
          <p:cNvSpPr/>
          <p:nvPr/>
        </p:nvSpPr>
        <p:spPr>
          <a:xfrm>
            <a:off x="5303520" y="4343400"/>
            <a:ext cx="3840480" cy="0"/>
          </a:xfrm>
          <a:prstGeom prst="line">
            <a:avLst/>
          </a:prstGeom>
          <a:noFill/>
          <a:ln w="9525">
            <a:solidFill>
              <a:srgbClr val="22314A"/>
            </a:solidFill>
            <a:prstDash val="solid"/>
          </a:ln>
        </p:spPr>
      </p:sp>
      <p:sp>
        <p:nvSpPr>
          <p:cNvPr id="28" name="Text 26"/>
          <p:cNvSpPr txBox="1"/>
          <p:nvPr/>
        </p:nvSpPr>
        <p:spPr>
          <a:xfrm>
            <a:off x="4892040" y="4224528"/>
            <a:ext cx="320040" cy="237744"/>
          </a:xfrm>
          <a:prstGeom prst="rect">
            <a:avLst/>
          </a:prstGeom>
          <a:noFill/>
          <a:ln/>
        </p:spPr>
        <p:txBody>
          <a:bodyPr wrap="square" lIns="0" tIns="0" rIns="0" bIns="0" rtlCol="0" anchor="t"/>
          <a:lstStyle/>
          <a:p>
            <a:pPr algn="r" indent="0" marL="0">
              <a:buNone/>
            </a:pPr>
            <a:r>
              <a:rPr lang="en-US" sz="1200" dirty="0">
                <a:solidFill>
                  <a:srgbClr val="6B7A93"/>
                </a:solidFill>
                <a:latin typeface="Arial" pitchFamily="34" charset="0"/>
                <a:ea typeface="Arial" pitchFamily="34" charset="-122"/>
                <a:cs typeface="Arial" pitchFamily="34" charset="-120"/>
              </a:rPr>
              <a:t>0</a:t>
            </a:r>
            <a:endParaRPr lang="en-US" sz="1200" dirty="0"/>
          </a:p>
        </p:txBody>
      </p:sp>
      <p:sp>
        <p:nvSpPr>
          <p:cNvPr id="29" name="Shape 27"/>
          <p:cNvSpPr/>
          <p:nvPr/>
        </p:nvSpPr>
        <p:spPr>
          <a:xfrm>
            <a:off x="5303520" y="3535680"/>
            <a:ext cx="3840480" cy="0"/>
          </a:xfrm>
          <a:prstGeom prst="line">
            <a:avLst/>
          </a:prstGeom>
          <a:noFill/>
          <a:ln w="9525">
            <a:solidFill>
              <a:srgbClr val="22314A"/>
            </a:solidFill>
            <a:prstDash val="solid"/>
          </a:ln>
        </p:spPr>
      </p:sp>
      <p:sp>
        <p:nvSpPr>
          <p:cNvPr id="30" name="Text 28"/>
          <p:cNvSpPr txBox="1"/>
          <p:nvPr/>
        </p:nvSpPr>
        <p:spPr>
          <a:xfrm>
            <a:off x="4892040" y="3416808"/>
            <a:ext cx="320040" cy="237744"/>
          </a:xfrm>
          <a:prstGeom prst="rect">
            <a:avLst/>
          </a:prstGeom>
          <a:noFill/>
          <a:ln/>
        </p:spPr>
        <p:txBody>
          <a:bodyPr wrap="square" lIns="0" tIns="0" rIns="0" bIns="0" rtlCol="0" anchor="t"/>
          <a:lstStyle/>
          <a:p>
            <a:pPr algn="r" indent="0" marL="0">
              <a:buNone/>
            </a:pPr>
            <a:r>
              <a:rPr lang="en-US" sz="1200" dirty="0">
                <a:solidFill>
                  <a:srgbClr val="6B7A93"/>
                </a:solidFill>
                <a:latin typeface="Arial" pitchFamily="34" charset="0"/>
                <a:ea typeface="Arial" pitchFamily="34" charset="-122"/>
                <a:cs typeface="Arial" pitchFamily="34" charset="-120"/>
              </a:rPr>
              <a:t>5</a:t>
            </a:r>
            <a:endParaRPr lang="en-US" sz="1200" dirty="0"/>
          </a:p>
        </p:txBody>
      </p:sp>
      <p:sp>
        <p:nvSpPr>
          <p:cNvPr id="31" name="Shape 29"/>
          <p:cNvSpPr/>
          <p:nvPr/>
        </p:nvSpPr>
        <p:spPr>
          <a:xfrm>
            <a:off x="5303520" y="2727960"/>
            <a:ext cx="3840480" cy="0"/>
          </a:xfrm>
          <a:prstGeom prst="line">
            <a:avLst/>
          </a:prstGeom>
          <a:noFill/>
          <a:ln w="9525">
            <a:solidFill>
              <a:srgbClr val="22314A"/>
            </a:solidFill>
            <a:prstDash val="solid"/>
          </a:ln>
        </p:spPr>
      </p:sp>
      <p:sp>
        <p:nvSpPr>
          <p:cNvPr id="32" name="Text 30"/>
          <p:cNvSpPr txBox="1"/>
          <p:nvPr/>
        </p:nvSpPr>
        <p:spPr>
          <a:xfrm>
            <a:off x="4892040" y="2609088"/>
            <a:ext cx="320040" cy="237744"/>
          </a:xfrm>
          <a:prstGeom prst="rect">
            <a:avLst/>
          </a:prstGeom>
          <a:noFill/>
          <a:ln/>
        </p:spPr>
        <p:txBody>
          <a:bodyPr wrap="square" lIns="0" tIns="0" rIns="0" bIns="0" rtlCol="0" anchor="t"/>
          <a:lstStyle/>
          <a:p>
            <a:pPr algn="r" indent="0" marL="0">
              <a:buNone/>
            </a:pPr>
            <a:r>
              <a:rPr lang="en-US" sz="1200" dirty="0">
                <a:solidFill>
                  <a:srgbClr val="6B7A93"/>
                </a:solidFill>
                <a:latin typeface="Arial" pitchFamily="34" charset="0"/>
                <a:ea typeface="Arial" pitchFamily="34" charset="-122"/>
                <a:cs typeface="Arial" pitchFamily="34" charset="-120"/>
              </a:rPr>
              <a:t>10</a:t>
            </a:r>
            <a:endParaRPr lang="en-US" sz="1200" dirty="0"/>
          </a:p>
        </p:txBody>
      </p:sp>
      <p:sp>
        <p:nvSpPr>
          <p:cNvPr id="33" name="Shape 31"/>
          <p:cNvSpPr/>
          <p:nvPr/>
        </p:nvSpPr>
        <p:spPr>
          <a:xfrm>
            <a:off x="5303520" y="1920240"/>
            <a:ext cx="3840480" cy="0"/>
          </a:xfrm>
          <a:prstGeom prst="line">
            <a:avLst/>
          </a:prstGeom>
          <a:noFill/>
          <a:ln w="9525">
            <a:solidFill>
              <a:srgbClr val="22314A"/>
            </a:solidFill>
            <a:prstDash val="solid"/>
          </a:ln>
        </p:spPr>
      </p:sp>
      <p:sp>
        <p:nvSpPr>
          <p:cNvPr id="34" name="Text 32"/>
          <p:cNvSpPr txBox="1"/>
          <p:nvPr/>
        </p:nvSpPr>
        <p:spPr>
          <a:xfrm>
            <a:off x="4892040" y="1801368"/>
            <a:ext cx="320040" cy="237744"/>
          </a:xfrm>
          <a:prstGeom prst="rect">
            <a:avLst/>
          </a:prstGeom>
          <a:noFill/>
          <a:ln/>
        </p:spPr>
        <p:txBody>
          <a:bodyPr wrap="square" lIns="0" tIns="0" rIns="0" bIns="0" rtlCol="0" anchor="t"/>
          <a:lstStyle/>
          <a:p>
            <a:pPr algn="r" indent="0" marL="0">
              <a:buNone/>
            </a:pPr>
            <a:r>
              <a:rPr lang="en-US" sz="1200" dirty="0">
                <a:solidFill>
                  <a:srgbClr val="6B7A93"/>
                </a:solidFill>
                <a:latin typeface="Arial" pitchFamily="34" charset="0"/>
                <a:ea typeface="Arial" pitchFamily="34" charset="-122"/>
                <a:cs typeface="Arial" pitchFamily="34" charset="-120"/>
              </a:rPr>
              <a:t>15</a:t>
            </a:r>
            <a:endParaRPr lang="en-US" sz="1200" dirty="0"/>
          </a:p>
        </p:txBody>
      </p:sp>
      <p:sp>
        <p:nvSpPr>
          <p:cNvPr id="35" name="Shape 33"/>
          <p:cNvSpPr/>
          <p:nvPr/>
        </p:nvSpPr>
        <p:spPr>
          <a:xfrm>
            <a:off x="5573039" y="2889504"/>
            <a:ext cx="581101" cy="1453896"/>
          </a:xfrm>
          <a:prstGeom prst="rect">
            <a:avLst/>
          </a:prstGeom>
          <a:solidFill>
            <a:srgbClr val="A3AEC2"/>
          </a:solidFill>
          <a:ln/>
        </p:spPr>
      </p:sp>
      <p:sp>
        <p:nvSpPr>
          <p:cNvPr id="36" name="Text 34"/>
          <p:cNvSpPr txBox="1"/>
          <p:nvPr/>
        </p:nvSpPr>
        <p:spPr>
          <a:xfrm>
            <a:off x="5390159" y="2578608"/>
            <a:ext cx="946861" cy="274320"/>
          </a:xfrm>
          <a:prstGeom prst="rect">
            <a:avLst/>
          </a:prstGeom>
          <a:noFill/>
          <a:ln/>
        </p:spPr>
        <p:txBody>
          <a:bodyPr wrap="square" lIns="0" tIns="0" rIns="0" bIns="0" rtlCol="0" anchor="t"/>
          <a:lstStyle/>
          <a:p>
            <a:pPr algn="ctr" indent="0" marL="0">
              <a:buNone/>
            </a:pPr>
            <a:r>
              <a:rPr lang="en-US" sz="1500" b="1" dirty="0">
                <a:solidFill>
                  <a:srgbClr val="F1F5F9"/>
                </a:solidFill>
                <a:latin typeface="Arial" pitchFamily="34" charset="0"/>
                <a:ea typeface="Arial" pitchFamily="34" charset="-122"/>
                <a:cs typeface="Arial" pitchFamily="34" charset="-120"/>
              </a:rPr>
              <a:t>9/15</a:t>
            </a:r>
            <a:endParaRPr lang="en-US" sz="1500" dirty="0"/>
          </a:p>
        </p:txBody>
      </p:sp>
      <p:sp>
        <p:nvSpPr>
          <p:cNvPr id="37" name="Text 35"/>
          <p:cNvSpPr txBox="1"/>
          <p:nvPr/>
        </p:nvSpPr>
        <p:spPr>
          <a:xfrm>
            <a:off x="5344439" y="4398264"/>
            <a:ext cx="1038301" cy="256032"/>
          </a:xfrm>
          <a:prstGeom prst="rect">
            <a:avLst/>
          </a:prstGeom>
          <a:noFill/>
          <a:ln/>
        </p:spPr>
        <p:txBody>
          <a:bodyPr wrap="square" lIns="0" tIns="0" rIns="0" bIns="0" rtlCol="0" anchor="t"/>
          <a:lstStyle/>
          <a:p>
            <a:pPr algn="ctr" indent="0" marL="0">
              <a:buNone/>
            </a:pPr>
            <a:r>
              <a:rPr lang="en-US" sz="1250" dirty="0">
                <a:solidFill>
                  <a:srgbClr val="A7B4C8"/>
                </a:solidFill>
                <a:latin typeface="Arial" pitchFamily="34" charset="0"/>
                <a:ea typeface="Arial" pitchFamily="34" charset="-122"/>
                <a:cs typeface="Arial" pitchFamily="34" charset="-120"/>
              </a:rPr>
              <a:t>Baseline</a:t>
            </a:r>
            <a:endParaRPr lang="en-US" sz="1250" dirty="0"/>
          </a:p>
        </p:txBody>
      </p:sp>
      <p:sp>
        <p:nvSpPr>
          <p:cNvPr id="38" name="Shape 36"/>
          <p:cNvSpPr/>
          <p:nvPr/>
        </p:nvSpPr>
        <p:spPr>
          <a:xfrm>
            <a:off x="6510299" y="2727960"/>
            <a:ext cx="581101" cy="1615440"/>
          </a:xfrm>
          <a:prstGeom prst="rect">
            <a:avLst/>
          </a:prstGeom>
          <a:solidFill>
            <a:srgbClr val="7F8CA3"/>
          </a:solidFill>
          <a:ln/>
        </p:spPr>
      </p:sp>
      <p:sp>
        <p:nvSpPr>
          <p:cNvPr id="39" name="Text 37"/>
          <p:cNvSpPr txBox="1"/>
          <p:nvPr/>
        </p:nvSpPr>
        <p:spPr>
          <a:xfrm>
            <a:off x="6327419" y="2417064"/>
            <a:ext cx="946861" cy="274320"/>
          </a:xfrm>
          <a:prstGeom prst="rect">
            <a:avLst/>
          </a:prstGeom>
          <a:noFill/>
          <a:ln/>
        </p:spPr>
        <p:txBody>
          <a:bodyPr wrap="square" lIns="0" tIns="0" rIns="0" bIns="0" rtlCol="0" anchor="t"/>
          <a:lstStyle/>
          <a:p>
            <a:pPr algn="ctr" indent="0" marL="0">
              <a:buNone/>
            </a:pPr>
            <a:r>
              <a:rPr lang="en-US" sz="1500" b="1" dirty="0">
                <a:solidFill>
                  <a:srgbClr val="F1F5F9"/>
                </a:solidFill>
                <a:latin typeface="Arial" pitchFamily="34" charset="0"/>
                <a:ea typeface="Arial" pitchFamily="34" charset="-122"/>
                <a:cs typeface="Arial" pitchFamily="34" charset="-120"/>
              </a:rPr>
              <a:t>10/15</a:t>
            </a:r>
            <a:endParaRPr lang="en-US" sz="1500" dirty="0"/>
          </a:p>
        </p:txBody>
      </p:sp>
      <p:sp>
        <p:nvSpPr>
          <p:cNvPr id="40" name="Text 38"/>
          <p:cNvSpPr txBox="1"/>
          <p:nvPr/>
        </p:nvSpPr>
        <p:spPr>
          <a:xfrm>
            <a:off x="6281699" y="4398264"/>
            <a:ext cx="1038301" cy="256032"/>
          </a:xfrm>
          <a:prstGeom prst="rect">
            <a:avLst/>
          </a:prstGeom>
          <a:noFill/>
          <a:ln/>
        </p:spPr>
        <p:txBody>
          <a:bodyPr wrap="square" lIns="0" tIns="0" rIns="0" bIns="0" rtlCol="0" anchor="t"/>
          <a:lstStyle/>
          <a:p>
            <a:pPr algn="ctr" indent="0" marL="0">
              <a:buNone/>
            </a:pPr>
            <a:r>
              <a:rPr lang="en-US" sz="1250" dirty="0">
                <a:solidFill>
                  <a:srgbClr val="A7B4C8"/>
                </a:solidFill>
                <a:latin typeface="Arial" pitchFamily="34" charset="0"/>
                <a:ea typeface="Arial" pitchFamily="34" charset="-122"/>
                <a:cs typeface="Arial" pitchFamily="34" charset="-120"/>
              </a:rPr>
              <a:t>Shrink</a:t>
            </a:r>
            <a:endParaRPr lang="en-US" sz="1250" dirty="0"/>
          </a:p>
        </p:txBody>
      </p:sp>
      <p:sp>
        <p:nvSpPr>
          <p:cNvPr id="41" name="Shape 39"/>
          <p:cNvSpPr/>
          <p:nvPr/>
        </p:nvSpPr>
        <p:spPr>
          <a:xfrm>
            <a:off x="7447559" y="2566416"/>
            <a:ext cx="581101" cy="1776984"/>
          </a:xfrm>
          <a:prstGeom prst="rect">
            <a:avLst/>
          </a:prstGeom>
          <a:solidFill>
            <a:srgbClr val="38BDF8"/>
          </a:solidFill>
          <a:ln/>
        </p:spPr>
      </p:sp>
      <p:sp>
        <p:nvSpPr>
          <p:cNvPr id="42" name="Text 40"/>
          <p:cNvSpPr txBox="1"/>
          <p:nvPr/>
        </p:nvSpPr>
        <p:spPr>
          <a:xfrm>
            <a:off x="7264679" y="2255520"/>
            <a:ext cx="946861" cy="274320"/>
          </a:xfrm>
          <a:prstGeom prst="rect">
            <a:avLst/>
          </a:prstGeom>
          <a:noFill/>
          <a:ln/>
        </p:spPr>
        <p:txBody>
          <a:bodyPr wrap="square" lIns="0" tIns="0" rIns="0" bIns="0" rtlCol="0" anchor="t"/>
          <a:lstStyle/>
          <a:p>
            <a:pPr algn="ctr" indent="0" marL="0">
              <a:buNone/>
            </a:pPr>
            <a:r>
              <a:rPr lang="en-US" sz="1500" b="1" dirty="0">
                <a:solidFill>
                  <a:srgbClr val="38BDF8"/>
                </a:solidFill>
                <a:latin typeface="Arial" pitchFamily="34" charset="0"/>
                <a:ea typeface="Arial" pitchFamily="34" charset="-122"/>
                <a:cs typeface="Arial" pitchFamily="34" charset="-120"/>
              </a:rPr>
              <a:t>11/15</a:t>
            </a:r>
            <a:endParaRPr lang="en-US" sz="1500" dirty="0"/>
          </a:p>
        </p:txBody>
      </p:sp>
      <p:sp>
        <p:nvSpPr>
          <p:cNvPr id="43" name="Text 41"/>
          <p:cNvSpPr txBox="1"/>
          <p:nvPr/>
        </p:nvSpPr>
        <p:spPr>
          <a:xfrm>
            <a:off x="7218959" y="4398264"/>
            <a:ext cx="1038301" cy="256032"/>
          </a:xfrm>
          <a:prstGeom prst="rect">
            <a:avLst/>
          </a:prstGeom>
          <a:noFill/>
          <a:ln/>
        </p:spPr>
        <p:txBody>
          <a:bodyPr wrap="square" lIns="0" tIns="0" rIns="0" bIns="0" rtlCol="0" anchor="t"/>
          <a:lstStyle/>
          <a:p>
            <a:pPr algn="ctr" indent="0" marL="0">
              <a:buNone/>
            </a:pPr>
            <a:r>
              <a:rPr lang="en-US" sz="1250" dirty="0">
                <a:solidFill>
                  <a:srgbClr val="A7B4C8"/>
                </a:solidFill>
                <a:latin typeface="Arial" pitchFamily="34" charset="0"/>
                <a:ea typeface="Arial" pitchFamily="34" charset="-122"/>
                <a:cs typeface="Arial" pitchFamily="34" charset="-120"/>
              </a:rPr>
              <a:t>COAST</a:t>
            </a:r>
            <a:endParaRPr lang="en-US" sz="1250" dirty="0"/>
          </a:p>
        </p:txBody>
      </p:sp>
      <p:sp>
        <p:nvSpPr>
          <p:cNvPr id="44" name="Shape 42"/>
          <p:cNvSpPr/>
          <p:nvPr/>
        </p:nvSpPr>
        <p:spPr>
          <a:xfrm>
            <a:off x="8384819" y="2566416"/>
            <a:ext cx="581101" cy="1776984"/>
          </a:xfrm>
          <a:prstGeom prst="rect">
            <a:avLst/>
          </a:prstGeom>
          <a:solidFill>
            <a:srgbClr val="0B1220"/>
          </a:solidFill>
          <a:ln w="12700">
            <a:solidFill>
              <a:srgbClr val="A3AEC2"/>
            </a:solidFill>
            <a:prstDash val="dash"/>
          </a:ln>
        </p:spPr>
      </p:sp>
      <p:sp>
        <p:nvSpPr>
          <p:cNvPr id="45" name="Text 43"/>
          <p:cNvSpPr txBox="1"/>
          <p:nvPr/>
        </p:nvSpPr>
        <p:spPr>
          <a:xfrm>
            <a:off x="8201939" y="2255520"/>
            <a:ext cx="946861" cy="274320"/>
          </a:xfrm>
          <a:prstGeom prst="rect">
            <a:avLst/>
          </a:prstGeom>
          <a:noFill/>
          <a:ln/>
        </p:spPr>
        <p:txBody>
          <a:bodyPr wrap="square" lIns="0" tIns="0" rIns="0" bIns="0" rtlCol="0" anchor="t"/>
          <a:lstStyle/>
          <a:p>
            <a:pPr algn="ctr" indent="0" marL="0">
              <a:buNone/>
            </a:pPr>
            <a:r>
              <a:rPr lang="en-US" sz="1500" b="1" dirty="0">
                <a:solidFill>
                  <a:srgbClr val="F1F5F9"/>
                </a:solidFill>
                <a:latin typeface="Arial" pitchFamily="34" charset="0"/>
                <a:ea typeface="Arial" pitchFamily="34" charset="-122"/>
                <a:cs typeface="Arial" pitchFamily="34" charset="-120"/>
              </a:rPr>
              <a:t>11/15</a:t>
            </a:r>
            <a:endParaRPr lang="en-US" sz="1500" dirty="0"/>
          </a:p>
        </p:txBody>
      </p:sp>
      <p:sp>
        <p:nvSpPr>
          <p:cNvPr id="46" name="Text 44"/>
          <p:cNvSpPr txBox="1"/>
          <p:nvPr/>
        </p:nvSpPr>
        <p:spPr>
          <a:xfrm>
            <a:off x="8156219" y="4398264"/>
            <a:ext cx="1038301" cy="256032"/>
          </a:xfrm>
          <a:prstGeom prst="rect">
            <a:avLst/>
          </a:prstGeom>
          <a:noFill/>
          <a:ln/>
        </p:spPr>
        <p:txBody>
          <a:bodyPr wrap="square" lIns="0" tIns="0" rIns="0" bIns="0" rtlCol="0" anchor="t"/>
          <a:lstStyle/>
          <a:p>
            <a:pPr algn="ctr" indent="0" marL="0">
              <a:buNone/>
            </a:pPr>
            <a:r>
              <a:rPr lang="en-US" sz="1250" dirty="0">
                <a:solidFill>
                  <a:srgbClr val="A7B4C8"/>
                </a:solidFill>
                <a:latin typeface="Arial" pitchFamily="34" charset="0"/>
                <a:ea typeface="Arial" pitchFamily="34" charset="-122"/>
                <a:cs typeface="Arial" pitchFamily="34" charset="-120"/>
              </a:rPr>
              <a:t>Random</a:t>
            </a:r>
            <a:endParaRPr lang="en-US" sz="1250" dirty="0"/>
          </a:p>
        </p:txBody>
      </p:sp>
      <p:sp>
        <p:nvSpPr>
          <p:cNvPr id="47" name="Text 45"/>
          <p:cNvSpPr txBox="1"/>
          <p:nvPr/>
        </p:nvSpPr>
        <p:spPr>
          <a:xfrm>
            <a:off x="4983480" y="4791456"/>
            <a:ext cx="4160520" cy="274320"/>
          </a:xfrm>
          <a:prstGeom prst="rect">
            <a:avLst/>
          </a:prstGeom>
          <a:noFill/>
          <a:ln/>
        </p:spPr>
        <p:txBody>
          <a:bodyPr wrap="square" lIns="0" tIns="0" rIns="0" bIns="0" rtlCol="0" anchor="t"/>
          <a:lstStyle/>
          <a:p>
            <a:pPr algn="l" indent="0" marL="0">
              <a:buNone/>
            </a:pPr>
            <a:r>
              <a:rPr lang="en-US" sz="1400" dirty="0">
                <a:solidFill>
                  <a:srgbClr val="F1F5F9"/>
                </a:solidFill>
                <a:latin typeface="Arial" pitchFamily="34" charset="0"/>
                <a:ea typeface="Arial" pitchFamily="34" charset="-122"/>
                <a:cs typeface="Arial" pitchFamily="34" charset="-120"/>
              </a:rPr>
              <a:t>COAST ↔ shrink </a:t>
            </a:r>
            <a:pPr algn="l" indent="0" marL="0">
              <a:buNone/>
            </a:pPr>
            <a:r>
              <a:rPr lang="en-US" sz="1400" b="1" dirty="0">
                <a:solidFill>
                  <a:srgbClr val="F1F5F9"/>
                </a:solidFill>
                <a:latin typeface="Arial" pitchFamily="34" charset="0"/>
                <a:ea typeface="Arial" pitchFamily="34" charset="-122"/>
                <a:cs typeface="Arial" pitchFamily="34" charset="-120"/>
              </a:rPr>
              <a:t>14/15</a:t>
            </a:r>
            <a:pPr algn="l" indent="0" marL="0">
              <a:buNone/>
            </a:pPr>
            <a:r>
              <a:rPr lang="en-US" sz="1400" dirty="0">
                <a:solidFill>
                  <a:srgbClr val="F1F5F9"/>
                </a:solidFill>
                <a:latin typeface="Arial" pitchFamily="34" charset="0"/>
                <a:ea typeface="Arial" pitchFamily="34" charset="-122"/>
                <a:cs typeface="Arial" pitchFamily="34" charset="-120"/>
              </a:rPr>
              <a:t> · COAST ↔ random </a:t>
            </a:r>
            <a:pPr algn="l" indent="0" marL="0">
              <a:buNone/>
            </a:pPr>
            <a:r>
              <a:rPr lang="en-US" sz="1400" b="1" dirty="0">
                <a:solidFill>
                  <a:srgbClr val="F1F5F9"/>
                </a:solidFill>
                <a:latin typeface="Arial" pitchFamily="34" charset="0"/>
                <a:ea typeface="Arial" pitchFamily="34" charset="-122"/>
                <a:cs typeface="Arial" pitchFamily="34" charset="-120"/>
              </a:rPr>
              <a:t>13/15</a:t>
            </a:r>
            <a:endParaRPr lang="en-US" sz="1400" dirty="0"/>
          </a:p>
        </p:txBody>
      </p:sp>
      <p:sp>
        <p:nvSpPr>
          <p:cNvPr id="48" name="Shape 46"/>
          <p:cNvSpPr/>
          <p:nvPr/>
        </p:nvSpPr>
        <p:spPr>
          <a:xfrm>
            <a:off x="9464040" y="1325880"/>
            <a:ext cx="2179015" cy="3794760"/>
          </a:xfrm>
          <a:prstGeom prst="roundRect">
            <a:avLst>
              <a:gd name="adj" fmla="val 3357"/>
            </a:avLst>
          </a:prstGeom>
          <a:solidFill>
            <a:srgbClr val="131E33"/>
          </a:solidFill>
          <a:ln/>
        </p:spPr>
      </p:sp>
      <p:sp>
        <p:nvSpPr>
          <p:cNvPr id="49" name="Text 47"/>
          <p:cNvSpPr txBox="1"/>
          <p:nvPr/>
        </p:nvSpPr>
        <p:spPr>
          <a:xfrm>
            <a:off x="9646920" y="1463040"/>
            <a:ext cx="1813255" cy="274320"/>
          </a:xfrm>
          <a:prstGeom prst="rect">
            <a:avLst/>
          </a:prstGeom>
          <a:noFill/>
          <a:ln/>
        </p:spPr>
        <p:txBody>
          <a:bodyPr wrap="square" lIns="0" tIns="0" rIns="0" bIns="0" rtlCol="0" anchor="t"/>
          <a:lstStyle/>
          <a:p>
            <a:pPr algn="l" indent="0" marL="0">
              <a:buNone/>
            </a:pPr>
            <a:r>
              <a:rPr lang="en-US" sz="1500" b="1" dirty="0">
                <a:solidFill>
                  <a:srgbClr val="F1F5F9"/>
                </a:solidFill>
                <a:latin typeface="Arial" pitchFamily="34" charset="0"/>
                <a:ea typeface="Arial" pitchFamily="34" charset="-122"/>
                <a:cs typeface="Arial" pitchFamily="34" charset="-120"/>
              </a:rPr>
              <a:t>Realized ‖h′‖ / ‖h‖</a:t>
            </a:r>
            <a:endParaRPr lang="en-US" sz="1500" dirty="0"/>
          </a:p>
        </p:txBody>
      </p:sp>
      <p:sp>
        <p:nvSpPr>
          <p:cNvPr id="50" name="Text 48"/>
          <p:cNvSpPr txBox="1"/>
          <p:nvPr/>
        </p:nvSpPr>
        <p:spPr>
          <a:xfrm>
            <a:off x="9646920" y="1874520"/>
            <a:ext cx="1097280" cy="329184"/>
          </a:xfrm>
          <a:prstGeom prst="rect">
            <a:avLst/>
          </a:prstGeom>
          <a:noFill/>
          <a:ln/>
        </p:spPr>
        <p:txBody>
          <a:bodyPr wrap="square" lIns="0" tIns="0" rIns="0" bIns="0" rtlCol="0" anchor="ctr"/>
          <a:lstStyle/>
          <a:p>
            <a:pPr algn="l" indent="0" marL="0">
              <a:buNone/>
            </a:pPr>
            <a:r>
              <a:rPr lang="en-US" sz="1500" dirty="0">
                <a:solidFill>
                  <a:srgbClr val="A7B4C8"/>
                </a:solidFill>
                <a:latin typeface="Arial" pitchFamily="34" charset="0"/>
                <a:ea typeface="Arial" pitchFamily="34" charset="-122"/>
                <a:cs typeface="Arial" pitchFamily="34" charset="-120"/>
              </a:rPr>
              <a:t>Shrinkage</a:t>
            </a:r>
            <a:endParaRPr lang="en-US" sz="1500" dirty="0"/>
          </a:p>
        </p:txBody>
      </p:sp>
      <p:sp>
        <p:nvSpPr>
          <p:cNvPr id="51" name="Text 49"/>
          <p:cNvSpPr txBox="1"/>
          <p:nvPr/>
        </p:nvSpPr>
        <p:spPr>
          <a:xfrm>
            <a:off x="10561320" y="1874520"/>
            <a:ext cx="898855" cy="329184"/>
          </a:xfrm>
          <a:prstGeom prst="rect">
            <a:avLst/>
          </a:prstGeom>
          <a:noFill/>
          <a:ln/>
        </p:spPr>
        <p:txBody>
          <a:bodyPr wrap="square" lIns="0" tIns="0" rIns="0" bIns="0" rtlCol="0" anchor="ctr"/>
          <a:lstStyle/>
          <a:p>
            <a:pPr algn="r" indent="0" marL="0">
              <a:buNone/>
            </a:pPr>
            <a:r>
              <a:rPr lang="en-US" sz="1700" b="1" dirty="0">
                <a:solidFill>
                  <a:srgbClr val="F1F5F9"/>
                </a:solidFill>
                <a:latin typeface="Arial" pitchFamily="34" charset="0"/>
                <a:ea typeface="Arial" pitchFamily="34" charset="-122"/>
                <a:cs typeface="Arial" pitchFamily="34" charset="-120"/>
              </a:rPr>
              <a:t>0.8984</a:t>
            </a:r>
            <a:endParaRPr lang="en-US" sz="1700" dirty="0"/>
          </a:p>
        </p:txBody>
      </p:sp>
      <p:sp>
        <p:nvSpPr>
          <p:cNvPr id="52" name="Text 50"/>
          <p:cNvSpPr txBox="1"/>
          <p:nvPr/>
        </p:nvSpPr>
        <p:spPr>
          <a:xfrm>
            <a:off x="9646920" y="2258568"/>
            <a:ext cx="1097280" cy="329184"/>
          </a:xfrm>
          <a:prstGeom prst="rect">
            <a:avLst/>
          </a:prstGeom>
          <a:noFill/>
          <a:ln/>
        </p:spPr>
        <p:txBody>
          <a:bodyPr wrap="square" lIns="0" tIns="0" rIns="0" bIns="0" rtlCol="0" anchor="ctr"/>
          <a:lstStyle/>
          <a:p>
            <a:pPr algn="l" indent="0" marL="0">
              <a:buNone/>
            </a:pPr>
            <a:r>
              <a:rPr lang="en-US" sz="1500" dirty="0">
                <a:solidFill>
                  <a:srgbClr val="A7B4C8"/>
                </a:solidFill>
                <a:latin typeface="Arial" pitchFamily="34" charset="0"/>
                <a:ea typeface="Arial" pitchFamily="34" charset="-122"/>
                <a:cs typeface="Arial" pitchFamily="34" charset="-120"/>
              </a:rPr>
              <a:t>COAST</a:t>
            </a:r>
            <a:endParaRPr lang="en-US" sz="1500" dirty="0"/>
          </a:p>
        </p:txBody>
      </p:sp>
      <p:sp>
        <p:nvSpPr>
          <p:cNvPr id="53" name="Text 51"/>
          <p:cNvSpPr txBox="1"/>
          <p:nvPr/>
        </p:nvSpPr>
        <p:spPr>
          <a:xfrm>
            <a:off x="10561320" y="2258568"/>
            <a:ext cx="898855" cy="329184"/>
          </a:xfrm>
          <a:prstGeom prst="rect">
            <a:avLst/>
          </a:prstGeom>
          <a:noFill/>
          <a:ln/>
        </p:spPr>
        <p:txBody>
          <a:bodyPr wrap="square" lIns="0" tIns="0" rIns="0" bIns="0" rtlCol="0" anchor="ctr"/>
          <a:lstStyle/>
          <a:p>
            <a:pPr algn="r" indent="0" marL="0">
              <a:buNone/>
            </a:pPr>
            <a:r>
              <a:rPr lang="en-US" sz="1700" b="1" dirty="0">
                <a:solidFill>
                  <a:srgbClr val="38BDF8"/>
                </a:solidFill>
                <a:latin typeface="Arial" pitchFamily="34" charset="0"/>
                <a:ea typeface="Arial" pitchFamily="34" charset="-122"/>
                <a:cs typeface="Arial" pitchFamily="34" charset="-120"/>
              </a:rPr>
              <a:t>0.9006</a:t>
            </a:r>
            <a:endParaRPr lang="en-US" sz="1700" dirty="0"/>
          </a:p>
        </p:txBody>
      </p:sp>
      <p:sp>
        <p:nvSpPr>
          <p:cNvPr id="54" name="Text 52"/>
          <p:cNvSpPr txBox="1"/>
          <p:nvPr/>
        </p:nvSpPr>
        <p:spPr>
          <a:xfrm>
            <a:off x="9646920" y="2642616"/>
            <a:ext cx="1097280" cy="329184"/>
          </a:xfrm>
          <a:prstGeom prst="rect">
            <a:avLst/>
          </a:prstGeom>
          <a:noFill/>
          <a:ln/>
        </p:spPr>
        <p:txBody>
          <a:bodyPr wrap="square" lIns="0" tIns="0" rIns="0" bIns="0" rtlCol="0" anchor="ctr"/>
          <a:lstStyle/>
          <a:p>
            <a:pPr algn="l" indent="0" marL="0">
              <a:buNone/>
            </a:pPr>
            <a:r>
              <a:rPr lang="en-US" sz="1500" dirty="0">
                <a:solidFill>
                  <a:srgbClr val="A7B4C8"/>
                </a:solidFill>
                <a:latin typeface="Arial" pitchFamily="34" charset="0"/>
                <a:ea typeface="Arial" pitchFamily="34" charset="-122"/>
                <a:cs typeface="Arial" pitchFamily="34" charset="-120"/>
              </a:rPr>
              <a:t>Random</a:t>
            </a:r>
            <a:endParaRPr lang="en-US" sz="1500" dirty="0"/>
          </a:p>
        </p:txBody>
      </p:sp>
      <p:sp>
        <p:nvSpPr>
          <p:cNvPr id="55" name="Text 53"/>
          <p:cNvSpPr txBox="1"/>
          <p:nvPr/>
        </p:nvSpPr>
        <p:spPr>
          <a:xfrm>
            <a:off x="10561320" y="2642616"/>
            <a:ext cx="898855" cy="329184"/>
          </a:xfrm>
          <a:prstGeom prst="rect">
            <a:avLst/>
          </a:prstGeom>
          <a:noFill/>
          <a:ln/>
        </p:spPr>
        <p:txBody>
          <a:bodyPr wrap="square" lIns="0" tIns="0" rIns="0" bIns="0" rtlCol="0" anchor="ctr"/>
          <a:lstStyle/>
          <a:p>
            <a:pPr algn="r" indent="0" marL="0">
              <a:buNone/>
            </a:pPr>
            <a:r>
              <a:rPr lang="en-US" sz="1700" b="1" dirty="0">
                <a:solidFill>
                  <a:srgbClr val="F1F5F9"/>
                </a:solidFill>
                <a:latin typeface="Arial" pitchFamily="34" charset="0"/>
                <a:ea typeface="Arial" pitchFamily="34" charset="-122"/>
                <a:cs typeface="Arial" pitchFamily="34" charset="-120"/>
              </a:rPr>
              <a:t>0.9023</a:t>
            </a:r>
            <a:endParaRPr lang="en-US" sz="1700" dirty="0"/>
          </a:p>
        </p:txBody>
      </p:sp>
      <p:sp>
        <p:nvSpPr>
          <p:cNvPr id="56" name="Text 54"/>
          <p:cNvSpPr txBox="1"/>
          <p:nvPr/>
        </p:nvSpPr>
        <p:spPr>
          <a:xfrm>
            <a:off x="9646920" y="3154680"/>
            <a:ext cx="1813255" cy="1737360"/>
          </a:xfrm>
          <a:prstGeom prst="rect">
            <a:avLst/>
          </a:prstGeom>
          <a:noFill/>
          <a:ln/>
        </p:spPr>
        <p:txBody>
          <a:bodyPr wrap="square" lIns="0" tIns="0" rIns="0" bIns="0" rtlCol="0" anchor="t"/>
          <a:lstStyle/>
          <a:p>
            <a:pPr algn="l" indent="0" marL="0">
              <a:buNone/>
            </a:pPr>
            <a:r>
              <a:rPr lang="en-US" sz="1400" dirty="0">
                <a:solidFill>
                  <a:srgbClr val="A7B4C8"/>
                </a:solidFill>
                <a:latin typeface="Arial" pitchFamily="34" charset="0"/>
                <a:ea typeface="Arial" pitchFamily="34" charset="-122"/>
                <a:cs typeface="Arial" pitchFamily="34" charset="-120"/>
              </a:rPr>
              <a:t>Across all 30 states, real COAST was never the only condition that differed from the other steered conditions.</a:t>
            </a:r>
            <a:endParaRPr lang="en-US" sz="1400" dirty="0"/>
          </a:p>
        </p:txBody>
      </p:sp>
      <p:sp>
        <p:nvSpPr>
          <p:cNvPr id="57" name="Shape 55"/>
          <p:cNvSpPr/>
          <p:nvPr/>
        </p:nvSpPr>
        <p:spPr>
          <a:xfrm>
            <a:off x="548640" y="5230368"/>
            <a:ext cx="11094415" cy="640080"/>
          </a:xfrm>
          <a:prstGeom prst="roundRect">
            <a:avLst>
              <a:gd name="adj" fmla="val 11429"/>
            </a:avLst>
          </a:prstGeom>
          <a:solidFill>
            <a:srgbClr val="0E4A66"/>
          </a:solidFill>
          <a:ln w="12700">
            <a:solidFill>
              <a:srgbClr val="38BDF8"/>
            </a:solidFill>
            <a:prstDash val="solid"/>
          </a:ln>
        </p:spPr>
      </p:sp>
      <p:sp>
        <p:nvSpPr>
          <p:cNvPr id="58" name="Text 56"/>
          <p:cNvSpPr txBox="1"/>
          <p:nvPr/>
        </p:nvSpPr>
        <p:spPr>
          <a:xfrm>
            <a:off x="777240" y="5230368"/>
            <a:ext cx="10637215" cy="640080"/>
          </a:xfrm>
          <a:prstGeom prst="rect">
            <a:avLst/>
          </a:prstGeom>
          <a:noFill/>
          <a:ln/>
        </p:spPr>
        <p:txBody>
          <a:bodyPr wrap="square" lIns="0" tIns="0" rIns="0" bIns="0" rtlCol="0" anchor="ctr"/>
          <a:lstStyle/>
          <a:p>
            <a:pPr algn="l" indent="0" marL="0">
              <a:buNone/>
            </a:pPr>
            <a:r>
              <a:rPr lang="en-US" sz="1650" dirty="0">
                <a:solidFill>
                  <a:srgbClr val="F1F5F9"/>
                </a:solidFill>
                <a:latin typeface="Arial" pitchFamily="34" charset="0"/>
                <a:ea typeface="Arial" pitchFamily="34" charset="-122"/>
                <a:cs typeface="Arial" pitchFamily="34" charset="-120"/>
              </a:rPr>
              <a:t>In the tested KS3 setting, the behavioral effect was not clearly distinguishable from shrinkage or a matched random control.</a:t>
            </a:r>
            <a:endParaRPr lang="en-US" sz="1650" dirty="0"/>
          </a:p>
        </p:txBody>
      </p:sp>
      <p:sp>
        <p:nvSpPr>
          <p:cNvPr id="59" name="Text 57"/>
          <p:cNvSpPr txBox="1"/>
          <p:nvPr/>
        </p:nvSpPr>
        <p:spPr>
          <a:xfrm>
            <a:off x="548640" y="5916168"/>
            <a:ext cx="11094415" cy="237744"/>
          </a:xfrm>
          <a:prstGeom prst="rect">
            <a:avLst/>
          </a:prstGeom>
          <a:noFill/>
          <a:ln/>
        </p:spPr>
        <p:txBody>
          <a:bodyPr wrap="square" lIns="0" tIns="0" rIns="0" bIns="0" rtlCol="0" anchor="t"/>
          <a:lstStyle/>
          <a:p>
            <a:pPr algn="l" indent="0" marL="0">
              <a:buNone/>
            </a:pPr>
            <a:r>
              <a:rPr lang="en-US" sz="1100" dirty="0">
                <a:solidFill>
                  <a:srgbClr val="6B7A93"/>
                </a:solidFill>
                <a:latin typeface="Arial" pitchFamily="34" charset="0"/>
                <a:ea typeface="Arial" pitchFamily="34" charset="-122"/>
                <a:cs typeface="Arial" pitchFamily="34" charset="-120"/>
              </a:rPr>
              <a:t>Paired noise (seed 100) · one run per condition · 15 states per split · all exact McNemar p ≥ 0.25 · Shrink: M = 0.9·I · Random: C_real eigenvalues, random eigenvectors</a:t>
            </a:r>
            <a:endParaRPr lang="en-US" sz="1100" dirty="0"/>
          </a:p>
        </p:txBody>
      </p:sp>
      <p:sp>
        <p:nvSpPr>
          <p:cNvPr id="60" name="Text 58"/>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phase2a/2b_episode_results.csv (states 15–29) · phase3a_episode_results.csv (states 30–44) · V0, L5 α 0.5 β 0.1</a:t>
            </a:r>
            <a:endParaRPr lang="en-US" sz="1000" dirty="0"/>
          </a:p>
        </p:txBody>
      </p:sp>
      <p:sp>
        <p:nvSpPr>
          <p:cNvPr id="61" name="Text 59"/>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62" name="Text 60"/>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10 / 21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WHY LOOK AT THE HISTORY?</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Paper description ≠ released main ≠ historical pipeline</a:t>
            </a:r>
            <a:endParaRPr lang="en-US" sz="3000" dirty="0"/>
          </a:p>
        </p:txBody>
      </p:sp>
      <p:sp>
        <p:nvSpPr>
          <p:cNvPr id="4" name="Shape 2"/>
          <p:cNvSpPr/>
          <p:nvPr/>
        </p:nvSpPr>
        <p:spPr>
          <a:xfrm>
            <a:off x="548640" y="1280160"/>
            <a:ext cx="2650160" cy="566928"/>
          </a:xfrm>
          <a:prstGeom prst="roundRect">
            <a:avLst>
              <a:gd name="adj" fmla="val 12903"/>
            </a:avLst>
          </a:prstGeom>
          <a:solidFill>
            <a:srgbClr val="3D3314"/>
          </a:solidFill>
          <a:ln w="12700">
            <a:solidFill>
              <a:srgbClr val="F2C94C"/>
            </a:solidFill>
            <a:prstDash val="solid"/>
          </a:ln>
        </p:spPr>
      </p:sp>
      <p:sp>
        <p:nvSpPr>
          <p:cNvPr id="5" name="Text 3"/>
          <p:cNvSpPr txBox="1"/>
          <p:nvPr/>
        </p:nvSpPr>
        <p:spPr>
          <a:xfrm>
            <a:off x="676656" y="1280160"/>
            <a:ext cx="2394128" cy="566928"/>
          </a:xfrm>
          <a:prstGeom prst="rect">
            <a:avLst/>
          </a:prstGeom>
          <a:noFill/>
          <a:ln/>
        </p:spPr>
        <p:txBody>
          <a:bodyPr wrap="square" lIns="0" tIns="0" rIns="0" bIns="0" rtlCol="0" anchor="ctr"/>
          <a:lstStyle/>
          <a:p>
            <a:pPr algn="l" indent="0" marL="0">
              <a:buNone/>
            </a:pPr>
            <a:r>
              <a:rPr lang="en-US" sz="1350" dirty="0">
                <a:solidFill>
                  <a:srgbClr val="F1F5F9"/>
                </a:solidFill>
                <a:latin typeface="Arial" pitchFamily="34" charset="0"/>
                <a:ea typeface="Arial" pitchFamily="34" charset="-122"/>
                <a:cs typeface="Arial" pitchFamily="34" charset="-120"/>
              </a:rPr>
              <a:t>Per-step α = 10 cannot be expressed in main</a:t>
            </a:r>
            <a:endParaRPr lang="en-US" sz="1350" dirty="0"/>
          </a:p>
        </p:txBody>
      </p:sp>
      <p:sp>
        <p:nvSpPr>
          <p:cNvPr id="6" name="Shape 4"/>
          <p:cNvSpPr/>
          <p:nvPr/>
        </p:nvSpPr>
        <p:spPr>
          <a:xfrm>
            <a:off x="3363392" y="1280160"/>
            <a:ext cx="2650160" cy="566928"/>
          </a:xfrm>
          <a:prstGeom prst="roundRect">
            <a:avLst>
              <a:gd name="adj" fmla="val 12903"/>
            </a:avLst>
          </a:prstGeom>
          <a:solidFill>
            <a:srgbClr val="3D3314"/>
          </a:solidFill>
          <a:ln w="12700">
            <a:solidFill>
              <a:srgbClr val="F2C94C"/>
            </a:solidFill>
            <a:prstDash val="solid"/>
          </a:ln>
        </p:spPr>
      </p:sp>
      <p:sp>
        <p:nvSpPr>
          <p:cNvPr id="7" name="Text 5"/>
          <p:cNvSpPr txBox="1"/>
          <p:nvPr/>
        </p:nvSpPr>
        <p:spPr>
          <a:xfrm>
            <a:off x="3491408" y="1280160"/>
            <a:ext cx="2394128" cy="566928"/>
          </a:xfrm>
          <a:prstGeom prst="rect">
            <a:avLst/>
          </a:prstGeom>
          <a:noFill/>
          <a:ln/>
        </p:spPr>
        <p:txBody>
          <a:bodyPr wrap="square" lIns="0" tIns="0" rIns="0" bIns="0" rtlCol="0" anchor="ctr"/>
          <a:lstStyle/>
          <a:p>
            <a:pPr algn="l" indent="0" marL="0">
              <a:buNone/>
            </a:pPr>
            <a:r>
              <a:rPr lang="en-US" sz="1350" dirty="0">
                <a:solidFill>
                  <a:srgbClr val="F1F5F9"/>
                </a:solidFill>
                <a:latin typeface="Arial" pitchFamily="34" charset="0"/>
                <a:ea typeface="Arial" pitchFamily="34" charset="-122"/>
                <a:cs typeface="Arial" pitchFamily="34" charset="-120"/>
              </a:rPr>
              <a:t>Steering merged to main on Jun 1 — after submission</a:t>
            </a:r>
            <a:endParaRPr lang="en-US" sz="1350" dirty="0"/>
          </a:p>
        </p:txBody>
      </p:sp>
      <p:sp>
        <p:nvSpPr>
          <p:cNvPr id="8" name="Shape 6"/>
          <p:cNvSpPr/>
          <p:nvPr/>
        </p:nvSpPr>
        <p:spPr>
          <a:xfrm>
            <a:off x="6178144" y="1280160"/>
            <a:ext cx="2650160" cy="566928"/>
          </a:xfrm>
          <a:prstGeom prst="roundRect">
            <a:avLst>
              <a:gd name="adj" fmla="val 12903"/>
            </a:avLst>
          </a:prstGeom>
          <a:solidFill>
            <a:srgbClr val="3D3314"/>
          </a:solidFill>
          <a:ln w="12700">
            <a:solidFill>
              <a:srgbClr val="F2C94C"/>
            </a:solidFill>
            <a:prstDash val="solid"/>
          </a:ln>
        </p:spPr>
      </p:sp>
      <p:sp>
        <p:nvSpPr>
          <p:cNvPr id="9" name="Text 7"/>
          <p:cNvSpPr txBox="1"/>
          <p:nvPr/>
        </p:nvSpPr>
        <p:spPr>
          <a:xfrm>
            <a:off x="6306160" y="1280160"/>
            <a:ext cx="2394128" cy="566928"/>
          </a:xfrm>
          <a:prstGeom prst="rect">
            <a:avLst/>
          </a:prstGeom>
          <a:noFill/>
          <a:ln/>
        </p:spPr>
        <p:txBody>
          <a:bodyPr wrap="square" lIns="0" tIns="0" rIns="0" bIns="0" rtlCol="0" anchor="ctr"/>
          <a:lstStyle/>
          <a:p>
            <a:pPr algn="l" indent="0" marL="0">
              <a:buNone/>
            </a:pPr>
            <a:r>
              <a:rPr lang="en-US" sz="1200" dirty="0">
                <a:solidFill>
                  <a:srgbClr val="F1F5F9"/>
                </a:solidFill>
                <a:latin typeface="Courier New" pitchFamily="34" charset="0"/>
                <a:ea typeface="Courier New" pitchFamily="34" charset="-122"/>
                <a:cs typeface="Courier New" pitchFamily="34" charset="-120"/>
              </a:rPr>
              <a:t>best_configs.json</a:t>
            </a:r>
            <a:pPr algn="l" indent="0" marL="0">
              <a:buNone/>
            </a:pPr>
            <a:r>
              <a:rPr lang="en-US" sz="1350" dirty="0">
                <a:solidFill>
                  <a:srgbClr val="F1F5F9"/>
                </a:solidFill>
                <a:latin typeface="Arial" pitchFamily="34" charset="0"/>
                <a:ea typeface="Arial" pitchFamily="34" charset="-122"/>
                <a:cs typeface="Arial" pitchFamily="34" charset="-120"/>
              </a:rPr>
              <a:t> is an empty placeholder</a:t>
            </a:r>
            <a:endParaRPr lang="en-US" sz="1350" dirty="0"/>
          </a:p>
        </p:txBody>
      </p:sp>
      <p:sp>
        <p:nvSpPr>
          <p:cNvPr id="10" name="Shape 8"/>
          <p:cNvSpPr/>
          <p:nvPr/>
        </p:nvSpPr>
        <p:spPr>
          <a:xfrm>
            <a:off x="8992895" y="1280160"/>
            <a:ext cx="2650160" cy="566928"/>
          </a:xfrm>
          <a:prstGeom prst="roundRect">
            <a:avLst>
              <a:gd name="adj" fmla="val 12903"/>
            </a:avLst>
          </a:prstGeom>
          <a:solidFill>
            <a:srgbClr val="3D3314"/>
          </a:solidFill>
          <a:ln w="12700">
            <a:solidFill>
              <a:srgbClr val="F2C94C"/>
            </a:solidFill>
            <a:prstDash val="solid"/>
          </a:ln>
        </p:spPr>
      </p:sp>
      <p:sp>
        <p:nvSpPr>
          <p:cNvPr id="11" name="Text 9"/>
          <p:cNvSpPr txBox="1"/>
          <p:nvPr/>
        </p:nvSpPr>
        <p:spPr>
          <a:xfrm>
            <a:off x="9120911" y="1280160"/>
            <a:ext cx="2394128" cy="566928"/>
          </a:xfrm>
          <a:prstGeom prst="rect">
            <a:avLst/>
          </a:prstGeom>
          <a:noFill/>
          <a:ln/>
        </p:spPr>
        <p:txBody>
          <a:bodyPr wrap="square" lIns="0" tIns="0" rIns="0" bIns="0" rtlCol="0" anchor="ctr"/>
          <a:lstStyle/>
          <a:p>
            <a:pPr algn="l" indent="0" marL="0">
              <a:buNone/>
            </a:pPr>
            <a:r>
              <a:rPr lang="en-US" sz="1350" dirty="0">
                <a:solidFill>
                  <a:srgbClr val="F1F5F9"/>
                </a:solidFill>
                <a:latin typeface="Arial" pitchFamily="34" charset="0"/>
                <a:ea typeface="Arial" pitchFamily="34" charset="-122"/>
                <a:cs typeface="Arial" pitchFamily="34" charset="-120"/>
              </a:rPr>
              <a:t>Paper Base = fit-set rate in 10/10 tasks</a:t>
            </a:r>
            <a:endParaRPr lang="en-US" sz="1350" dirty="0"/>
          </a:p>
        </p:txBody>
      </p:sp>
      <p:sp>
        <p:nvSpPr>
          <p:cNvPr id="12" name="Text 10"/>
          <p:cNvSpPr txBox="1"/>
          <p:nvPr/>
        </p:nvSpPr>
        <p:spPr>
          <a:xfrm>
            <a:off x="658368" y="2029968"/>
            <a:ext cx="2240280" cy="329184"/>
          </a:xfrm>
          <a:prstGeom prst="rect">
            <a:avLst/>
          </a:prstGeom>
          <a:noFill/>
          <a:ln/>
        </p:spPr>
        <p:txBody>
          <a:bodyPr wrap="square" lIns="0" tIns="0" rIns="0" bIns="0" rtlCol="0" anchor="ctr"/>
          <a:lstStyle/>
          <a:p>
            <a:pPr algn="l" indent="0" marL="0">
              <a:buNone/>
            </a:pPr>
            <a:endParaRPr lang="en-US" sz="1500" dirty="0"/>
          </a:p>
        </p:txBody>
      </p:sp>
      <p:sp>
        <p:nvSpPr>
          <p:cNvPr id="13" name="Text 11"/>
          <p:cNvSpPr txBox="1"/>
          <p:nvPr/>
        </p:nvSpPr>
        <p:spPr>
          <a:xfrm>
            <a:off x="2990088" y="2029968"/>
            <a:ext cx="2788920" cy="329184"/>
          </a:xfrm>
          <a:prstGeom prst="rect">
            <a:avLst/>
          </a:prstGeom>
          <a:noFill/>
          <a:ln/>
        </p:spPr>
        <p:txBody>
          <a:bodyPr wrap="square" lIns="0" tIns="0" rIns="0" bIns="0" rtlCol="0" anchor="ctr"/>
          <a:lstStyle/>
          <a:p>
            <a:pPr algn="l" indent="0" marL="0">
              <a:buNone/>
            </a:pPr>
            <a:r>
              <a:rPr lang="en-US" sz="1500" b="1" dirty="0">
                <a:solidFill>
                  <a:srgbClr val="F59E0B"/>
                </a:solidFill>
                <a:latin typeface="Arial" pitchFamily="34" charset="0"/>
                <a:ea typeface="Arial" pitchFamily="34" charset="-122"/>
                <a:cs typeface="Arial" pitchFamily="34" charset="-120"/>
              </a:rPr>
              <a:t>Paper text</a:t>
            </a:r>
            <a:endParaRPr lang="en-US" sz="1500" dirty="0"/>
          </a:p>
        </p:txBody>
      </p:sp>
      <p:sp>
        <p:nvSpPr>
          <p:cNvPr id="14" name="Text 12"/>
          <p:cNvSpPr txBox="1"/>
          <p:nvPr/>
        </p:nvSpPr>
        <p:spPr>
          <a:xfrm>
            <a:off x="5870448" y="2029968"/>
            <a:ext cx="2880360" cy="32918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Released main</a:t>
            </a:r>
            <a:endParaRPr lang="en-US" sz="1500" dirty="0"/>
          </a:p>
        </p:txBody>
      </p:sp>
      <p:sp>
        <p:nvSpPr>
          <p:cNvPr id="15" name="Text 13"/>
          <p:cNvSpPr txBox="1"/>
          <p:nvPr/>
        </p:nvSpPr>
        <p:spPr>
          <a:xfrm>
            <a:off x="8842248" y="2029968"/>
            <a:ext cx="2907792" cy="32918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miranda-v2</a:t>
            </a:r>
            <a:endParaRPr lang="en-US" sz="1500" dirty="0"/>
          </a:p>
        </p:txBody>
      </p:sp>
      <p:sp>
        <p:nvSpPr>
          <p:cNvPr id="16" name="Text 14"/>
          <p:cNvSpPr txBox="1"/>
          <p:nvPr/>
        </p:nvSpPr>
        <p:spPr>
          <a:xfrm>
            <a:off x="548640" y="2414016"/>
            <a:ext cx="2240280" cy="429768"/>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Token pooling</a:t>
            </a:r>
            <a:endParaRPr lang="en-US" sz="1500" dirty="0"/>
          </a:p>
        </p:txBody>
      </p:sp>
      <p:sp>
        <p:nvSpPr>
          <p:cNvPr id="17" name="Shape 15"/>
          <p:cNvSpPr/>
          <p:nvPr/>
        </p:nvSpPr>
        <p:spPr>
          <a:xfrm>
            <a:off x="2880360" y="2414016"/>
            <a:ext cx="2715768" cy="420624"/>
          </a:xfrm>
          <a:prstGeom prst="roundRect">
            <a:avLst>
              <a:gd name="adj" fmla="val 17391"/>
            </a:avLst>
          </a:prstGeom>
          <a:solidFill>
            <a:srgbClr val="131E33"/>
          </a:solidFill>
          <a:ln/>
        </p:spPr>
      </p:sp>
      <p:sp>
        <p:nvSpPr>
          <p:cNvPr id="18" name="Text 16"/>
          <p:cNvSpPr txBox="1"/>
          <p:nvPr/>
        </p:nvSpPr>
        <p:spPr>
          <a:xfrm>
            <a:off x="2990088" y="2414016"/>
            <a:ext cx="2560320" cy="42062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mean over 10 action tokens</a:t>
            </a:r>
            <a:endParaRPr lang="en-US" sz="1400" dirty="0"/>
          </a:p>
        </p:txBody>
      </p:sp>
      <p:sp>
        <p:nvSpPr>
          <p:cNvPr id="19" name="Shape 17"/>
          <p:cNvSpPr/>
          <p:nvPr/>
        </p:nvSpPr>
        <p:spPr>
          <a:xfrm>
            <a:off x="5760720" y="2414016"/>
            <a:ext cx="2807208" cy="420624"/>
          </a:xfrm>
          <a:prstGeom prst="roundRect">
            <a:avLst>
              <a:gd name="adj" fmla="val 17391"/>
            </a:avLst>
          </a:prstGeom>
          <a:solidFill>
            <a:srgbClr val="131E33"/>
          </a:solidFill>
          <a:ln/>
        </p:spPr>
      </p:sp>
      <p:sp>
        <p:nvSpPr>
          <p:cNvPr id="20" name="Text 18"/>
          <p:cNvSpPr txBox="1"/>
          <p:nvPr/>
        </p:nvSpPr>
        <p:spPr>
          <a:xfrm>
            <a:off x="5852160" y="2414016"/>
            <a:ext cx="274320" cy="420624"/>
          </a:xfrm>
          <a:prstGeom prst="rect">
            <a:avLst/>
          </a:prstGeom>
          <a:noFill/>
          <a:ln/>
        </p:spPr>
        <p:txBody>
          <a:bodyPr wrap="square" lIns="0" tIns="0" rIns="0" bIns="0" rtlCol="0" anchor="ctr"/>
          <a:lstStyle/>
          <a:p>
            <a:pPr algn="ctr" indent="0" marL="0">
              <a:buNone/>
            </a:pPr>
            <a:r>
              <a:rPr lang="en-US" sz="1700" b="1" dirty="0">
                <a:solidFill>
                  <a:srgbClr val="EF6B6B"/>
                </a:solidFill>
                <a:latin typeface="Arial" pitchFamily="34" charset="0"/>
                <a:ea typeface="Arial" pitchFamily="34" charset="-122"/>
                <a:cs typeface="Arial" pitchFamily="34" charset="-120"/>
              </a:rPr>
              <a:t>✗</a:t>
            </a:r>
            <a:endParaRPr lang="en-US" sz="1700" dirty="0"/>
          </a:p>
        </p:txBody>
      </p:sp>
      <p:sp>
        <p:nvSpPr>
          <p:cNvPr id="21" name="Text 19"/>
          <p:cNvSpPr txBox="1"/>
          <p:nvPr/>
        </p:nvSpPr>
        <p:spPr>
          <a:xfrm>
            <a:off x="6172200" y="2414016"/>
            <a:ext cx="2331720"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every token a row</a:t>
            </a:r>
            <a:endParaRPr lang="en-US" sz="1400" dirty="0"/>
          </a:p>
        </p:txBody>
      </p:sp>
      <p:sp>
        <p:nvSpPr>
          <p:cNvPr id="22" name="Shape 20"/>
          <p:cNvSpPr/>
          <p:nvPr/>
        </p:nvSpPr>
        <p:spPr>
          <a:xfrm>
            <a:off x="8732520" y="2414016"/>
            <a:ext cx="2834640" cy="420624"/>
          </a:xfrm>
          <a:prstGeom prst="roundRect">
            <a:avLst>
              <a:gd name="adj" fmla="val 17391"/>
            </a:avLst>
          </a:prstGeom>
          <a:solidFill>
            <a:srgbClr val="131E33"/>
          </a:solidFill>
          <a:ln/>
        </p:spPr>
      </p:sp>
      <p:sp>
        <p:nvSpPr>
          <p:cNvPr id="23" name="Text 21"/>
          <p:cNvSpPr txBox="1"/>
          <p:nvPr/>
        </p:nvSpPr>
        <p:spPr>
          <a:xfrm>
            <a:off x="8823960" y="2414016"/>
            <a:ext cx="274320" cy="420624"/>
          </a:xfrm>
          <a:prstGeom prst="rect">
            <a:avLst/>
          </a:prstGeom>
          <a:noFill/>
          <a:ln/>
        </p:spPr>
        <p:txBody>
          <a:bodyPr wrap="square" lIns="0" tIns="0" rIns="0" bIns="0" rtlCol="0" anchor="ctr"/>
          <a:lstStyle/>
          <a:p>
            <a:pPr algn="ctr" indent="0" marL="0">
              <a:buNone/>
            </a:pPr>
            <a:r>
              <a:rPr lang="en-US" sz="1700" b="1" dirty="0">
                <a:solidFill>
                  <a:srgbClr val="4CC38A"/>
                </a:solidFill>
                <a:latin typeface="Arial" pitchFamily="34" charset="0"/>
                <a:ea typeface="Arial" pitchFamily="34" charset="-122"/>
                <a:cs typeface="Arial" pitchFamily="34" charset="-120"/>
              </a:rPr>
              <a:t>✓</a:t>
            </a:r>
            <a:endParaRPr lang="en-US" sz="1700" dirty="0"/>
          </a:p>
        </p:txBody>
      </p:sp>
      <p:sp>
        <p:nvSpPr>
          <p:cNvPr id="24" name="Text 22"/>
          <p:cNvSpPr txBox="1"/>
          <p:nvPr/>
        </p:nvSpPr>
        <p:spPr>
          <a:xfrm>
            <a:off x="9144000" y="2414016"/>
            <a:ext cx="2359152"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mean-pooled</a:t>
            </a:r>
            <a:endParaRPr lang="en-US" sz="1400" dirty="0"/>
          </a:p>
        </p:txBody>
      </p:sp>
      <p:sp>
        <p:nvSpPr>
          <p:cNvPr id="25" name="Text 23"/>
          <p:cNvSpPr txBox="1"/>
          <p:nvPr/>
        </p:nvSpPr>
        <p:spPr>
          <a:xfrm>
            <a:off x="548640" y="2898648"/>
            <a:ext cx="2240280" cy="429768"/>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Centering</a:t>
            </a:r>
            <a:endParaRPr lang="en-US" sz="1500" dirty="0"/>
          </a:p>
        </p:txBody>
      </p:sp>
      <p:sp>
        <p:nvSpPr>
          <p:cNvPr id="26" name="Shape 24"/>
          <p:cNvSpPr/>
          <p:nvPr/>
        </p:nvSpPr>
        <p:spPr>
          <a:xfrm>
            <a:off x="2880360" y="2898648"/>
            <a:ext cx="2715768" cy="420624"/>
          </a:xfrm>
          <a:prstGeom prst="roundRect">
            <a:avLst>
              <a:gd name="adj" fmla="val 17391"/>
            </a:avLst>
          </a:prstGeom>
          <a:solidFill>
            <a:srgbClr val="131E33"/>
          </a:solidFill>
          <a:ln/>
        </p:spPr>
      </p:sp>
      <p:sp>
        <p:nvSpPr>
          <p:cNvPr id="27" name="Text 25"/>
          <p:cNvSpPr txBox="1"/>
          <p:nvPr/>
        </p:nvSpPr>
        <p:spPr>
          <a:xfrm>
            <a:off x="2990088" y="2898648"/>
            <a:ext cx="2560320" cy="42062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mean-centered R</a:t>
            </a:r>
            <a:endParaRPr lang="en-US" sz="1400" dirty="0"/>
          </a:p>
        </p:txBody>
      </p:sp>
      <p:sp>
        <p:nvSpPr>
          <p:cNvPr id="28" name="Shape 26"/>
          <p:cNvSpPr/>
          <p:nvPr/>
        </p:nvSpPr>
        <p:spPr>
          <a:xfrm>
            <a:off x="5760720" y="2898648"/>
            <a:ext cx="2807208" cy="420624"/>
          </a:xfrm>
          <a:prstGeom prst="roundRect">
            <a:avLst>
              <a:gd name="adj" fmla="val 17391"/>
            </a:avLst>
          </a:prstGeom>
          <a:solidFill>
            <a:srgbClr val="131E33"/>
          </a:solidFill>
          <a:ln/>
        </p:spPr>
      </p:sp>
      <p:sp>
        <p:nvSpPr>
          <p:cNvPr id="29" name="Text 27"/>
          <p:cNvSpPr txBox="1"/>
          <p:nvPr/>
        </p:nvSpPr>
        <p:spPr>
          <a:xfrm>
            <a:off x="5852160" y="2898648"/>
            <a:ext cx="274320" cy="420624"/>
          </a:xfrm>
          <a:prstGeom prst="rect">
            <a:avLst/>
          </a:prstGeom>
          <a:noFill/>
          <a:ln/>
        </p:spPr>
        <p:txBody>
          <a:bodyPr wrap="square" lIns="0" tIns="0" rIns="0" bIns="0" rtlCol="0" anchor="ctr"/>
          <a:lstStyle/>
          <a:p>
            <a:pPr algn="ctr" indent="0" marL="0">
              <a:buNone/>
            </a:pPr>
            <a:r>
              <a:rPr lang="en-US" sz="1700" b="1" dirty="0">
                <a:solidFill>
                  <a:srgbClr val="EF6B6B"/>
                </a:solidFill>
                <a:latin typeface="Arial" pitchFamily="34" charset="0"/>
                <a:ea typeface="Arial" pitchFamily="34" charset="-122"/>
                <a:cs typeface="Arial" pitchFamily="34" charset="-120"/>
              </a:rPr>
              <a:t>✗</a:t>
            </a:r>
            <a:endParaRPr lang="en-US" sz="1700" dirty="0"/>
          </a:p>
        </p:txBody>
      </p:sp>
      <p:sp>
        <p:nvSpPr>
          <p:cNvPr id="30" name="Text 28"/>
          <p:cNvSpPr txBox="1"/>
          <p:nvPr/>
        </p:nvSpPr>
        <p:spPr>
          <a:xfrm>
            <a:off x="6172200" y="2898648"/>
            <a:ext cx="2331720"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uncentered</a:t>
            </a:r>
            <a:endParaRPr lang="en-US" sz="1400" dirty="0"/>
          </a:p>
        </p:txBody>
      </p:sp>
      <p:sp>
        <p:nvSpPr>
          <p:cNvPr id="31" name="Shape 29"/>
          <p:cNvSpPr/>
          <p:nvPr/>
        </p:nvSpPr>
        <p:spPr>
          <a:xfrm>
            <a:off x="8732520" y="2898648"/>
            <a:ext cx="2834640" cy="420624"/>
          </a:xfrm>
          <a:prstGeom prst="roundRect">
            <a:avLst>
              <a:gd name="adj" fmla="val 17391"/>
            </a:avLst>
          </a:prstGeom>
          <a:solidFill>
            <a:srgbClr val="131E33"/>
          </a:solidFill>
          <a:ln/>
        </p:spPr>
      </p:sp>
      <p:sp>
        <p:nvSpPr>
          <p:cNvPr id="32" name="Text 30"/>
          <p:cNvSpPr txBox="1"/>
          <p:nvPr/>
        </p:nvSpPr>
        <p:spPr>
          <a:xfrm>
            <a:off x="8823960" y="2898648"/>
            <a:ext cx="274320" cy="420624"/>
          </a:xfrm>
          <a:prstGeom prst="rect">
            <a:avLst/>
          </a:prstGeom>
          <a:noFill/>
          <a:ln/>
        </p:spPr>
        <p:txBody>
          <a:bodyPr wrap="square" lIns="0" tIns="0" rIns="0" bIns="0" rtlCol="0" anchor="ctr"/>
          <a:lstStyle/>
          <a:p>
            <a:pPr algn="ctr" indent="0" marL="0">
              <a:buNone/>
            </a:pPr>
            <a:r>
              <a:rPr lang="en-US" sz="1700" b="1" dirty="0">
                <a:solidFill>
                  <a:srgbClr val="4CC38A"/>
                </a:solidFill>
                <a:latin typeface="Arial" pitchFamily="34" charset="0"/>
                <a:ea typeface="Arial" pitchFamily="34" charset="-122"/>
                <a:cs typeface="Arial" pitchFamily="34" charset="-120"/>
              </a:rPr>
              <a:t>✓</a:t>
            </a:r>
            <a:endParaRPr lang="en-US" sz="1700" dirty="0"/>
          </a:p>
        </p:txBody>
      </p:sp>
      <p:sp>
        <p:nvSpPr>
          <p:cNvPr id="33" name="Text 31"/>
          <p:cNvSpPr txBox="1"/>
          <p:nvPr/>
        </p:nvSpPr>
        <p:spPr>
          <a:xfrm>
            <a:off x="9144000" y="2898648"/>
            <a:ext cx="2359152"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centered</a:t>
            </a:r>
            <a:endParaRPr lang="en-US" sz="1400" dirty="0"/>
          </a:p>
        </p:txBody>
      </p:sp>
      <p:sp>
        <p:nvSpPr>
          <p:cNvPr id="34" name="Text 32"/>
          <p:cNvSpPr txBox="1"/>
          <p:nvPr/>
        </p:nvSpPr>
        <p:spPr>
          <a:xfrm>
            <a:off x="548640" y="3383280"/>
            <a:ext cx="2240280" cy="429768"/>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Contrastive formula</a:t>
            </a:r>
            <a:endParaRPr lang="en-US" sz="1500" dirty="0"/>
          </a:p>
        </p:txBody>
      </p:sp>
      <p:sp>
        <p:nvSpPr>
          <p:cNvPr id="35" name="Shape 33"/>
          <p:cNvSpPr/>
          <p:nvPr/>
        </p:nvSpPr>
        <p:spPr>
          <a:xfrm>
            <a:off x="2880360" y="3383280"/>
            <a:ext cx="2715768" cy="420624"/>
          </a:xfrm>
          <a:prstGeom prst="roundRect">
            <a:avLst>
              <a:gd name="adj" fmla="val 17391"/>
            </a:avLst>
          </a:prstGeom>
          <a:solidFill>
            <a:srgbClr val="131E33"/>
          </a:solidFill>
          <a:ln/>
        </p:spPr>
      </p:sp>
      <p:sp>
        <p:nvSpPr>
          <p:cNvPr id="36" name="Text 34"/>
          <p:cNvSpPr txBox="1"/>
          <p:nvPr/>
        </p:nvSpPr>
        <p:spPr>
          <a:xfrm>
            <a:off x="2990088" y="3383280"/>
            <a:ext cx="2560320" cy="42062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C</a:t>
            </a:r>
            <a:pPr algn="l" indent="0" marL="0">
              <a:buNone/>
            </a:pPr>
            <a:r>
              <a:rPr lang="en-US" sz="1400" baseline="30000" dirty="0">
                <a:solidFill>
                  <a:srgbClr val="A7B4C8"/>
                </a:solidFill>
                <a:latin typeface="Arial" pitchFamily="34" charset="0"/>
                <a:ea typeface="Arial" pitchFamily="34" charset="-122"/>
                <a:cs typeface="Arial" pitchFamily="34" charset="-120"/>
              </a:rPr>
              <a:t>+</a:t>
            </a:r>
            <a:pPr algn="l" indent="0" marL="0">
              <a:buNone/>
            </a:pPr>
            <a:r>
              <a:rPr lang="en-US" sz="1400" dirty="0">
                <a:solidFill>
                  <a:srgbClr val="A7B4C8"/>
                </a:solidFill>
                <a:latin typeface="Arial" pitchFamily="34" charset="0"/>
                <a:ea typeface="Arial" pitchFamily="34" charset="-122"/>
                <a:cs typeface="Arial" pitchFamily="34" charset="-120"/>
              </a:rPr>
              <a:t> ∧ ¬C</a:t>
            </a:r>
            <a:pPr algn="l" indent="0" marL="0">
              <a:buNone/>
            </a:pPr>
            <a:r>
              <a:rPr lang="en-US" sz="1400" baseline="30000" dirty="0">
                <a:solidFill>
                  <a:srgbClr val="A7B4C8"/>
                </a:solidFill>
                <a:latin typeface="Arial" pitchFamily="34" charset="0"/>
                <a:ea typeface="Arial" pitchFamily="34" charset="-122"/>
                <a:cs typeface="Arial" pitchFamily="34" charset="-120"/>
              </a:rPr>
              <a:t>−</a:t>
            </a:r>
            <a:pPr algn="l" indent="0" marL="0">
              <a:buNone/>
            </a:pPr>
            <a:r>
              <a:rPr lang="en-US" sz="1400" dirty="0">
                <a:solidFill>
                  <a:srgbClr val="A7B4C8"/>
                </a:solidFill>
                <a:latin typeface="Arial" pitchFamily="34" charset="0"/>
                <a:ea typeface="Arial" pitchFamily="34" charset="-122"/>
                <a:cs typeface="Arial" pitchFamily="34" charset="-120"/>
              </a:rPr>
              <a:t>  (pinv AND)</a:t>
            </a:r>
            <a:endParaRPr lang="en-US" sz="1400" dirty="0"/>
          </a:p>
        </p:txBody>
      </p:sp>
      <p:sp>
        <p:nvSpPr>
          <p:cNvPr id="37" name="Shape 35"/>
          <p:cNvSpPr/>
          <p:nvPr/>
        </p:nvSpPr>
        <p:spPr>
          <a:xfrm>
            <a:off x="5760720" y="3383280"/>
            <a:ext cx="2807208" cy="420624"/>
          </a:xfrm>
          <a:prstGeom prst="roundRect">
            <a:avLst>
              <a:gd name="adj" fmla="val 17391"/>
            </a:avLst>
          </a:prstGeom>
          <a:solidFill>
            <a:srgbClr val="131E33"/>
          </a:solidFill>
          <a:ln/>
        </p:spPr>
      </p:sp>
      <p:sp>
        <p:nvSpPr>
          <p:cNvPr id="38" name="Text 36"/>
          <p:cNvSpPr txBox="1"/>
          <p:nvPr/>
        </p:nvSpPr>
        <p:spPr>
          <a:xfrm>
            <a:off x="5852160" y="3383280"/>
            <a:ext cx="274320" cy="420624"/>
          </a:xfrm>
          <a:prstGeom prst="rect">
            <a:avLst/>
          </a:prstGeom>
          <a:noFill/>
          <a:ln/>
        </p:spPr>
        <p:txBody>
          <a:bodyPr wrap="square" lIns="0" tIns="0" rIns="0" bIns="0" rtlCol="0" anchor="ctr"/>
          <a:lstStyle/>
          <a:p>
            <a:pPr algn="ctr" indent="0" marL="0">
              <a:buNone/>
            </a:pPr>
            <a:r>
              <a:rPr lang="en-US" sz="1700" b="1" dirty="0">
                <a:solidFill>
                  <a:srgbClr val="EF6B6B"/>
                </a:solidFill>
                <a:latin typeface="Arial" pitchFamily="34" charset="0"/>
                <a:ea typeface="Arial" pitchFamily="34" charset="-122"/>
                <a:cs typeface="Arial" pitchFamily="34" charset="-120"/>
              </a:rPr>
              <a:t>✗</a:t>
            </a:r>
            <a:endParaRPr lang="en-US" sz="1700" dirty="0"/>
          </a:p>
        </p:txBody>
      </p:sp>
      <p:sp>
        <p:nvSpPr>
          <p:cNvPr id="39" name="Text 37"/>
          <p:cNvSpPr txBox="1"/>
          <p:nvPr/>
        </p:nvSpPr>
        <p:spPr>
          <a:xfrm>
            <a:off x="6172200" y="3383280"/>
            <a:ext cx="2331720"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A(A + B − AB)</a:t>
            </a:r>
            <a:pPr algn="l" indent="0" marL="0">
              <a:buNone/>
            </a:pPr>
            <a:r>
              <a:rPr lang="en-US" sz="1400" baseline="30000" dirty="0">
                <a:solidFill>
                  <a:srgbClr val="F1F5F9"/>
                </a:solidFill>
                <a:latin typeface="Arial" pitchFamily="34" charset="0"/>
                <a:ea typeface="Arial" pitchFamily="34" charset="-122"/>
                <a:cs typeface="Arial" pitchFamily="34" charset="-120"/>
              </a:rPr>
              <a:t>−1</a:t>
            </a:r>
            <a:pPr algn="l" indent="0" marL="0">
              <a:buNone/>
            </a:pPr>
            <a:r>
              <a:rPr lang="en-US" sz="1400" dirty="0">
                <a:solidFill>
                  <a:srgbClr val="F1F5F9"/>
                </a:solidFill>
                <a:latin typeface="Arial" pitchFamily="34" charset="0"/>
                <a:ea typeface="Arial" pitchFamily="34" charset="-122"/>
                <a:cs typeface="Arial" pitchFamily="34" charset="-120"/>
              </a:rPr>
              <a:t>B</a:t>
            </a:r>
            <a:endParaRPr lang="en-US" sz="1400" dirty="0"/>
          </a:p>
        </p:txBody>
      </p:sp>
      <p:sp>
        <p:nvSpPr>
          <p:cNvPr id="40" name="Shape 38"/>
          <p:cNvSpPr/>
          <p:nvPr/>
        </p:nvSpPr>
        <p:spPr>
          <a:xfrm>
            <a:off x="8732520" y="3383280"/>
            <a:ext cx="2834640" cy="420624"/>
          </a:xfrm>
          <a:prstGeom prst="roundRect">
            <a:avLst>
              <a:gd name="adj" fmla="val 17391"/>
            </a:avLst>
          </a:prstGeom>
          <a:solidFill>
            <a:srgbClr val="131E33"/>
          </a:solidFill>
          <a:ln/>
        </p:spPr>
      </p:sp>
      <p:sp>
        <p:nvSpPr>
          <p:cNvPr id="41" name="Text 39"/>
          <p:cNvSpPr txBox="1"/>
          <p:nvPr/>
        </p:nvSpPr>
        <p:spPr>
          <a:xfrm>
            <a:off x="8823960" y="3383280"/>
            <a:ext cx="274320" cy="420624"/>
          </a:xfrm>
          <a:prstGeom prst="rect">
            <a:avLst/>
          </a:prstGeom>
          <a:noFill/>
          <a:ln/>
        </p:spPr>
        <p:txBody>
          <a:bodyPr wrap="square" lIns="0" tIns="0" rIns="0" bIns="0" rtlCol="0" anchor="ctr"/>
          <a:lstStyle/>
          <a:p>
            <a:pPr algn="ctr" indent="0" marL="0">
              <a:buNone/>
            </a:pPr>
            <a:r>
              <a:rPr lang="en-US" sz="1700" b="1" dirty="0">
                <a:solidFill>
                  <a:srgbClr val="EF6B6B"/>
                </a:solidFill>
                <a:latin typeface="Arial" pitchFamily="34" charset="0"/>
                <a:ea typeface="Arial" pitchFamily="34" charset="-122"/>
                <a:cs typeface="Arial" pitchFamily="34" charset="-120"/>
              </a:rPr>
              <a:t>✗</a:t>
            </a:r>
            <a:endParaRPr lang="en-US" sz="1700" dirty="0"/>
          </a:p>
        </p:txBody>
      </p:sp>
      <p:sp>
        <p:nvSpPr>
          <p:cNvPr id="42" name="Text 40"/>
          <p:cNvSpPr txBox="1"/>
          <p:nvPr/>
        </p:nvSpPr>
        <p:spPr>
          <a:xfrm>
            <a:off x="9144000" y="3383280"/>
            <a:ext cx="2359152"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C</a:t>
            </a:r>
            <a:pPr algn="l" indent="0" marL="0">
              <a:buNone/>
            </a:pPr>
            <a:r>
              <a:rPr lang="en-US" sz="1400" baseline="-40000" dirty="0">
                <a:solidFill>
                  <a:srgbClr val="F1F5F9"/>
                </a:solidFill>
                <a:latin typeface="Arial" pitchFamily="34" charset="0"/>
                <a:ea typeface="Arial" pitchFamily="34" charset="-122"/>
                <a:cs typeface="Arial" pitchFamily="34" charset="-120"/>
              </a:rPr>
              <a:t>s</a:t>
            </a:r>
            <a:pPr algn="l" indent="0" marL="0">
              <a:buNone/>
            </a:pPr>
            <a:r>
              <a:rPr lang="en-US" sz="1400" dirty="0">
                <a:solidFill>
                  <a:srgbClr val="F1F5F9"/>
                </a:solidFill>
                <a:latin typeface="Arial" pitchFamily="34" charset="0"/>
                <a:ea typeface="Arial" pitchFamily="34" charset="-122"/>
                <a:cs typeface="Arial" pitchFamily="34" charset="-120"/>
              </a:rPr>
              <a:t>(I − C</a:t>
            </a:r>
            <a:pPr algn="l" indent="0" marL="0">
              <a:buNone/>
            </a:pPr>
            <a:r>
              <a:rPr lang="en-US" sz="1400" baseline="-40000" dirty="0">
                <a:solidFill>
                  <a:srgbClr val="F1F5F9"/>
                </a:solidFill>
                <a:latin typeface="Arial" pitchFamily="34" charset="0"/>
                <a:ea typeface="Arial" pitchFamily="34" charset="-122"/>
                <a:cs typeface="Arial" pitchFamily="34" charset="-120"/>
              </a:rPr>
              <a:t>f</a:t>
            </a:r>
            <a:pPr algn="l" indent="0" marL="0">
              <a:buNone/>
            </a:pPr>
            <a:r>
              <a:rPr lang="en-US" sz="1400" dirty="0">
                <a:solidFill>
                  <a:srgbClr val="F1F5F9"/>
                </a:solidFill>
                <a:latin typeface="Arial" pitchFamily="34" charset="0"/>
                <a:ea typeface="Arial" pitchFamily="34" charset="-122"/>
                <a:cs typeface="Arial" pitchFamily="34" charset="-120"/>
              </a:rPr>
              <a:t>)</a:t>
            </a:r>
            <a:endParaRPr lang="en-US" sz="1400" dirty="0"/>
          </a:p>
        </p:txBody>
      </p:sp>
      <p:sp>
        <p:nvSpPr>
          <p:cNvPr id="43" name="Text 41"/>
          <p:cNvSpPr txBox="1"/>
          <p:nvPr/>
        </p:nvSpPr>
        <p:spPr>
          <a:xfrm>
            <a:off x="548640" y="3867912"/>
            <a:ext cx="2240280" cy="429768"/>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Per-step α</a:t>
            </a:r>
            <a:endParaRPr lang="en-US" sz="1500" dirty="0"/>
          </a:p>
        </p:txBody>
      </p:sp>
      <p:sp>
        <p:nvSpPr>
          <p:cNvPr id="44" name="Shape 42"/>
          <p:cNvSpPr/>
          <p:nvPr/>
        </p:nvSpPr>
        <p:spPr>
          <a:xfrm>
            <a:off x="2880360" y="3867912"/>
            <a:ext cx="2715768" cy="420624"/>
          </a:xfrm>
          <a:prstGeom prst="roundRect">
            <a:avLst>
              <a:gd name="adj" fmla="val 17391"/>
            </a:avLst>
          </a:prstGeom>
          <a:solidFill>
            <a:srgbClr val="131E33"/>
          </a:solidFill>
          <a:ln/>
        </p:spPr>
      </p:sp>
      <p:sp>
        <p:nvSpPr>
          <p:cNvPr id="45" name="Text 43"/>
          <p:cNvSpPr txBox="1"/>
          <p:nvPr/>
        </p:nvSpPr>
        <p:spPr>
          <a:xfrm>
            <a:off x="2990088" y="3867912"/>
            <a:ext cx="2560320" cy="42062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α = 10 (KS3)</a:t>
            </a:r>
            <a:endParaRPr lang="en-US" sz="1400" dirty="0"/>
          </a:p>
        </p:txBody>
      </p:sp>
      <p:sp>
        <p:nvSpPr>
          <p:cNvPr id="46" name="Shape 44"/>
          <p:cNvSpPr/>
          <p:nvPr/>
        </p:nvSpPr>
        <p:spPr>
          <a:xfrm>
            <a:off x="5760720" y="3867912"/>
            <a:ext cx="2807208" cy="420624"/>
          </a:xfrm>
          <a:prstGeom prst="roundRect">
            <a:avLst>
              <a:gd name="adj" fmla="val 17391"/>
            </a:avLst>
          </a:prstGeom>
          <a:solidFill>
            <a:srgbClr val="131E33"/>
          </a:solidFill>
          <a:ln/>
        </p:spPr>
      </p:sp>
      <p:sp>
        <p:nvSpPr>
          <p:cNvPr id="47" name="Text 45"/>
          <p:cNvSpPr txBox="1"/>
          <p:nvPr/>
        </p:nvSpPr>
        <p:spPr>
          <a:xfrm>
            <a:off x="5852160" y="3867912"/>
            <a:ext cx="274320" cy="420624"/>
          </a:xfrm>
          <a:prstGeom prst="rect">
            <a:avLst/>
          </a:prstGeom>
          <a:noFill/>
          <a:ln/>
        </p:spPr>
        <p:txBody>
          <a:bodyPr wrap="square" lIns="0" tIns="0" rIns="0" bIns="0" rtlCol="0" anchor="ctr"/>
          <a:lstStyle/>
          <a:p>
            <a:pPr algn="ctr" indent="0" marL="0">
              <a:buNone/>
            </a:pPr>
            <a:r>
              <a:rPr lang="en-US" sz="1700" b="1" dirty="0">
                <a:solidFill>
                  <a:srgbClr val="EF6B6B"/>
                </a:solidFill>
                <a:latin typeface="Arial" pitchFamily="34" charset="0"/>
                <a:ea typeface="Arial" pitchFamily="34" charset="-122"/>
                <a:cs typeface="Arial" pitchFamily="34" charset="-120"/>
              </a:rPr>
              <a:t>✗</a:t>
            </a:r>
            <a:endParaRPr lang="en-US" sz="1700" dirty="0"/>
          </a:p>
        </p:txBody>
      </p:sp>
      <p:sp>
        <p:nvSpPr>
          <p:cNvPr id="48" name="Text 46"/>
          <p:cNvSpPr txBox="1"/>
          <p:nvPr/>
        </p:nvSpPr>
        <p:spPr>
          <a:xfrm>
            <a:off x="6172200" y="3867912"/>
            <a:ext cx="2331720"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fixed α = 1</a:t>
            </a:r>
            <a:endParaRPr lang="en-US" sz="1400" dirty="0"/>
          </a:p>
        </p:txBody>
      </p:sp>
      <p:sp>
        <p:nvSpPr>
          <p:cNvPr id="49" name="Shape 47"/>
          <p:cNvSpPr/>
          <p:nvPr/>
        </p:nvSpPr>
        <p:spPr>
          <a:xfrm>
            <a:off x="8732520" y="3867912"/>
            <a:ext cx="2834640" cy="420624"/>
          </a:xfrm>
          <a:prstGeom prst="roundRect">
            <a:avLst>
              <a:gd name="adj" fmla="val 17391"/>
            </a:avLst>
          </a:prstGeom>
          <a:solidFill>
            <a:srgbClr val="131E33"/>
          </a:solidFill>
          <a:ln/>
        </p:spPr>
      </p:sp>
      <p:sp>
        <p:nvSpPr>
          <p:cNvPr id="50" name="Text 48"/>
          <p:cNvSpPr txBox="1"/>
          <p:nvPr/>
        </p:nvSpPr>
        <p:spPr>
          <a:xfrm>
            <a:off x="8823960" y="3867912"/>
            <a:ext cx="274320" cy="420624"/>
          </a:xfrm>
          <a:prstGeom prst="rect">
            <a:avLst/>
          </a:prstGeom>
          <a:noFill/>
          <a:ln/>
        </p:spPr>
        <p:txBody>
          <a:bodyPr wrap="square" lIns="0" tIns="0" rIns="0" bIns="0" rtlCol="0" anchor="ctr"/>
          <a:lstStyle/>
          <a:p>
            <a:pPr algn="ctr" indent="0" marL="0">
              <a:buNone/>
            </a:pPr>
            <a:r>
              <a:rPr lang="en-US" sz="1700" b="1" dirty="0">
                <a:solidFill>
                  <a:srgbClr val="F2C94C"/>
                </a:solidFill>
                <a:latin typeface="Arial" pitchFamily="34" charset="0"/>
                <a:ea typeface="Arial" pitchFamily="34" charset="-122"/>
                <a:cs typeface="Arial" pitchFamily="34" charset="-120"/>
              </a:rPr>
              <a:t>!</a:t>
            </a:r>
            <a:endParaRPr lang="en-US" sz="1700" dirty="0"/>
          </a:p>
        </p:txBody>
      </p:sp>
      <p:sp>
        <p:nvSpPr>
          <p:cNvPr id="51" name="Text 49"/>
          <p:cNvSpPr txBox="1"/>
          <p:nvPr/>
        </p:nvSpPr>
        <p:spPr>
          <a:xfrm>
            <a:off x="9144000" y="3867912"/>
            <a:ext cx="2359152"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label a10.0, math α = 1</a:t>
            </a:r>
            <a:endParaRPr lang="en-US" sz="1400" dirty="0"/>
          </a:p>
        </p:txBody>
      </p:sp>
      <p:sp>
        <p:nvSpPr>
          <p:cNvPr id="52" name="Text 50"/>
          <p:cNvSpPr txBox="1"/>
          <p:nvPr/>
        </p:nvSpPr>
        <p:spPr>
          <a:xfrm>
            <a:off x="548640" y="4352544"/>
            <a:ext cx="2240280" cy="429768"/>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Episodes per evaluation</a:t>
            </a:r>
            <a:endParaRPr lang="en-US" sz="1500" dirty="0"/>
          </a:p>
        </p:txBody>
      </p:sp>
      <p:sp>
        <p:nvSpPr>
          <p:cNvPr id="53" name="Shape 51"/>
          <p:cNvSpPr/>
          <p:nvPr/>
        </p:nvSpPr>
        <p:spPr>
          <a:xfrm>
            <a:off x="2880360" y="4352544"/>
            <a:ext cx="2715768" cy="420624"/>
          </a:xfrm>
          <a:prstGeom prst="roundRect">
            <a:avLst>
              <a:gd name="adj" fmla="val 17391"/>
            </a:avLst>
          </a:prstGeom>
          <a:solidFill>
            <a:srgbClr val="131E33"/>
          </a:solidFill>
          <a:ln/>
        </p:spPr>
      </p:sp>
      <p:sp>
        <p:nvSpPr>
          <p:cNvPr id="54" name="Text 52"/>
          <p:cNvSpPr txBox="1"/>
          <p:nvPr/>
        </p:nvSpPr>
        <p:spPr>
          <a:xfrm>
            <a:off x="2990088" y="4352544"/>
            <a:ext cx="2560320" cy="42062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30 test rollouts</a:t>
            </a:r>
            <a:endParaRPr lang="en-US" sz="1400" dirty="0"/>
          </a:p>
        </p:txBody>
      </p:sp>
      <p:sp>
        <p:nvSpPr>
          <p:cNvPr id="55" name="Shape 53"/>
          <p:cNvSpPr/>
          <p:nvPr/>
        </p:nvSpPr>
        <p:spPr>
          <a:xfrm>
            <a:off x="5760720" y="4352544"/>
            <a:ext cx="2807208" cy="420624"/>
          </a:xfrm>
          <a:prstGeom prst="roundRect">
            <a:avLst>
              <a:gd name="adj" fmla="val 17391"/>
            </a:avLst>
          </a:prstGeom>
          <a:solidFill>
            <a:srgbClr val="131E33"/>
          </a:solidFill>
          <a:ln/>
        </p:spPr>
      </p:sp>
      <p:sp>
        <p:nvSpPr>
          <p:cNvPr id="56" name="Text 54"/>
          <p:cNvSpPr txBox="1"/>
          <p:nvPr/>
        </p:nvSpPr>
        <p:spPr>
          <a:xfrm>
            <a:off x="5852160" y="4352544"/>
            <a:ext cx="274320" cy="420624"/>
          </a:xfrm>
          <a:prstGeom prst="rect">
            <a:avLst/>
          </a:prstGeom>
          <a:noFill/>
          <a:ln/>
        </p:spPr>
        <p:txBody>
          <a:bodyPr wrap="square" lIns="0" tIns="0" rIns="0" bIns="0" rtlCol="0" anchor="ctr"/>
          <a:lstStyle/>
          <a:p>
            <a:pPr algn="ctr" indent="0" marL="0">
              <a:buNone/>
            </a:pPr>
            <a:r>
              <a:rPr lang="en-US" sz="1700" b="1" dirty="0">
                <a:solidFill>
                  <a:srgbClr val="F2C94C"/>
                </a:solidFill>
                <a:latin typeface="Arial" pitchFamily="34" charset="0"/>
                <a:ea typeface="Arial" pitchFamily="34" charset="-122"/>
                <a:cs typeface="Arial" pitchFamily="34" charset="-120"/>
              </a:rPr>
              <a:t>!</a:t>
            </a:r>
            <a:endParaRPr lang="en-US" sz="1700" dirty="0"/>
          </a:p>
        </p:txBody>
      </p:sp>
      <p:sp>
        <p:nvSpPr>
          <p:cNvPr id="57" name="Text 55"/>
          <p:cNvSpPr txBox="1"/>
          <p:nvPr/>
        </p:nvSpPr>
        <p:spPr>
          <a:xfrm>
            <a:off x="6172200" y="4352544"/>
            <a:ext cx="2331720"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configurable (docs: 15)</a:t>
            </a:r>
            <a:endParaRPr lang="en-US" sz="1400" dirty="0"/>
          </a:p>
        </p:txBody>
      </p:sp>
      <p:sp>
        <p:nvSpPr>
          <p:cNvPr id="58" name="Shape 56"/>
          <p:cNvSpPr/>
          <p:nvPr/>
        </p:nvSpPr>
        <p:spPr>
          <a:xfrm>
            <a:off x="8732520" y="4352544"/>
            <a:ext cx="2834640" cy="420624"/>
          </a:xfrm>
          <a:prstGeom prst="roundRect">
            <a:avLst>
              <a:gd name="adj" fmla="val 17391"/>
            </a:avLst>
          </a:prstGeom>
          <a:solidFill>
            <a:srgbClr val="131E33"/>
          </a:solidFill>
          <a:ln/>
        </p:spPr>
      </p:sp>
      <p:sp>
        <p:nvSpPr>
          <p:cNvPr id="59" name="Text 57"/>
          <p:cNvSpPr txBox="1"/>
          <p:nvPr/>
        </p:nvSpPr>
        <p:spPr>
          <a:xfrm>
            <a:off x="8823960" y="4352544"/>
            <a:ext cx="274320" cy="420624"/>
          </a:xfrm>
          <a:prstGeom prst="rect">
            <a:avLst/>
          </a:prstGeom>
          <a:noFill/>
          <a:ln/>
        </p:spPr>
        <p:txBody>
          <a:bodyPr wrap="square" lIns="0" tIns="0" rIns="0" bIns="0" rtlCol="0" anchor="ctr"/>
          <a:lstStyle/>
          <a:p>
            <a:pPr algn="ctr" indent="0" marL="0">
              <a:buNone/>
            </a:pPr>
            <a:r>
              <a:rPr lang="en-US" sz="1700" b="1" dirty="0">
                <a:solidFill>
                  <a:srgbClr val="EF6B6B"/>
                </a:solidFill>
                <a:latin typeface="Arial" pitchFamily="34" charset="0"/>
                <a:ea typeface="Arial" pitchFamily="34" charset="-122"/>
                <a:cs typeface="Arial" pitchFamily="34" charset="-120"/>
              </a:rPr>
              <a:t>✗</a:t>
            </a:r>
            <a:endParaRPr lang="en-US" sz="1700" dirty="0"/>
          </a:p>
        </p:txBody>
      </p:sp>
      <p:sp>
        <p:nvSpPr>
          <p:cNvPr id="60" name="Text 58"/>
          <p:cNvSpPr txBox="1"/>
          <p:nvPr/>
        </p:nvSpPr>
        <p:spPr>
          <a:xfrm>
            <a:off x="9144000" y="4352544"/>
            <a:ext cx="2359152"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15 (NUM_EPISODES)</a:t>
            </a:r>
            <a:endParaRPr lang="en-US" sz="1400" dirty="0"/>
          </a:p>
        </p:txBody>
      </p:sp>
      <p:sp>
        <p:nvSpPr>
          <p:cNvPr id="61" name="Text 59"/>
          <p:cNvSpPr txBox="1"/>
          <p:nvPr/>
        </p:nvSpPr>
        <p:spPr>
          <a:xfrm>
            <a:off x="548640" y="4837176"/>
            <a:ext cx="2240280" cy="429768"/>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State semantics</a:t>
            </a:r>
            <a:endParaRPr lang="en-US" sz="1500" dirty="0"/>
          </a:p>
        </p:txBody>
      </p:sp>
      <p:sp>
        <p:nvSpPr>
          <p:cNvPr id="62" name="Shape 60"/>
          <p:cNvSpPr/>
          <p:nvPr/>
        </p:nvSpPr>
        <p:spPr>
          <a:xfrm>
            <a:off x="2880360" y="4837176"/>
            <a:ext cx="2715768" cy="420624"/>
          </a:xfrm>
          <a:prstGeom prst="roundRect">
            <a:avLst>
              <a:gd name="adj" fmla="val 17391"/>
            </a:avLst>
          </a:prstGeom>
          <a:solidFill>
            <a:srgbClr val="131E33"/>
          </a:solidFill>
          <a:ln/>
        </p:spPr>
      </p:sp>
      <p:sp>
        <p:nvSpPr>
          <p:cNvPr id="63" name="Text 61"/>
          <p:cNvSpPr txBox="1"/>
          <p:nvPr/>
        </p:nvSpPr>
        <p:spPr>
          <a:xfrm>
            <a:off x="2990088" y="4837176"/>
            <a:ext cx="2560320" cy="42062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different seeds / initial conditions</a:t>
            </a:r>
            <a:endParaRPr lang="en-US" sz="1400" dirty="0"/>
          </a:p>
        </p:txBody>
      </p:sp>
      <p:sp>
        <p:nvSpPr>
          <p:cNvPr id="64" name="Shape 62"/>
          <p:cNvSpPr/>
          <p:nvPr/>
        </p:nvSpPr>
        <p:spPr>
          <a:xfrm>
            <a:off x="5760720" y="4837176"/>
            <a:ext cx="2807208" cy="420624"/>
          </a:xfrm>
          <a:prstGeom prst="roundRect">
            <a:avLst>
              <a:gd name="adj" fmla="val 17391"/>
            </a:avLst>
          </a:prstGeom>
          <a:solidFill>
            <a:srgbClr val="131E33"/>
          </a:solidFill>
          <a:ln/>
        </p:spPr>
      </p:sp>
      <p:sp>
        <p:nvSpPr>
          <p:cNvPr id="65" name="Text 63"/>
          <p:cNvSpPr txBox="1"/>
          <p:nvPr/>
        </p:nvSpPr>
        <p:spPr>
          <a:xfrm>
            <a:off x="5852160" y="4837176"/>
            <a:ext cx="274320" cy="420624"/>
          </a:xfrm>
          <a:prstGeom prst="rect">
            <a:avLst/>
          </a:prstGeom>
          <a:noFill/>
          <a:ln/>
        </p:spPr>
        <p:txBody>
          <a:bodyPr wrap="square" lIns="0" tIns="0" rIns="0" bIns="0" rtlCol="0" anchor="ctr"/>
          <a:lstStyle/>
          <a:p>
            <a:pPr algn="ctr" indent="0" marL="0">
              <a:buNone/>
            </a:pPr>
            <a:r>
              <a:rPr lang="en-US" sz="1700" b="1" dirty="0">
                <a:solidFill>
                  <a:srgbClr val="4CC38A"/>
                </a:solidFill>
                <a:latin typeface="Arial" pitchFamily="34" charset="0"/>
                <a:ea typeface="Arial" pitchFamily="34" charset="-122"/>
                <a:cs typeface="Arial" pitchFamily="34" charset="-120"/>
              </a:rPr>
              <a:t>✓</a:t>
            </a:r>
            <a:endParaRPr lang="en-US" sz="1700" dirty="0"/>
          </a:p>
        </p:txBody>
      </p:sp>
      <p:sp>
        <p:nvSpPr>
          <p:cNvPr id="66" name="Text 64"/>
          <p:cNvSpPr txBox="1"/>
          <p:nvPr/>
        </p:nvSpPr>
        <p:spPr>
          <a:xfrm>
            <a:off x="6172200" y="4837176"/>
            <a:ext cx="2331720"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(seed + k) mod 50</a:t>
            </a:r>
            <a:endParaRPr lang="en-US" sz="1400" dirty="0"/>
          </a:p>
        </p:txBody>
      </p:sp>
      <p:sp>
        <p:nvSpPr>
          <p:cNvPr id="67" name="Shape 65"/>
          <p:cNvSpPr/>
          <p:nvPr/>
        </p:nvSpPr>
        <p:spPr>
          <a:xfrm>
            <a:off x="8732520" y="4837176"/>
            <a:ext cx="2834640" cy="420624"/>
          </a:xfrm>
          <a:prstGeom prst="roundRect">
            <a:avLst>
              <a:gd name="adj" fmla="val 17391"/>
            </a:avLst>
          </a:prstGeom>
          <a:solidFill>
            <a:srgbClr val="131E33"/>
          </a:solidFill>
          <a:ln/>
        </p:spPr>
      </p:sp>
      <p:sp>
        <p:nvSpPr>
          <p:cNvPr id="68" name="Text 66"/>
          <p:cNvSpPr txBox="1"/>
          <p:nvPr/>
        </p:nvSpPr>
        <p:spPr>
          <a:xfrm>
            <a:off x="8823960" y="4837176"/>
            <a:ext cx="274320" cy="420624"/>
          </a:xfrm>
          <a:prstGeom prst="rect">
            <a:avLst/>
          </a:prstGeom>
          <a:noFill/>
          <a:ln/>
        </p:spPr>
        <p:txBody>
          <a:bodyPr wrap="square" lIns="0" tIns="0" rIns="0" bIns="0" rtlCol="0" anchor="ctr"/>
          <a:lstStyle/>
          <a:p>
            <a:pPr algn="ctr" indent="0" marL="0">
              <a:buNone/>
            </a:pPr>
            <a:r>
              <a:rPr lang="en-US" sz="1700" b="1" dirty="0">
                <a:solidFill>
                  <a:srgbClr val="EF6B6B"/>
                </a:solidFill>
                <a:latin typeface="Arial" pitchFamily="34" charset="0"/>
                <a:ea typeface="Arial" pitchFamily="34" charset="-122"/>
                <a:cs typeface="Arial" pitchFamily="34" charset="-120"/>
              </a:rPr>
              <a:t>✗</a:t>
            </a:r>
            <a:endParaRPr lang="en-US" sz="1700" dirty="0"/>
          </a:p>
        </p:txBody>
      </p:sp>
      <p:sp>
        <p:nvSpPr>
          <p:cNvPr id="69" name="Text 67"/>
          <p:cNvSpPr txBox="1"/>
          <p:nvPr/>
        </p:nvSpPr>
        <p:spPr>
          <a:xfrm>
            <a:off x="9144000" y="4837176"/>
            <a:ext cx="2359152"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initial_states[k], k = 0…14</a:t>
            </a:r>
            <a:endParaRPr lang="en-US" sz="1400" dirty="0"/>
          </a:p>
        </p:txBody>
      </p:sp>
      <p:sp>
        <p:nvSpPr>
          <p:cNvPr id="70" name="Text 68"/>
          <p:cNvSpPr txBox="1"/>
          <p:nvPr/>
        </p:nvSpPr>
        <p:spPr>
          <a:xfrm>
            <a:off x="548640" y="5321808"/>
            <a:ext cx="2240280" cy="429768"/>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Evaluation split</a:t>
            </a:r>
            <a:endParaRPr lang="en-US" sz="1500" dirty="0"/>
          </a:p>
        </p:txBody>
      </p:sp>
      <p:sp>
        <p:nvSpPr>
          <p:cNvPr id="71" name="Shape 69"/>
          <p:cNvSpPr/>
          <p:nvPr/>
        </p:nvSpPr>
        <p:spPr>
          <a:xfrm>
            <a:off x="2880360" y="5321808"/>
            <a:ext cx="2715768" cy="420624"/>
          </a:xfrm>
          <a:prstGeom prst="roundRect">
            <a:avLst>
              <a:gd name="adj" fmla="val 17391"/>
            </a:avLst>
          </a:prstGeom>
          <a:solidFill>
            <a:srgbClr val="131E33"/>
          </a:solidFill>
          <a:ln/>
        </p:spPr>
      </p:sp>
      <p:sp>
        <p:nvSpPr>
          <p:cNvPr id="72" name="Text 70"/>
          <p:cNvSpPr txBox="1"/>
          <p:nvPr/>
        </p:nvSpPr>
        <p:spPr>
          <a:xfrm>
            <a:off x="2990088" y="5321808"/>
            <a:ext cx="2560320" cy="42062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15 fit + 30 held-out</a:t>
            </a:r>
            <a:endParaRPr lang="en-US" sz="1400" dirty="0"/>
          </a:p>
        </p:txBody>
      </p:sp>
      <p:sp>
        <p:nvSpPr>
          <p:cNvPr id="73" name="Shape 71"/>
          <p:cNvSpPr/>
          <p:nvPr/>
        </p:nvSpPr>
        <p:spPr>
          <a:xfrm>
            <a:off x="5760720" y="5321808"/>
            <a:ext cx="2807208" cy="420624"/>
          </a:xfrm>
          <a:prstGeom prst="roundRect">
            <a:avLst>
              <a:gd name="adj" fmla="val 17391"/>
            </a:avLst>
          </a:prstGeom>
          <a:solidFill>
            <a:srgbClr val="131E33"/>
          </a:solidFill>
          <a:ln/>
        </p:spPr>
      </p:sp>
      <p:sp>
        <p:nvSpPr>
          <p:cNvPr id="74" name="Text 72"/>
          <p:cNvSpPr txBox="1"/>
          <p:nvPr/>
        </p:nvSpPr>
        <p:spPr>
          <a:xfrm>
            <a:off x="5852160" y="5321808"/>
            <a:ext cx="274320" cy="420624"/>
          </a:xfrm>
          <a:prstGeom prst="rect">
            <a:avLst/>
          </a:prstGeom>
          <a:noFill/>
          <a:ln/>
        </p:spPr>
        <p:txBody>
          <a:bodyPr wrap="square" lIns="0" tIns="0" rIns="0" bIns="0" rtlCol="0" anchor="ctr"/>
          <a:lstStyle/>
          <a:p>
            <a:pPr algn="ctr" indent="0" marL="0">
              <a:buNone/>
            </a:pPr>
            <a:r>
              <a:rPr lang="en-US" sz="1700" b="1" dirty="0">
                <a:solidFill>
                  <a:srgbClr val="4CC38A"/>
                </a:solidFill>
                <a:latin typeface="Arial" pitchFamily="34" charset="0"/>
                <a:ea typeface="Arial" pitchFamily="34" charset="-122"/>
                <a:cs typeface="Arial" pitchFamily="34" charset="-120"/>
              </a:rPr>
              <a:t>✓</a:t>
            </a:r>
            <a:endParaRPr lang="en-US" sz="1700" dirty="0"/>
          </a:p>
        </p:txBody>
      </p:sp>
      <p:sp>
        <p:nvSpPr>
          <p:cNvPr id="75" name="Text 73"/>
          <p:cNvSpPr txBox="1"/>
          <p:nvPr/>
        </p:nvSpPr>
        <p:spPr>
          <a:xfrm>
            <a:off x="6172200" y="5321808"/>
            <a:ext cx="2331720"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possible via --seed offset</a:t>
            </a:r>
            <a:endParaRPr lang="en-US" sz="1400" dirty="0"/>
          </a:p>
        </p:txBody>
      </p:sp>
      <p:sp>
        <p:nvSpPr>
          <p:cNvPr id="76" name="Shape 74"/>
          <p:cNvSpPr/>
          <p:nvPr/>
        </p:nvSpPr>
        <p:spPr>
          <a:xfrm>
            <a:off x="8732520" y="5321808"/>
            <a:ext cx="2834640" cy="420624"/>
          </a:xfrm>
          <a:prstGeom prst="roundRect">
            <a:avLst>
              <a:gd name="adj" fmla="val 17391"/>
            </a:avLst>
          </a:prstGeom>
          <a:solidFill>
            <a:srgbClr val="131E33"/>
          </a:solidFill>
          <a:ln/>
        </p:spPr>
      </p:sp>
      <p:sp>
        <p:nvSpPr>
          <p:cNvPr id="77" name="Text 75"/>
          <p:cNvSpPr txBox="1"/>
          <p:nvPr/>
        </p:nvSpPr>
        <p:spPr>
          <a:xfrm>
            <a:off x="8823960" y="5321808"/>
            <a:ext cx="274320" cy="420624"/>
          </a:xfrm>
          <a:prstGeom prst="rect">
            <a:avLst/>
          </a:prstGeom>
          <a:noFill/>
          <a:ln/>
        </p:spPr>
        <p:txBody>
          <a:bodyPr wrap="square" lIns="0" tIns="0" rIns="0" bIns="0" rtlCol="0" anchor="ctr"/>
          <a:lstStyle/>
          <a:p>
            <a:pPr algn="ctr" indent="0" marL="0">
              <a:buNone/>
            </a:pPr>
            <a:r>
              <a:rPr lang="en-US" sz="1700" b="1" dirty="0">
                <a:solidFill>
                  <a:srgbClr val="EF6B6B"/>
                </a:solidFill>
                <a:latin typeface="Arial" pitchFamily="34" charset="0"/>
                <a:ea typeface="Arial" pitchFamily="34" charset="-122"/>
                <a:cs typeface="Arial" pitchFamily="34" charset="-120"/>
              </a:rPr>
              <a:t>✗</a:t>
            </a:r>
            <a:endParaRPr lang="en-US" sz="1700" dirty="0"/>
          </a:p>
        </p:txBody>
      </p:sp>
      <p:sp>
        <p:nvSpPr>
          <p:cNvPr id="78" name="Text 76"/>
          <p:cNvSpPr txBox="1"/>
          <p:nvPr/>
        </p:nvSpPr>
        <p:spPr>
          <a:xfrm>
            <a:off x="9144000" y="5321808"/>
            <a:ext cx="2359152" cy="42062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evaluated on fit states 0–14</a:t>
            </a:r>
            <a:endParaRPr lang="en-US" sz="1400" dirty="0"/>
          </a:p>
        </p:txBody>
      </p:sp>
      <p:sp>
        <p:nvSpPr>
          <p:cNvPr id="79" name="Text 77"/>
          <p:cNvSpPr txBox="1"/>
          <p:nvPr/>
        </p:nvSpPr>
        <p:spPr>
          <a:xfrm>
            <a:off x="548640" y="5852160"/>
            <a:ext cx="11094415" cy="256032"/>
          </a:xfrm>
          <a:prstGeom prst="rect">
            <a:avLst/>
          </a:prstGeom>
          <a:noFill/>
          <a:ln/>
        </p:spPr>
        <p:txBody>
          <a:bodyPr wrap="square" lIns="0" tIns="0" rIns="0" bIns="0" rtlCol="0" anchor="t"/>
          <a:lstStyle/>
          <a:p>
            <a:pPr algn="l" indent="0" marL="0">
              <a:buNone/>
            </a:pPr>
            <a:r>
              <a:rPr lang="en-US" sz="1300" dirty="0">
                <a:solidFill>
                  <a:srgbClr val="4CC38A"/>
                </a:solidFill>
                <a:latin typeface="Arial" pitchFamily="34" charset="0"/>
                <a:ea typeface="Arial" pitchFamily="34" charset="-122"/>
                <a:cs typeface="Arial" pitchFamily="34" charset="-120"/>
              </a:rPr>
              <a:t>✓</a:t>
            </a:r>
            <a:pPr algn="l" indent="0" marL="0">
              <a:buNone/>
            </a:pPr>
            <a:r>
              <a:rPr lang="en-US" sz="1300" dirty="0">
                <a:solidFill>
                  <a:srgbClr val="A7B4C8"/>
                </a:solidFill>
                <a:latin typeface="Arial" pitchFamily="34" charset="0"/>
                <a:ea typeface="Arial" pitchFamily="34" charset="-122"/>
                <a:cs typeface="Arial" pitchFamily="34" charset="-120"/>
              </a:rPr>
              <a:t> as described in the paper · </a:t>
            </a:r>
            <a:pPr algn="l" indent="0" marL="0">
              <a:buNone/>
            </a:pPr>
            <a:r>
              <a:rPr lang="en-US" sz="1300" dirty="0">
                <a:solidFill>
                  <a:srgbClr val="EF6B6B"/>
                </a:solidFill>
                <a:latin typeface="Arial" pitchFamily="34" charset="0"/>
                <a:ea typeface="Arial" pitchFamily="34" charset="-122"/>
                <a:cs typeface="Arial" pitchFamily="34" charset="-120"/>
              </a:rPr>
              <a:t>✗</a:t>
            </a:r>
            <a:pPr algn="l" indent="0" marL="0">
              <a:buNone/>
            </a:pPr>
            <a:r>
              <a:rPr lang="en-US" sz="1300" dirty="0">
                <a:solidFill>
                  <a:srgbClr val="A7B4C8"/>
                </a:solidFill>
                <a:latin typeface="Arial" pitchFamily="34" charset="0"/>
                <a:ea typeface="Arial" pitchFamily="34" charset="-122"/>
                <a:cs typeface="Arial" pitchFamily="34" charset="-120"/>
              </a:rPr>
              <a:t> differs · </a:t>
            </a:r>
            <a:pPr algn="l" indent="0" marL="0">
              <a:buNone/>
            </a:pPr>
            <a:r>
              <a:rPr lang="en-US" sz="1300" dirty="0">
                <a:solidFill>
                  <a:srgbClr val="F2C94C"/>
                </a:solidFill>
                <a:latin typeface="Arial" pitchFamily="34" charset="0"/>
                <a:ea typeface="Arial" pitchFamily="34" charset="-122"/>
                <a:cs typeface="Arial" pitchFamily="34" charset="-120"/>
              </a:rPr>
              <a:t>!</a:t>
            </a:r>
            <a:pPr algn="l" indent="0" marL="0">
              <a:buNone/>
            </a:pPr>
            <a:r>
              <a:rPr lang="en-US" sz="1300" dirty="0">
                <a:solidFill>
                  <a:srgbClr val="A7B4C8"/>
                </a:solidFill>
                <a:latin typeface="Arial" pitchFamily="34" charset="0"/>
                <a:ea typeface="Arial" pitchFamily="34" charset="-122"/>
                <a:cs typeface="Arial" pitchFamily="34" charset="-120"/>
              </a:rPr>
              <a:t> partial / label only</a:t>
            </a:r>
            <a:endParaRPr lang="en-US" sz="1300" dirty="0"/>
          </a:p>
        </p:txBody>
      </p:sp>
      <p:sp>
        <p:nvSpPr>
          <p:cNvPr id="80" name="Text 78"/>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 1A/1B (builder D1–D3), 4B §3, 5B, 6C §4 · miranda-v2 builder = public </a:t>
            </a:r>
            <a:pPr algn="l" indent="0" marL="0">
              <a:buNone/>
            </a:pPr>
            <a:r>
              <a:rPr lang="en-US" sz="900" dirty="0">
                <a:solidFill>
                  <a:srgbClr val="6B7A93"/>
                </a:solidFill>
                <a:latin typeface="Courier New" pitchFamily="34" charset="0"/>
                <a:ea typeface="Courier New" pitchFamily="34" charset="-122"/>
                <a:cs typeface="Courier New" pitchFamily="34" charset="-120"/>
              </a:rPr>
              <a:t>for_subin/build_conceptors.py</a:t>
            </a:r>
            <a:pPr algn="l" indent="0" marL="0">
              <a:buNone/>
            </a:pPr>
            <a:r>
              <a:rPr lang="en-US" sz="1000" dirty="0">
                <a:solidFill>
                  <a:srgbClr val="6B7A93"/>
                </a:solidFill>
                <a:latin typeface="Arial" pitchFamily="34" charset="0"/>
                <a:ea typeface="Arial" pitchFamily="34" charset="-122"/>
                <a:cs typeface="Arial" pitchFamily="34" charset="-120"/>
              </a:rPr>
              <a:t> @ 29059a5</a:t>
            </a:r>
            <a:endParaRPr lang="en-US" sz="1000" dirty="0"/>
          </a:p>
        </p:txBody>
      </p:sp>
      <p:sp>
        <p:nvSpPr>
          <p:cNvPr id="81" name="Text 79"/>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82" name="Text 80"/>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11 / 21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HISTORICAL-CODE ARCHAEOLOGY · PHASE 6C</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Searching every public ref for the table generator</a:t>
            </a:r>
            <a:endParaRPr lang="en-US" sz="3000" dirty="0"/>
          </a:p>
        </p:txBody>
      </p:sp>
      <p:sp>
        <p:nvSpPr>
          <p:cNvPr id="4" name="Shape 2"/>
          <p:cNvSpPr/>
          <p:nvPr/>
        </p:nvSpPr>
        <p:spPr>
          <a:xfrm>
            <a:off x="548640" y="1280160"/>
            <a:ext cx="3393338" cy="914400"/>
          </a:xfrm>
          <a:prstGeom prst="roundRect">
            <a:avLst>
              <a:gd name="adj" fmla="val 8000"/>
            </a:avLst>
          </a:prstGeom>
          <a:solidFill>
            <a:srgbClr val="131E33"/>
          </a:solidFill>
          <a:ln/>
        </p:spPr>
      </p:sp>
      <p:sp>
        <p:nvSpPr>
          <p:cNvPr id="5" name="Text 3"/>
          <p:cNvSpPr txBox="1"/>
          <p:nvPr/>
        </p:nvSpPr>
        <p:spPr>
          <a:xfrm>
            <a:off x="731520" y="1280160"/>
            <a:ext cx="3027578" cy="914400"/>
          </a:xfrm>
          <a:prstGeom prst="rect">
            <a:avLst/>
          </a:prstGeom>
          <a:noFill/>
          <a:ln/>
        </p:spPr>
        <p:txBody>
          <a:bodyPr wrap="square" lIns="0" tIns="0" rIns="0" bIns="0" rtlCol="0" anchor="ctr"/>
          <a:lstStyle/>
          <a:p>
            <a:pPr algn="l" indent="0" marL="0">
              <a:buNone/>
            </a:pPr>
            <a:r>
              <a:rPr lang="en-US" sz="1600" b="1" dirty="0">
                <a:solidFill>
                  <a:srgbClr val="F1F5F9"/>
                </a:solidFill>
                <a:latin typeface="Arial" pitchFamily="34" charset="0"/>
                <a:ea typeface="Arial" pitchFamily="34" charset="-122"/>
                <a:cs typeface="Arial" pitchFamily="34" charset="-120"/>
              </a:rPr>
              <a:t>22 branches + 50 PR heads</a:t>
            </a:r>
            <a:endParaRPr lang="en-US" sz="1600" dirty="0"/>
          </a:p>
          <a:p>
            <a:pPr algn="l" indent="0" marL="0">
              <a:buNone/>
            </a:pPr>
            <a:r>
              <a:rPr lang="en-US" sz="1600" dirty="0">
                <a:solidFill>
                  <a:srgbClr val="6B7A93"/>
                </a:solidFill>
                <a:latin typeface="Arial" pitchFamily="34" charset="0"/>
                <a:ea typeface="Arial" pitchFamily="34" charset="-122"/>
                <a:cs typeface="Arial" pitchFamily="34" charset="-120"/>
              </a:rPr>
              <a:t>every public ref of COAST-VLA/COAST</a:t>
            </a:r>
            <a:endParaRPr lang="en-US" sz="1600" dirty="0"/>
          </a:p>
        </p:txBody>
      </p:sp>
      <p:sp>
        <p:nvSpPr>
          <p:cNvPr id="6" name="Shape 4"/>
          <p:cNvSpPr/>
          <p:nvPr/>
        </p:nvSpPr>
        <p:spPr>
          <a:xfrm>
            <a:off x="4015130" y="1737360"/>
            <a:ext cx="310896" cy="0"/>
          </a:xfrm>
          <a:prstGeom prst="line">
            <a:avLst/>
          </a:prstGeom>
          <a:noFill/>
          <a:ln w="25400">
            <a:solidFill>
              <a:srgbClr val="6B7A93"/>
            </a:solidFill>
            <a:prstDash val="solid"/>
            <a:tailEnd type="triangle"/>
          </a:ln>
        </p:spPr>
      </p:sp>
      <p:sp>
        <p:nvSpPr>
          <p:cNvPr id="7" name="Shape 5"/>
          <p:cNvSpPr/>
          <p:nvPr/>
        </p:nvSpPr>
        <p:spPr>
          <a:xfrm>
            <a:off x="4399178" y="1280160"/>
            <a:ext cx="3393338" cy="914400"/>
          </a:xfrm>
          <a:prstGeom prst="roundRect">
            <a:avLst>
              <a:gd name="adj" fmla="val 8000"/>
            </a:avLst>
          </a:prstGeom>
          <a:solidFill>
            <a:srgbClr val="131E33"/>
          </a:solidFill>
          <a:ln/>
        </p:spPr>
      </p:sp>
      <p:sp>
        <p:nvSpPr>
          <p:cNvPr id="8" name="Text 6"/>
          <p:cNvSpPr txBox="1"/>
          <p:nvPr/>
        </p:nvSpPr>
        <p:spPr>
          <a:xfrm>
            <a:off x="4582058" y="1280160"/>
            <a:ext cx="3027578" cy="914400"/>
          </a:xfrm>
          <a:prstGeom prst="rect">
            <a:avLst/>
          </a:prstGeom>
          <a:noFill/>
          <a:ln/>
        </p:spPr>
        <p:txBody>
          <a:bodyPr wrap="square" lIns="0" tIns="0" rIns="0" bIns="0" rtlCol="0" anchor="ctr"/>
          <a:lstStyle/>
          <a:p>
            <a:pPr algn="l" indent="0" marL="0">
              <a:buNone/>
            </a:pPr>
            <a:r>
              <a:rPr lang="en-US" sz="1600" b="1" dirty="0">
                <a:solidFill>
                  <a:srgbClr val="F1F5F9"/>
                </a:solidFill>
                <a:latin typeface="Arial" pitchFamily="34" charset="0"/>
                <a:ea typeface="Arial" pitchFamily="34" charset="-122"/>
                <a:cs typeface="Arial" pitchFamily="34" charset="-120"/>
              </a:rPr>
              <a:t>10 branches in depth</a:t>
            </a:r>
            <a:endParaRPr lang="en-US" sz="1600" dirty="0"/>
          </a:p>
          <a:p>
            <a:pPr algn="l" indent="0" marL="0">
              <a:buNone/>
            </a:pPr>
            <a:r>
              <a:rPr lang="en-US" sz="1600" dirty="0">
                <a:solidFill>
                  <a:srgbClr val="6B7A93"/>
                </a:solidFill>
                <a:latin typeface="Arial" pitchFamily="34" charset="0"/>
                <a:ea typeface="Arial" pitchFamily="34" charset="-122"/>
                <a:cs typeface="Arial" pitchFamily="34" charset="-120"/>
              </a:rPr>
              <a:t>commit-by-commit + pickaxe search</a:t>
            </a:r>
            <a:endParaRPr lang="en-US" sz="1600" dirty="0"/>
          </a:p>
        </p:txBody>
      </p:sp>
      <p:sp>
        <p:nvSpPr>
          <p:cNvPr id="9" name="Shape 7"/>
          <p:cNvSpPr/>
          <p:nvPr/>
        </p:nvSpPr>
        <p:spPr>
          <a:xfrm>
            <a:off x="7865669" y="1737360"/>
            <a:ext cx="310896" cy="0"/>
          </a:xfrm>
          <a:prstGeom prst="line">
            <a:avLst/>
          </a:prstGeom>
          <a:noFill/>
          <a:ln w="25400">
            <a:solidFill>
              <a:srgbClr val="6B7A93"/>
            </a:solidFill>
            <a:prstDash val="solid"/>
            <a:tailEnd type="triangle"/>
          </a:ln>
        </p:spPr>
      </p:sp>
      <p:sp>
        <p:nvSpPr>
          <p:cNvPr id="10" name="Shape 8"/>
          <p:cNvSpPr/>
          <p:nvPr/>
        </p:nvSpPr>
        <p:spPr>
          <a:xfrm>
            <a:off x="8249717" y="1280160"/>
            <a:ext cx="3393338" cy="914400"/>
          </a:xfrm>
          <a:prstGeom prst="roundRect">
            <a:avLst>
              <a:gd name="adj" fmla="val 8000"/>
            </a:avLst>
          </a:prstGeom>
          <a:solidFill>
            <a:srgbClr val="0E4A66"/>
          </a:solidFill>
          <a:ln w="12700">
            <a:solidFill>
              <a:srgbClr val="38BDF8"/>
            </a:solidFill>
            <a:prstDash val="solid"/>
          </a:ln>
        </p:spPr>
      </p:sp>
      <p:sp>
        <p:nvSpPr>
          <p:cNvPr id="11" name="Text 9"/>
          <p:cNvSpPr txBox="1"/>
          <p:nvPr/>
        </p:nvSpPr>
        <p:spPr>
          <a:xfrm>
            <a:off x="8432597" y="1280160"/>
            <a:ext cx="3027578" cy="914400"/>
          </a:xfrm>
          <a:prstGeom prst="rect">
            <a:avLst/>
          </a:prstGeom>
          <a:noFill/>
          <a:ln/>
        </p:spPr>
        <p:txBody>
          <a:bodyPr wrap="square" lIns="0" tIns="0" rIns="0" bIns="0" rtlCol="0" anchor="ctr"/>
          <a:lstStyle/>
          <a:p>
            <a:pPr algn="l" indent="0" marL="0">
              <a:buNone/>
            </a:pPr>
            <a:r>
              <a:rPr lang="en-US" sz="1600" b="1" dirty="0">
                <a:solidFill>
                  <a:srgbClr val="38BDF8"/>
                </a:solidFill>
                <a:latin typeface="Arial" pitchFamily="34" charset="0"/>
                <a:ea typeface="Arial" pitchFamily="34" charset="-122"/>
                <a:cs typeface="Arial" pitchFamily="34" charset="-120"/>
              </a:rPr>
              <a:t>miranda-v2</a:t>
            </a:r>
            <a:endParaRPr lang="en-US" sz="1600" dirty="0"/>
          </a:p>
          <a:p>
            <a:pPr algn="l" indent="0" marL="0">
              <a:buNone/>
            </a:pPr>
            <a:r>
              <a:rPr lang="en-US" sz="1600" dirty="0">
                <a:solidFill>
                  <a:srgbClr val="6B7A93"/>
                </a:solidFill>
                <a:latin typeface="Arial" pitchFamily="34" charset="0"/>
                <a:ea typeface="Arial" pitchFamily="34" charset="-122"/>
                <a:cs typeface="Arial" pitchFamily="34" charset="-120"/>
              </a:rPr>
              <a:t>closest candidate pipeline</a:t>
            </a:r>
            <a:endParaRPr lang="en-US" sz="1600" dirty="0"/>
          </a:p>
        </p:txBody>
      </p:sp>
      <p:sp>
        <p:nvSpPr>
          <p:cNvPr id="12" name="Shape 10"/>
          <p:cNvSpPr/>
          <p:nvPr/>
        </p:nvSpPr>
        <p:spPr>
          <a:xfrm>
            <a:off x="960120" y="3931920"/>
            <a:ext cx="10271455" cy="0"/>
          </a:xfrm>
          <a:prstGeom prst="line">
            <a:avLst/>
          </a:prstGeom>
          <a:noFill/>
          <a:ln w="31750">
            <a:solidFill>
              <a:srgbClr val="26354F"/>
            </a:solidFill>
            <a:prstDash val="solid"/>
          </a:ln>
        </p:spPr>
      </p:sp>
      <p:sp>
        <p:nvSpPr>
          <p:cNvPr id="13" name="Text 11"/>
          <p:cNvSpPr txBox="1"/>
          <p:nvPr/>
        </p:nvSpPr>
        <p:spPr>
          <a:xfrm>
            <a:off x="8252231" y="3703320"/>
            <a:ext cx="365760" cy="365760"/>
          </a:xfrm>
          <a:prstGeom prst="rect">
            <a:avLst/>
          </a:prstGeom>
          <a:noFill/>
          <a:ln/>
        </p:spPr>
        <p:txBody>
          <a:bodyPr wrap="square" lIns="0" tIns="0" rIns="0" bIns="0" rtlCol="0" anchor="t"/>
          <a:lstStyle/>
          <a:p>
            <a:pPr algn="ctr" indent="0" marL="0">
              <a:buNone/>
            </a:pPr>
            <a:r>
              <a:rPr lang="en-US" sz="2000" b="1" dirty="0">
                <a:solidFill>
                  <a:srgbClr val="6B7A93"/>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1417320" y="3584448"/>
            <a:ext cx="0" cy="347472"/>
          </a:xfrm>
          <a:prstGeom prst="line">
            <a:avLst/>
          </a:prstGeom>
          <a:noFill/>
          <a:ln w="15875">
            <a:solidFill>
              <a:srgbClr val="26354F"/>
            </a:solidFill>
            <a:prstDash val="solid"/>
          </a:ln>
        </p:spPr>
      </p:sp>
      <p:sp>
        <p:nvSpPr>
          <p:cNvPr id="15" name="Shape 13"/>
          <p:cNvSpPr/>
          <p:nvPr/>
        </p:nvSpPr>
        <p:spPr>
          <a:xfrm>
            <a:off x="1307592" y="3822192"/>
            <a:ext cx="219456" cy="219456"/>
          </a:xfrm>
          <a:prstGeom prst="ellipse">
            <a:avLst/>
          </a:prstGeom>
          <a:solidFill>
            <a:srgbClr val="F1F5F9"/>
          </a:solidFill>
          <a:ln w="9525">
            <a:solidFill>
              <a:srgbClr val="F1F5F9"/>
            </a:solidFill>
            <a:prstDash val="solid"/>
          </a:ln>
        </p:spPr>
      </p:sp>
      <p:sp>
        <p:nvSpPr>
          <p:cNvPr id="16" name="Text 14"/>
          <p:cNvSpPr txBox="1"/>
          <p:nvPr/>
        </p:nvSpPr>
        <p:spPr>
          <a:xfrm>
            <a:off x="251460" y="2560320"/>
            <a:ext cx="2331720" cy="1024128"/>
          </a:xfrm>
          <a:prstGeom prst="rect">
            <a:avLst/>
          </a:prstGeom>
          <a:noFill/>
          <a:ln/>
        </p:spPr>
        <p:txBody>
          <a:bodyPr wrap="square" lIns="0" tIns="0" rIns="0" bIns="0" rtlCol="0" anchor="b"/>
          <a:lstStyle/>
          <a:p>
            <a:pPr algn="ctr" indent="0" marL="0">
              <a:buNone/>
            </a:pPr>
            <a:r>
              <a:rPr lang="en-US" sz="1400" b="1" dirty="0">
                <a:solidFill>
                  <a:srgbClr val="F1F5F9"/>
                </a:solidFill>
                <a:latin typeface="Arial" pitchFamily="34" charset="0"/>
                <a:ea typeface="Arial" pitchFamily="34" charset="-122"/>
                <a:cs typeface="Arial" pitchFamily="34" charset="-120"/>
              </a:rPr>
              <a:t>Apr 9</a:t>
            </a:r>
            <a:pPr algn="ctr" indent="0" marL="0">
              <a:buNone/>
            </a:pPr>
            <a:r>
              <a:rPr lang="en-US" sz="1400" dirty="0">
                <a:solidFill>
                  <a:srgbClr val="F1F5F9"/>
                </a:solidFill>
                <a:latin typeface="Arial" pitchFamily="34" charset="0"/>
                <a:ea typeface="Arial" pitchFamily="34" charset="-122"/>
                <a:cs typeface="Arial" pitchFamily="34" charset="-120"/>
              </a:rPr>
              <a:t>  </a:t>
            </a:r>
            <a:pPr algn="ctr" indent="0" marL="0">
              <a:buNone/>
            </a:pPr>
            <a:r>
              <a:rPr lang="en-US" sz="1200" dirty="0">
                <a:solidFill>
                  <a:srgbClr val="F1F5F9"/>
                </a:solidFill>
                <a:latin typeface="Courier New" pitchFamily="34" charset="0"/>
                <a:ea typeface="Courier New" pitchFamily="34" charset="-122"/>
                <a:cs typeface="Courier New" pitchFamily="34" charset="-120"/>
              </a:rPr>
              <a:t>HF release</a:t>
            </a:r>
            <a:endParaRPr lang="en-US" sz="1400" dirty="0"/>
          </a:p>
          <a:p>
            <a:pPr algn="ctr" indent="0" marL="0">
              <a:buNone/>
            </a:pPr>
            <a:r>
              <a:rPr lang="en-US" sz="1400" dirty="0">
                <a:solidFill>
                  <a:srgbClr val="6B7A93"/>
                </a:solidFill>
                <a:latin typeface="Arial" pitchFamily="34" charset="0"/>
                <a:ea typeface="Arial" pitchFamily="34" charset="-122"/>
                <a:cs typeface="Arial" pitchFamily="34" charset="-120"/>
              </a:rPr>
              <a:t>checkpoint + fit activations (states 0–14)</a:t>
            </a:r>
            <a:endParaRPr lang="en-US" sz="1400" dirty="0"/>
          </a:p>
        </p:txBody>
      </p:sp>
      <p:sp>
        <p:nvSpPr>
          <p:cNvPr id="17" name="Shape 15"/>
          <p:cNvSpPr/>
          <p:nvPr/>
        </p:nvSpPr>
        <p:spPr>
          <a:xfrm>
            <a:off x="2976829" y="3931920"/>
            <a:ext cx="0" cy="411480"/>
          </a:xfrm>
          <a:prstGeom prst="line">
            <a:avLst/>
          </a:prstGeom>
          <a:noFill/>
          <a:ln w="15875">
            <a:solidFill>
              <a:srgbClr val="26354F"/>
            </a:solidFill>
            <a:prstDash val="solid"/>
          </a:ln>
        </p:spPr>
      </p:sp>
      <p:sp>
        <p:nvSpPr>
          <p:cNvPr id="18" name="Shape 16"/>
          <p:cNvSpPr/>
          <p:nvPr/>
        </p:nvSpPr>
        <p:spPr>
          <a:xfrm>
            <a:off x="2867101" y="3822192"/>
            <a:ext cx="219456" cy="219456"/>
          </a:xfrm>
          <a:prstGeom prst="ellipse">
            <a:avLst/>
          </a:prstGeom>
          <a:solidFill>
            <a:srgbClr val="38BDF8"/>
          </a:solidFill>
          <a:ln w="9525">
            <a:solidFill>
              <a:srgbClr val="38BDF8"/>
            </a:solidFill>
            <a:prstDash val="solid"/>
          </a:ln>
        </p:spPr>
      </p:sp>
      <p:sp>
        <p:nvSpPr>
          <p:cNvPr id="19" name="Text 17"/>
          <p:cNvSpPr txBox="1"/>
          <p:nvPr/>
        </p:nvSpPr>
        <p:spPr>
          <a:xfrm>
            <a:off x="1810969" y="4343400"/>
            <a:ext cx="2331720" cy="1024128"/>
          </a:xfrm>
          <a:prstGeom prst="rect">
            <a:avLst/>
          </a:prstGeom>
          <a:noFill/>
          <a:ln/>
        </p:spPr>
        <p:txBody>
          <a:bodyPr wrap="square" lIns="0" tIns="0" rIns="0" bIns="0" rtlCol="0" anchor="t"/>
          <a:lstStyle/>
          <a:p>
            <a:pPr algn="ctr" indent="0" marL="0">
              <a:buNone/>
            </a:pPr>
            <a:r>
              <a:rPr lang="en-US" sz="1400" b="1" dirty="0">
                <a:solidFill>
                  <a:srgbClr val="38BDF8"/>
                </a:solidFill>
                <a:latin typeface="Arial" pitchFamily="34" charset="0"/>
                <a:ea typeface="Arial" pitchFamily="34" charset="-122"/>
                <a:cs typeface="Arial" pitchFamily="34" charset="-120"/>
              </a:rPr>
              <a:t>Apr 13</a:t>
            </a:r>
            <a:pPr algn="ctr" indent="0" marL="0">
              <a:buNone/>
            </a:pPr>
            <a:r>
              <a:rPr lang="en-US" sz="1400" dirty="0">
                <a:solidFill>
                  <a:srgbClr val="38BDF8"/>
                </a:solidFill>
                <a:latin typeface="Arial" pitchFamily="34" charset="0"/>
                <a:ea typeface="Arial" pitchFamily="34" charset="-122"/>
                <a:cs typeface="Arial" pitchFamily="34" charset="-120"/>
              </a:rPr>
              <a:t>  </a:t>
            </a:r>
            <a:pPr algn="ctr" indent="0" marL="0">
              <a:buNone/>
            </a:pPr>
            <a:r>
              <a:rPr lang="en-US" sz="1200" dirty="0">
                <a:solidFill>
                  <a:srgbClr val="38BDF8"/>
                </a:solidFill>
                <a:latin typeface="Courier New" pitchFamily="34" charset="0"/>
                <a:ea typeface="Courier New" pitchFamily="34" charset="-122"/>
                <a:cs typeface="Courier New" pitchFamily="34" charset="-120"/>
              </a:rPr>
              <a:t>2fdc5ad</a:t>
            </a:r>
            <a:endParaRPr lang="en-US" sz="1400" dirty="0"/>
          </a:p>
          <a:p>
            <a:pPr algn="ctr" indent="0" marL="0">
              <a:buNone/>
            </a:pPr>
            <a:r>
              <a:rPr lang="en-US" sz="1400" dirty="0">
                <a:solidFill>
                  <a:srgbClr val="6B7A93"/>
                </a:solidFill>
                <a:latin typeface="Arial" pitchFamily="34" charset="0"/>
                <a:ea typeface="Arial" pitchFamily="34" charset="-122"/>
                <a:cs typeface="Arial" pitchFamily="34" charset="-120"/>
              </a:rPr>
              <a:t>miranda-v2 LIBERO sweep · 15 episodes</a:t>
            </a:r>
            <a:endParaRPr lang="en-US" sz="1400" dirty="0"/>
          </a:p>
        </p:txBody>
      </p:sp>
      <p:sp>
        <p:nvSpPr>
          <p:cNvPr id="20" name="Shape 18"/>
          <p:cNvSpPr/>
          <p:nvPr/>
        </p:nvSpPr>
        <p:spPr>
          <a:xfrm>
            <a:off x="4536338" y="3584448"/>
            <a:ext cx="0" cy="347472"/>
          </a:xfrm>
          <a:prstGeom prst="line">
            <a:avLst/>
          </a:prstGeom>
          <a:noFill/>
          <a:ln w="15875">
            <a:solidFill>
              <a:srgbClr val="26354F"/>
            </a:solidFill>
            <a:prstDash val="solid"/>
          </a:ln>
        </p:spPr>
      </p:sp>
      <p:sp>
        <p:nvSpPr>
          <p:cNvPr id="21" name="Shape 19"/>
          <p:cNvSpPr/>
          <p:nvPr/>
        </p:nvSpPr>
        <p:spPr>
          <a:xfrm>
            <a:off x="4426610" y="3822192"/>
            <a:ext cx="219456" cy="219456"/>
          </a:xfrm>
          <a:prstGeom prst="ellipse">
            <a:avLst/>
          </a:prstGeom>
          <a:solidFill>
            <a:srgbClr val="38BDF8"/>
          </a:solidFill>
          <a:ln w="9525">
            <a:solidFill>
              <a:srgbClr val="38BDF8"/>
            </a:solidFill>
            <a:prstDash val="solid"/>
          </a:ln>
        </p:spPr>
      </p:sp>
      <p:sp>
        <p:nvSpPr>
          <p:cNvPr id="22" name="Text 20"/>
          <p:cNvSpPr txBox="1"/>
          <p:nvPr/>
        </p:nvSpPr>
        <p:spPr>
          <a:xfrm>
            <a:off x="3370478" y="2560320"/>
            <a:ext cx="2331720" cy="1024128"/>
          </a:xfrm>
          <a:prstGeom prst="rect">
            <a:avLst/>
          </a:prstGeom>
          <a:noFill/>
          <a:ln/>
        </p:spPr>
        <p:txBody>
          <a:bodyPr wrap="square" lIns="0" tIns="0" rIns="0" bIns="0" rtlCol="0" anchor="b"/>
          <a:lstStyle/>
          <a:p>
            <a:pPr algn="ctr" indent="0" marL="0">
              <a:buNone/>
            </a:pPr>
            <a:r>
              <a:rPr lang="en-US" sz="1400" b="1" dirty="0">
                <a:solidFill>
                  <a:srgbClr val="38BDF8"/>
                </a:solidFill>
                <a:latin typeface="Arial" pitchFamily="34" charset="0"/>
                <a:ea typeface="Arial" pitchFamily="34" charset="-122"/>
                <a:cs typeface="Arial" pitchFamily="34" charset="-120"/>
              </a:rPr>
              <a:t>Apr 15</a:t>
            </a:r>
            <a:pPr algn="ctr" indent="0" marL="0">
              <a:buNone/>
            </a:pPr>
            <a:r>
              <a:rPr lang="en-US" sz="1400" dirty="0">
                <a:solidFill>
                  <a:srgbClr val="38BDF8"/>
                </a:solidFill>
                <a:latin typeface="Arial" pitchFamily="34" charset="0"/>
                <a:ea typeface="Arial" pitchFamily="34" charset="-122"/>
                <a:cs typeface="Arial" pitchFamily="34" charset="-120"/>
              </a:rPr>
              <a:t>  </a:t>
            </a:r>
            <a:pPr algn="ctr" indent="0" marL="0">
              <a:buNone/>
            </a:pPr>
            <a:r>
              <a:rPr lang="en-US" sz="1200" dirty="0">
                <a:solidFill>
                  <a:srgbClr val="38BDF8"/>
                </a:solidFill>
                <a:latin typeface="Courier New" pitchFamily="34" charset="0"/>
                <a:ea typeface="Courier New" pitchFamily="34" charset="-122"/>
                <a:cs typeface="Courier New" pitchFamily="34" charset="-120"/>
              </a:rPr>
              <a:t>29059a5</a:t>
            </a:r>
            <a:endParaRPr lang="en-US" sz="1400" dirty="0"/>
          </a:p>
          <a:p>
            <a:pPr algn="ctr" indent="0" marL="0">
              <a:buNone/>
            </a:pPr>
            <a:r>
              <a:rPr lang="en-US" sz="1400" dirty="0">
                <a:solidFill>
                  <a:srgbClr val="6B7A93"/>
                </a:solidFill>
                <a:latin typeface="Arial" pitchFamily="34" charset="0"/>
                <a:ea typeface="Arial" pitchFamily="34" charset="-122"/>
                <a:cs typeface="Arial" pitchFamily="34" charset="-120"/>
              </a:rPr>
              <a:t>first public conceptor builder (for_subin)</a:t>
            </a:r>
            <a:endParaRPr lang="en-US" sz="1400" dirty="0"/>
          </a:p>
        </p:txBody>
      </p:sp>
      <p:sp>
        <p:nvSpPr>
          <p:cNvPr id="23" name="Shape 21"/>
          <p:cNvSpPr/>
          <p:nvPr/>
        </p:nvSpPr>
        <p:spPr>
          <a:xfrm>
            <a:off x="6095848" y="3931920"/>
            <a:ext cx="0" cy="411480"/>
          </a:xfrm>
          <a:prstGeom prst="line">
            <a:avLst/>
          </a:prstGeom>
          <a:noFill/>
          <a:ln w="15875">
            <a:solidFill>
              <a:srgbClr val="26354F"/>
            </a:solidFill>
            <a:prstDash val="solid"/>
          </a:ln>
        </p:spPr>
      </p:sp>
      <p:sp>
        <p:nvSpPr>
          <p:cNvPr id="24" name="Shape 22"/>
          <p:cNvSpPr/>
          <p:nvPr/>
        </p:nvSpPr>
        <p:spPr>
          <a:xfrm>
            <a:off x="5986120" y="3822192"/>
            <a:ext cx="219456" cy="219456"/>
          </a:xfrm>
          <a:prstGeom prst="ellipse">
            <a:avLst/>
          </a:prstGeom>
          <a:solidFill>
            <a:srgbClr val="38BDF8"/>
          </a:solidFill>
          <a:ln w="9525">
            <a:solidFill>
              <a:srgbClr val="38BDF8"/>
            </a:solidFill>
            <a:prstDash val="solid"/>
          </a:ln>
        </p:spPr>
      </p:sp>
      <p:sp>
        <p:nvSpPr>
          <p:cNvPr id="25" name="Text 23"/>
          <p:cNvSpPr txBox="1"/>
          <p:nvPr/>
        </p:nvSpPr>
        <p:spPr>
          <a:xfrm>
            <a:off x="4929988" y="4343400"/>
            <a:ext cx="2331720" cy="1024128"/>
          </a:xfrm>
          <a:prstGeom prst="rect">
            <a:avLst/>
          </a:prstGeom>
          <a:noFill/>
          <a:ln/>
        </p:spPr>
        <p:txBody>
          <a:bodyPr wrap="square" lIns="0" tIns="0" rIns="0" bIns="0" rtlCol="0" anchor="t"/>
          <a:lstStyle/>
          <a:p>
            <a:pPr algn="ctr" indent="0" marL="0">
              <a:buNone/>
            </a:pPr>
            <a:r>
              <a:rPr lang="en-US" sz="1400" b="1" dirty="0">
                <a:solidFill>
                  <a:srgbClr val="38BDF8"/>
                </a:solidFill>
                <a:latin typeface="Arial" pitchFamily="34" charset="0"/>
                <a:ea typeface="Arial" pitchFamily="34" charset="-122"/>
                <a:cs typeface="Arial" pitchFamily="34" charset="-120"/>
              </a:rPr>
              <a:t>Apr 21</a:t>
            </a:r>
            <a:pPr algn="ctr" indent="0" marL="0">
              <a:buNone/>
            </a:pPr>
            <a:r>
              <a:rPr lang="en-US" sz="1400" dirty="0">
                <a:solidFill>
                  <a:srgbClr val="38BDF8"/>
                </a:solidFill>
                <a:latin typeface="Arial" pitchFamily="34" charset="0"/>
                <a:ea typeface="Arial" pitchFamily="34" charset="-122"/>
                <a:cs typeface="Arial" pitchFamily="34" charset="-120"/>
              </a:rPr>
              <a:t>  </a:t>
            </a:r>
            <a:pPr algn="ctr" indent="0" marL="0">
              <a:buNone/>
            </a:pPr>
            <a:r>
              <a:rPr lang="en-US" sz="1200" dirty="0">
                <a:solidFill>
                  <a:srgbClr val="38BDF8"/>
                </a:solidFill>
                <a:latin typeface="Courier New" pitchFamily="34" charset="0"/>
                <a:ea typeface="Courier New" pitchFamily="34" charset="-122"/>
                <a:cs typeface="Courier New" pitchFamily="34" charset="-120"/>
              </a:rPr>
              <a:t>ec62cad</a:t>
            </a:r>
            <a:endParaRPr lang="en-US" sz="1400" dirty="0"/>
          </a:p>
          <a:p>
            <a:pPr algn="ctr" indent="0" marL="0">
              <a:buNone/>
            </a:pPr>
            <a:r>
              <a:rPr lang="en-US" sz="1400" dirty="0">
                <a:solidFill>
                  <a:srgbClr val="6B7A93"/>
                </a:solidFill>
                <a:latin typeface="Arial" pitchFamily="34" charset="0"/>
                <a:ea typeface="Arial" pitchFamily="34" charset="-122"/>
                <a:cs typeface="Arial" pitchFamily="34" charset="-120"/>
              </a:rPr>
              <a:t>oracle_gap_table.py → Table 15</a:t>
            </a:r>
            <a:endParaRPr lang="en-US" sz="1400" dirty="0"/>
          </a:p>
        </p:txBody>
      </p:sp>
      <p:sp>
        <p:nvSpPr>
          <p:cNvPr id="26" name="Shape 24"/>
          <p:cNvSpPr/>
          <p:nvPr/>
        </p:nvSpPr>
        <p:spPr>
          <a:xfrm>
            <a:off x="7655357" y="3584448"/>
            <a:ext cx="0" cy="347472"/>
          </a:xfrm>
          <a:prstGeom prst="line">
            <a:avLst/>
          </a:prstGeom>
          <a:noFill/>
          <a:ln w="15875">
            <a:solidFill>
              <a:srgbClr val="26354F"/>
            </a:solidFill>
            <a:prstDash val="solid"/>
          </a:ln>
        </p:spPr>
      </p:sp>
      <p:sp>
        <p:nvSpPr>
          <p:cNvPr id="27" name="Shape 25"/>
          <p:cNvSpPr/>
          <p:nvPr/>
        </p:nvSpPr>
        <p:spPr>
          <a:xfrm>
            <a:off x="7545629" y="3822192"/>
            <a:ext cx="219456" cy="219456"/>
          </a:xfrm>
          <a:prstGeom prst="ellipse">
            <a:avLst/>
          </a:prstGeom>
          <a:solidFill>
            <a:srgbClr val="F1F5F9"/>
          </a:solidFill>
          <a:ln w="9525">
            <a:solidFill>
              <a:srgbClr val="F1F5F9"/>
            </a:solidFill>
            <a:prstDash val="solid"/>
          </a:ln>
        </p:spPr>
      </p:sp>
      <p:sp>
        <p:nvSpPr>
          <p:cNvPr id="28" name="Text 26"/>
          <p:cNvSpPr txBox="1"/>
          <p:nvPr/>
        </p:nvSpPr>
        <p:spPr>
          <a:xfrm>
            <a:off x="6489497" y="2560320"/>
            <a:ext cx="2331720" cy="1024128"/>
          </a:xfrm>
          <a:prstGeom prst="rect">
            <a:avLst/>
          </a:prstGeom>
          <a:noFill/>
          <a:ln/>
        </p:spPr>
        <p:txBody>
          <a:bodyPr wrap="square" lIns="0" tIns="0" rIns="0" bIns="0" rtlCol="0" anchor="b"/>
          <a:lstStyle/>
          <a:p>
            <a:pPr algn="ctr" indent="0" marL="0">
              <a:buNone/>
            </a:pPr>
            <a:r>
              <a:rPr lang="en-US" sz="1400" b="1" dirty="0">
                <a:solidFill>
                  <a:srgbClr val="F1F5F9"/>
                </a:solidFill>
                <a:latin typeface="Arial" pitchFamily="34" charset="0"/>
                <a:ea typeface="Arial" pitchFamily="34" charset="-122"/>
                <a:cs typeface="Arial" pitchFamily="34" charset="-120"/>
              </a:rPr>
              <a:t>Apr 23</a:t>
            </a:r>
            <a:pPr algn="ctr" indent="0" marL="0">
              <a:buNone/>
            </a:pPr>
            <a:r>
              <a:rPr lang="en-US" sz="1400" dirty="0">
                <a:solidFill>
                  <a:srgbClr val="F1F5F9"/>
                </a:solidFill>
                <a:latin typeface="Arial" pitchFamily="34" charset="0"/>
                <a:ea typeface="Arial" pitchFamily="34" charset="-122"/>
                <a:cs typeface="Arial" pitchFamily="34" charset="-120"/>
              </a:rPr>
              <a:t>  </a:t>
            </a:r>
            <a:pPr algn="ctr" indent="0" marL="0">
              <a:buNone/>
            </a:pPr>
            <a:r>
              <a:rPr lang="en-US" sz="1200" dirty="0">
                <a:solidFill>
                  <a:srgbClr val="F1F5F9"/>
                </a:solidFill>
                <a:latin typeface="Courier New" pitchFamily="34" charset="0"/>
                <a:ea typeface="Courier New" pitchFamily="34" charset="-122"/>
                <a:cs typeface="Courier New" pitchFamily="34" charset="-120"/>
              </a:rPr>
              <a:t>PR #48</a:t>
            </a:r>
            <a:endParaRPr lang="en-US" sz="1400" dirty="0"/>
          </a:p>
          <a:p>
            <a:pPr algn="ctr" indent="0" marL="0">
              <a:buNone/>
            </a:pPr>
            <a:r>
              <a:rPr lang="en-US" sz="1400" dirty="0">
                <a:solidFill>
                  <a:srgbClr val="6B7A93"/>
                </a:solidFill>
                <a:latin typeface="Arial" pitchFamily="34" charset="0"/>
                <a:ea typeface="Arial" pitchFamily="34" charset="-122"/>
                <a:cs typeface="Arial" pitchFamily="34" charset="-120"/>
              </a:rPr>
              <a:t>--seed now selects init states</a:t>
            </a:r>
            <a:endParaRPr lang="en-US" sz="1400" dirty="0"/>
          </a:p>
        </p:txBody>
      </p:sp>
      <p:sp>
        <p:nvSpPr>
          <p:cNvPr id="29" name="Shape 27"/>
          <p:cNvSpPr/>
          <p:nvPr/>
        </p:nvSpPr>
        <p:spPr>
          <a:xfrm>
            <a:off x="9214866" y="3931920"/>
            <a:ext cx="0" cy="411480"/>
          </a:xfrm>
          <a:prstGeom prst="line">
            <a:avLst/>
          </a:prstGeom>
          <a:noFill/>
          <a:ln w="15875">
            <a:solidFill>
              <a:srgbClr val="26354F"/>
            </a:solidFill>
            <a:prstDash val="solid"/>
          </a:ln>
        </p:spPr>
      </p:sp>
      <p:sp>
        <p:nvSpPr>
          <p:cNvPr id="30" name="Shape 28"/>
          <p:cNvSpPr/>
          <p:nvPr/>
        </p:nvSpPr>
        <p:spPr>
          <a:xfrm>
            <a:off x="9105138" y="3822192"/>
            <a:ext cx="219456" cy="219456"/>
          </a:xfrm>
          <a:prstGeom prst="ellipse">
            <a:avLst/>
          </a:prstGeom>
          <a:solidFill>
            <a:srgbClr val="F59E0B"/>
          </a:solidFill>
          <a:ln w="9525">
            <a:solidFill>
              <a:srgbClr val="F59E0B"/>
            </a:solidFill>
            <a:prstDash val="solid"/>
          </a:ln>
        </p:spPr>
      </p:sp>
      <p:sp>
        <p:nvSpPr>
          <p:cNvPr id="31" name="Text 29"/>
          <p:cNvSpPr txBox="1"/>
          <p:nvPr/>
        </p:nvSpPr>
        <p:spPr>
          <a:xfrm>
            <a:off x="8049006" y="4343400"/>
            <a:ext cx="2331720" cy="1024128"/>
          </a:xfrm>
          <a:prstGeom prst="rect">
            <a:avLst/>
          </a:prstGeom>
          <a:noFill/>
          <a:ln/>
        </p:spPr>
        <p:txBody>
          <a:bodyPr wrap="square" lIns="0" tIns="0" rIns="0" bIns="0" rtlCol="0" anchor="t"/>
          <a:lstStyle/>
          <a:p>
            <a:pPr algn="ctr" indent="0" marL="0">
              <a:buNone/>
            </a:pPr>
            <a:r>
              <a:rPr lang="en-US" sz="1400" b="1" dirty="0">
                <a:solidFill>
                  <a:srgbClr val="F59E0B"/>
                </a:solidFill>
                <a:latin typeface="Arial" pitchFamily="34" charset="0"/>
                <a:ea typeface="Arial" pitchFamily="34" charset="-122"/>
                <a:cs typeface="Arial" pitchFamily="34" charset="-120"/>
              </a:rPr>
              <a:t>May 16</a:t>
            </a:r>
            <a:pPr algn="ctr" indent="0" marL="0">
              <a:buNone/>
            </a:pPr>
            <a:r>
              <a:rPr lang="en-US" sz="1400" dirty="0">
                <a:solidFill>
                  <a:srgbClr val="F59E0B"/>
                </a:solidFill>
                <a:latin typeface="Arial" pitchFamily="34" charset="0"/>
                <a:ea typeface="Arial" pitchFamily="34" charset="-122"/>
                <a:cs typeface="Arial" pitchFamily="34" charset="-120"/>
              </a:rPr>
              <a:t>  </a:t>
            </a:r>
            <a:pPr algn="ctr" indent="0" marL="0">
              <a:buNone/>
            </a:pPr>
            <a:r>
              <a:rPr lang="en-US" sz="1200" dirty="0">
                <a:solidFill>
                  <a:srgbClr val="F59E0B"/>
                </a:solidFill>
                <a:latin typeface="Courier New" pitchFamily="34" charset="0"/>
                <a:ea typeface="Courier New" pitchFamily="34" charset="-122"/>
                <a:cs typeface="Courier New" pitchFamily="34" charset="-120"/>
              </a:rPr>
              <a:t>arXiv v1</a:t>
            </a:r>
            <a:endParaRPr lang="en-US" sz="1400" dirty="0"/>
          </a:p>
          <a:p>
            <a:pPr algn="ctr" indent="0" marL="0">
              <a:buNone/>
            </a:pPr>
            <a:r>
              <a:rPr lang="en-US" sz="1400" dirty="0">
                <a:solidFill>
                  <a:srgbClr val="6B7A93"/>
                </a:solidFill>
                <a:latin typeface="Arial" pitchFamily="34" charset="0"/>
                <a:ea typeface="Arial" pitchFamily="34" charset="-122"/>
                <a:cs typeface="Arial" pitchFamily="34" charset="-120"/>
              </a:rPr>
              <a:t>paper submitted</a:t>
            </a:r>
            <a:endParaRPr lang="en-US" sz="1400" dirty="0"/>
          </a:p>
        </p:txBody>
      </p:sp>
      <p:sp>
        <p:nvSpPr>
          <p:cNvPr id="32" name="Shape 30"/>
          <p:cNvSpPr/>
          <p:nvPr/>
        </p:nvSpPr>
        <p:spPr>
          <a:xfrm>
            <a:off x="10774375" y="3584448"/>
            <a:ext cx="0" cy="347472"/>
          </a:xfrm>
          <a:prstGeom prst="line">
            <a:avLst/>
          </a:prstGeom>
          <a:noFill/>
          <a:ln w="15875">
            <a:solidFill>
              <a:srgbClr val="26354F"/>
            </a:solidFill>
            <a:prstDash val="solid"/>
          </a:ln>
        </p:spPr>
      </p:sp>
      <p:sp>
        <p:nvSpPr>
          <p:cNvPr id="33" name="Shape 31"/>
          <p:cNvSpPr/>
          <p:nvPr/>
        </p:nvSpPr>
        <p:spPr>
          <a:xfrm>
            <a:off x="10664647" y="3822192"/>
            <a:ext cx="219456" cy="219456"/>
          </a:xfrm>
          <a:prstGeom prst="ellipse">
            <a:avLst/>
          </a:prstGeom>
          <a:solidFill>
            <a:srgbClr val="F1F5F9"/>
          </a:solidFill>
          <a:ln w="9525">
            <a:solidFill>
              <a:srgbClr val="F1F5F9"/>
            </a:solidFill>
            <a:prstDash val="solid"/>
          </a:ln>
        </p:spPr>
      </p:sp>
      <p:sp>
        <p:nvSpPr>
          <p:cNvPr id="34" name="Text 32"/>
          <p:cNvSpPr txBox="1"/>
          <p:nvPr/>
        </p:nvSpPr>
        <p:spPr>
          <a:xfrm>
            <a:off x="9608515" y="2560320"/>
            <a:ext cx="2331720" cy="1024128"/>
          </a:xfrm>
          <a:prstGeom prst="rect">
            <a:avLst/>
          </a:prstGeom>
          <a:noFill/>
          <a:ln/>
        </p:spPr>
        <p:txBody>
          <a:bodyPr wrap="square" lIns="0" tIns="0" rIns="0" bIns="0" rtlCol="0" anchor="b"/>
          <a:lstStyle/>
          <a:p>
            <a:pPr algn="ctr" indent="0" marL="0">
              <a:buNone/>
            </a:pPr>
            <a:r>
              <a:rPr lang="en-US" sz="1400" b="1" dirty="0">
                <a:solidFill>
                  <a:srgbClr val="F1F5F9"/>
                </a:solidFill>
                <a:latin typeface="Arial" pitchFamily="34" charset="0"/>
                <a:ea typeface="Arial" pitchFamily="34" charset="-122"/>
                <a:cs typeface="Arial" pitchFamily="34" charset="-120"/>
              </a:rPr>
              <a:t>Jun 1</a:t>
            </a:r>
            <a:pPr algn="ctr" indent="0" marL="0">
              <a:buNone/>
            </a:pPr>
            <a:r>
              <a:rPr lang="en-US" sz="1400" dirty="0">
                <a:solidFill>
                  <a:srgbClr val="F1F5F9"/>
                </a:solidFill>
                <a:latin typeface="Arial" pitchFamily="34" charset="0"/>
                <a:ea typeface="Arial" pitchFamily="34" charset="-122"/>
                <a:cs typeface="Arial" pitchFamily="34" charset="-120"/>
              </a:rPr>
              <a:t>  </a:t>
            </a:r>
            <a:pPr algn="ctr" indent="0" marL="0">
              <a:buNone/>
            </a:pPr>
            <a:r>
              <a:rPr lang="en-US" sz="1200" dirty="0">
                <a:solidFill>
                  <a:srgbClr val="F1F5F9"/>
                </a:solidFill>
                <a:latin typeface="Courier New" pitchFamily="34" charset="0"/>
                <a:ea typeface="Courier New" pitchFamily="34" charset="-122"/>
                <a:cs typeface="Courier New" pitchFamily="34" charset="-120"/>
              </a:rPr>
              <a:t>6c34a11 · #50</a:t>
            </a:r>
            <a:endParaRPr lang="en-US" sz="1400" dirty="0"/>
          </a:p>
          <a:p>
            <a:pPr algn="ctr" indent="0" marL="0">
              <a:buNone/>
            </a:pPr>
            <a:r>
              <a:rPr lang="en-US" sz="1400" dirty="0">
                <a:solidFill>
                  <a:srgbClr val="6B7A93"/>
                </a:solidFill>
                <a:latin typeface="Arial" pitchFamily="34" charset="0"/>
                <a:ea typeface="Arial" pitchFamily="34" charset="-122"/>
                <a:cs typeface="Arial" pitchFamily="34" charset="-120"/>
              </a:rPr>
              <a:t>steering merged to main</a:t>
            </a:r>
            <a:endParaRPr lang="en-US" sz="1400" dirty="0"/>
          </a:p>
        </p:txBody>
      </p:sp>
      <p:sp>
        <p:nvSpPr>
          <p:cNvPr id="35" name="Shape 33"/>
          <p:cNvSpPr/>
          <p:nvPr/>
        </p:nvSpPr>
        <p:spPr>
          <a:xfrm>
            <a:off x="553212" y="5582412"/>
            <a:ext cx="155448" cy="155448"/>
          </a:xfrm>
          <a:prstGeom prst="ellipse">
            <a:avLst/>
          </a:prstGeom>
          <a:solidFill>
            <a:srgbClr val="38BDF8"/>
          </a:solidFill>
          <a:ln w="9525">
            <a:solidFill>
              <a:srgbClr val="38BDF8"/>
            </a:solidFill>
            <a:prstDash val="solid"/>
          </a:ln>
        </p:spPr>
      </p:sp>
      <p:sp>
        <p:nvSpPr>
          <p:cNvPr id="36" name="Text 34"/>
          <p:cNvSpPr txBox="1"/>
          <p:nvPr/>
        </p:nvSpPr>
        <p:spPr>
          <a:xfrm>
            <a:off x="804672" y="553212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miranda-v2 lineage</a:t>
            </a:r>
            <a:endParaRPr lang="en-US" sz="1300" dirty="0"/>
          </a:p>
        </p:txBody>
      </p:sp>
      <p:sp>
        <p:nvSpPr>
          <p:cNvPr id="37" name="Shape 35"/>
          <p:cNvSpPr/>
          <p:nvPr/>
        </p:nvSpPr>
        <p:spPr>
          <a:xfrm>
            <a:off x="2930652" y="5582412"/>
            <a:ext cx="155448" cy="155448"/>
          </a:xfrm>
          <a:prstGeom prst="ellipse">
            <a:avLst/>
          </a:prstGeom>
          <a:solidFill>
            <a:srgbClr val="F59E0B"/>
          </a:solidFill>
          <a:ln w="9525">
            <a:solidFill>
              <a:srgbClr val="F59E0B"/>
            </a:solidFill>
            <a:prstDash val="solid"/>
          </a:ln>
        </p:spPr>
      </p:sp>
      <p:sp>
        <p:nvSpPr>
          <p:cNvPr id="38" name="Text 36"/>
          <p:cNvSpPr txBox="1"/>
          <p:nvPr/>
        </p:nvSpPr>
        <p:spPr>
          <a:xfrm>
            <a:off x="3182112" y="553212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paper</a:t>
            </a:r>
            <a:endParaRPr lang="en-US" sz="1300" dirty="0"/>
          </a:p>
        </p:txBody>
      </p:sp>
      <p:sp>
        <p:nvSpPr>
          <p:cNvPr id="39" name="Shape 37"/>
          <p:cNvSpPr/>
          <p:nvPr/>
        </p:nvSpPr>
        <p:spPr>
          <a:xfrm>
            <a:off x="4210812" y="5582412"/>
            <a:ext cx="155448" cy="155448"/>
          </a:xfrm>
          <a:prstGeom prst="ellipse">
            <a:avLst/>
          </a:prstGeom>
          <a:solidFill>
            <a:srgbClr val="F1F5F9"/>
          </a:solidFill>
          <a:ln w="9525">
            <a:solidFill>
              <a:srgbClr val="F1F5F9"/>
            </a:solidFill>
            <a:prstDash val="solid"/>
          </a:ln>
        </p:spPr>
      </p:sp>
      <p:sp>
        <p:nvSpPr>
          <p:cNvPr id="40" name="Text 38"/>
          <p:cNvSpPr txBox="1"/>
          <p:nvPr/>
        </p:nvSpPr>
        <p:spPr>
          <a:xfrm>
            <a:off x="4462272" y="553212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release / main</a:t>
            </a:r>
            <a:endParaRPr lang="en-US" sz="1300" dirty="0"/>
          </a:p>
        </p:txBody>
      </p:sp>
      <p:sp>
        <p:nvSpPr>
          <p:cNvPr id="41" name="Text 39"/>
          <p:cNvSpPr txBox="1"/>
          <p:nvPr/>
        </p:nvSpPr>
        <p:spPr>
          <a:xfrm>
            <a:off x="5669280" y="5468112"/>
            <a:ext cx="5973775" cy="566928"/>
          </a:xfrm>
          <a:prstGeom prst="rect">
            <a:avLst/>
          </a:prstGeom>
          <a:noFill/>
          <a:ln/>
        </p:spPr>
        <p:txBody>
          <a:bodyPr wrap="square" lIns="0" tIns="0" rIns="0" bIns="0" rtlCol="0" anchor="ctr"/>
          <a:lstStyle/>
          <a:p>
            <a:pPr algn="l" indent="0" marL="0">
              <a:buNone/>
            </a:pPr>
            <a:r>
              <a:rPr lang="en-US" sz="1450" dirty="0">
                <a:solidFill>
                  <a:srgbClr val="F1F5F9"/>
                </a:solidFill>
                <a:latin typeface="Arial" pitchFamily="34" charset="0"/>
                <a:ea typeface="Arial" pitchFamily="34" charset="-122"/>
                <a:cs typeface="Arial" pitchFamily="34" charset="-120"/>
              </a:rPr>
              <a:t>The pipeline that plausibly generated Table 4 predates both the held-out seeding change (#48) and the released code.</a:t>
            </a:r>
            <a:endParaRPr lang="en-US" sz="1450" dirty="0"/>
          </a:p>
        </p:txBody>
      </p:sp>
      <p:sp>
        <p:nvSpPr>
          <p:cNvPr id="42" name="Text 40"/>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phase6c_branch_matrix.csv · phase6c_author_branch_archaeology.md §2–3 · public git history of COAST-VLA/COAST</a:t>
            </a:r>
            <a:endParaRPr lang="en-US" sz="1000" dirty="0"/>
          </a:p>
        </p:txBody>
      </p:sp>
      <p:sp>
        <p:nvSpPr>
          <p:cNvPr id="43" name="Text 41"/>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44" name="Text 42"/>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12 / 21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PROVENANCE EVIDENCE</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Why miranda-v2 looks like the table generator</a:t>
            </a:r>
            <a:endParaRPr lang="en-US" sz="3000" dirty="0"/>
          </a:p>
        </p:txBody>
      </p:sp>
      <p:sp>
        <p:nvSpPr>
          <p:cNvPr id="4" name="Shape 2"/>
          <p:cNvSpPr/>
          <p:nvPr/>
        </p:nvSpPr>
        <p:spPr>
          <a:xfrm>
            <a:off x="548640" y="1188720"/>
            <a:ext cx="6417401" cy="310896"/>
          </a:xfrm>
          <a:prstGeom prst="roundRect">
            <a:avLst>
              <a:gd name="adj" fmla="val 50000"/>
            </a:avLst>
          </a:prstGeom>
          <a:solidFill>
            <a:srgbClr val="131E33"/>
          </a:solidFill>
          <a:ln w="12700">
            <a:solidFill>
              <a:srgbClr val="F2C94C"/>
            </a:solidFill>
            <a:prstDash val="solid"/>
          </a:ln>
        </p:spPr>
      </p:sp>
      <p:sp>
        <p:nvSpPr>
          <p:cNvPr id="5" name="Text 3"/>
          <p:cNvSpPr txBox="1"/>
          <p:nvPr/>
        </p:nvSpPr>
        <p:spPr>
          <a:xfrm>
            <a:off x="548640" y="1188720"/>
            <a:ext cx="6417401" cy="310896"/>
          </a:xfrm>
          <a:prstGeom prst="rect">
            <a:avLst/>
          </a:prstGeom>
          <a:noFill/>
          <a:ln/>
        </p:spPr>
        <p:txBody>
          <a:bodyPr wrap="square" lIns="0" tIns="0" rIns="0" bIns="0" rtlCol="0" anchor="ctr"/>
          <a:lstStyle/>
          <a:p>
            <a:pPr algn="ctr" indent="0" marL="0">
              <a:buNone/>
            </a:pPr>
            <a:r>
              <a:rPr lang="en-US" sz="1200" b="1" spc="100" kern="0" dirty="0">
                <a:solidFill>
                  <a:srgbClr val="F2C94C"/>
                </a:solidFill>
                <a:latin typeface="Arial" pitchFamily="34" charset="0"/>
                <a:ea typeface="Arial" pitchFamily="34" charset="-122"/>
                <a:cs typeface="Arial" pitchFamily="34" charset="-120"/>
              </a:rPr>
              <a:t>STRONG PROVENANCE EVIDENCE — NOT DEFINITIVE PROOF</a:t>
            </a:r>
            <a:endParaRPr lang="en-US" sz="1200" dirty="0"/>
          </a:p>
        </p:txBody>
      </p:sp>
      <p:sp>
        <p:nvSpPr>
          <p:cNvPr id="6" name="Shape 4"/>
          <p:cNvSpPr/>
          <p:nvPr/>
        </p:nvSpPr>
        <p:spPr>
          <a:xfrm>
            <a:off x="548640" y="1691640"/>
            <a:ext cx="3576218" cy="2084832"/>
          </a:xfrm>
          <a:prstGeom prst="roundRect">
            <a:avLst>
              <a:gd name="adj" fmla="val 3509"/>
            </a:avLst>
          </a:prstGeom>
          <a:solidFill>
            <a:srgbClr val="131E33"/>
          </a:solidFill>
          <a:ln/>
        </p:spPr>
      </p:sp>
      <p:sp>
        <p:nvSpPr>
          <p:cNvPr id="7" name="Text 5"/>
          <p:cNvSpPr txBox="1"/>
          <p:nvPr/>
        </p:nvSpPr>
        <p:spPr>
          <a:xfrm>
            <a:off x="777240" y="1828800"/>
            <a:ext cx="3119018" cy="640080"/>
          </a:xfrm>
          <a:prstGeom prst="rect">
            <a:avLst/>
          </a:prstGeom>
          <a:noFill/>
          <a:ln/>
        </p:spPr>
        <p:txBody>
          <a:bodyPr wrap="square" lIns="0" tIns="0" rIns="0" bIns="0" rtlCol="0" anchor="ctr"/>
          <a:lstStyle/>
          <a:p>
            <a:pPr algn="l" indent="0" marL="0">
              <a:buNone/>
            </a:pPr>
            <a:r>
              <a:rPr lang="en-US" sz="3400" b="1" dirty="0">
                <a:solidFill>
                  <a:srgbClr val="4CC38A"/>
                </a:solidFill>
                <a:latin typeface="Arial" pitchFamily="34" charset="0"/>
                <a:ea typeface="Arial" pitchFamily="34" charset="-122"/>
                <a:cs typeface="Arial" pitchFamily="34" charset="-120"/>
              </a:rPr>
              <a:t>152</a:t>
            </a:r>
            <a:endParaRPr lang="en-US" sz="3400" dirty="0"/>
          </a:p>
        </p:txBody>
      </p:sp>
      <p:sp>
        <p:nvSpPr>
          <p:cNvPr id="8" name="Text 6"/>
          <p:cNvSpPr txBox="1"/>
          <p:nvPr/>
        </p:nvSpPr>
        <p:spPr>
          <a:xfrm>
            <a:off x="777240" y="2496312"/>
            <a:ext cx="3119018" cy="310896"/>
          </a:xfrm>
          <a:prstGeom prst="rect">
            <a:avLst/>
          </a:prstGeom>
          <a:noFill/>
          <a:ln/>
        </p:spPr>
        <p:txBody>
          <a:bodyPr wrap="square" lIns="0" tIns="0" rIns="0" bIns="0" rtlCol="0" anchor="t"/>
          <a:lstStyle/>
          <a:p>
            <a:pPr algn="l" indent="0" marL="0">
              <a:buNone/>
            </a:pPr>
            <a:r>
              <a:rPr lang="en-US" sz="1600" b="1" dirty="0">
                <a:solidFill>
                  <a:srgbClr val="F1F5F9"/>
                </a:solidFill>
                <a:latin typeface="Arial" pitchFamily="34" charset="0"/>
                <a:ea typeface="Arial" pitchFamily="34" charset="-122"/>
                <a:cs typeface="Arial" pitchFamily="34" charset="-120"/>
              </a:rPr>
              <a:t>configurations per task</a:t>
            </a:r>
            <a:endParaRPr lang="en-US" sz="1600" dirty="0"/>
          </a:p>
        </p:txBody>
      </p:sp>
      <p:sp>
        <p:nvSpPr>
          <p:cNvPr id="9" name="Text 7"/>
          <p:cNvSpPr txBox="1"/>
          <p:nvPr/>
        </p:nvSpPr>
        <p:spPr>
          <a:xfrm>
            <a:off x="777240" y="2843784"/>
            <a:ext cx="3164738" cy="850392"/>
          </a:xfrm>
          <a:prstGeom prst="rect">
            <a:avLst/>
          </a:prstGeom>
          <a:noFill/>
          <a:ln/>
        </p:spPr>
        <p:txBody>
          <a:bodyPr wrap="square" lIns="0" tIns="0" rIns="0" bIns="0" rtlCol="0" anchor="t"/>
          <a:lstStyle/>
          <a:p>
            <a:pPr algn="l" indent="0" marL="0">
              <a:buNone/>
            </a:pPr>
            <a:r>
              <a:rPr lang="en-US" sz="1350" dirty="0">
                <a:solidFill>
                  <a:srgbClr val="A7B4C8"/>
                </a:solidFill>
                <a:latin typeface="Arial" pitchFamily="34" charset="0"/>
                <a:ea typeface="Arial" pitchFamily="34" charset="-122"/>
                <a:cs typeface="Arial" pitchFamily="34" charset="-120"/>
              </a:rPr>
              <a:t>Paper: “up to 152 configurations” = the miranda-v2 sweep: 135 steered + 9 random + 8 positive-only</a:t>
            </a:r>
            <a:endParaRPr lang="en-US" sz="1350" dirty="0"/>
          </a:p>
        </p:txBody>
      </p:sp>
      <p:sp>
        <p:nvSpPr>
          <p:cNvPr id="10" name="Shape 8"/>
          <p:cNvSpPr/>
          <p:nvPr/>
        </p:nvSpPr>
        <p:spPr>
          <a:xfrm>
            <a:off x="4307738" y="1691640"/>
            <a:ext cx="3576218" cy="2084832"/>
          </a:xfrm>
          <a:prstGeom prst="roundRect">
            <a:avLst>
              <a:gd name="adj" fmla="val 3509"/>
            </a:avLst>
          </a:prstGeom>
          <a:solidFill>
            <a:srgbClr val="131E33"/>
          </a:solidFill>
          <a:ln/>
        </p:spPr>
      </p:sp>
      <p:sp>
        <p:nvSpPr>
          <p:cNvPr id="11" name="Text 9"/>
          <p:cNvSpPr txBox="1"/>
          <p:nvPr/>
        </p:nvSpPr>
        <p:spPr>
          <a:xfrm>
            <a:off x="4536338" y="1828800"/>
            <a:ext cx="3119018" cy="640080"/>
          </a:xfrm>
          <a:prstGeom prst="rect">
            <a:avLst/>
          </a:prstGeom>
          <a:noFill/>
          <a:ln/>
        </p:spPr>
        <p:txBody>
          <a:bodyPr wrap="square" lIns="0" tIns="0" rIns="0" bIns="0" rtlCol="0" anchor="ctr"/>
          <a:lstStyle/>
          <a:p>
            <a:pPr algn="l" indent="0" marL="0">
              <a:buNone/>
            </a:pPr>
            <a:r>
              <a:rPr lang="en-US" sz="3400" b="1" dirty="0">
                <a:solidFill>
                  <a:srgbClr val="4CC38A"/>
                </a:solidFill>
                <a:latin typeface="Arial" pitchFamily="34" charset="0"/>
                <a:ea typeface="Arial" pitchFamily="34" charset="-122"/>
                <a:cs typeface="Arial" pitchFamily="34" charset="-120"/>
              </a:rPr>
              <a:t>18</a:t>
            </a:r>
            <a:endParaRPr lang="en-US" sz="3400" dirty="0"/>
          </a:p>
        </p:txBody>
      </p:sp>
      <p:sp>
        <p:nvSpPr>
          <p:cNvPr id="12" name="Text 10"/>
          <p:cNvSpPr txBox="1"/>
          <p:nvPr/>
        </p:nvSpPr>
        <p:spPr>
          <a:xfrm>
            <a:off x="4536338" y="2496312"/>
            <a:ext cx="3119018" cy="310896"/>
          </a:xfrm>
          <a:prstGeom prst="rect">
            <a:avLst/>
          </a:prstGeom>
          <a:noFill/>
          <a:ln/>
        </p:spPr>
        <p:txBody>
          <a:bodyPr wrap="square" lIns="0" tIns="0" rIns="0" bIns="0" rtlCol="0" anchor="t"/>
          <a:lstStyle/>
          <a:p>
            <a:pPr algn="l" indent="0" marL="0">
              <a:buNone/>
            </a:pPr>
            <a:r>
              <a:rPr lang="en-US" sz="1600" b="1" dirty="0">
                <a:solidFill>
                  <a:srgbClr val="F1F5F9"/>
                </a:solidFill>
                <a:latin typeface="Arial" pitchFamily="34" charset="0"/>
                <a:ea typeface="Arial" pitchFamily="34" charset="-122"/>
                <a:cs typeface="Arial" pitchFamily="34" charset="-120"/>
              </a:rPr>
              <a:t>“Selected Grid” (π0.5 LIBERO)</a:t>
            </a:r>
            <a:endParaRPr lang="en-US" sz="1600" dirty="0"/>
          </a:p>
        </p:txBody>
      </p:sp>
      <p:sp>
        <p:nvSpPr>
          <p:cNvPr id="13" name="Text 11"/>
          <p:cNvSpPr txBox="1"/>
          <p:nvPr/>
        </p:nvSpPr>
        <p:spPr>
          <a:xfrm>
            <a:off x="4536338" y="2843784"/>
            <a:ext cx="3164738" cy="850392"/>
          </a:xfrm>
          <a:prstGeom prst="rect">
            <a:avLst/>
          </a:prstGeom>
          <a:noFill/>
          <a:ln/>
        </p:spPr>
        <p:txBody>
          <a:bodyPr wrap="square" lIns="0" tIns="0" rIns="0" bIns="0" rtlCol="0" anchor="t"/>
          <a:lstStyle/>
          <a:p>
            <a:pPr algn="l" indent="0" marL="0">
              <a:buNone/>
            </a:pPr>
            <a:r>
              <a:rPr lang="en-US" sz="1350" dirty="0">
                <a:solidFill>
                  <a:srgbClr val="A7B4C8"/>
                </a:solidFill>
                <a:latin typeface="Arial" pitchFamily="34" charset="0"/>
                <a:ea typeface="Arial" pitchFamily="34" charset="-122"/>
                <a:cs typeface="Arial" pitchFamily="34" charset="-120"/>
              </a:rPr>
              <a:t>= the count </a:t>
            </a:r>
            <a:pPr algn="l" indent="0" marL="0">
              <a:buNone/>
            </a:pPr>
            <a:r>
              <a:rPr lang="en-US" sz="1200" dirty="0">
                <a:solidFill>
                  <a:srgbClr val="A7B4C8"/>
                </a:solidFill>
                <a:latin typeface="Courier New" pitchFamily="34" charset="0"/>
                <a:ea typeface="Courier New" pitchFamily="34" charset="-122"/>
                <a:cs typeface="Courier New" pitchFamily="34" charset="-120"/>
              </a:rPr>
              <a:t>oracle_gap_table.py</a:t>
            </a:r>
            <a:pPr algn="l" indent="0" marL="0">
              <a:buNone/>
            </a:pPr>
            <a:r>
              <a:rPr lang="en-US" sz="1350" dirty="0">
                <a:solidFill>
                  <a:srgbClr val="A7B4C8"/>
                </a:solidFill>
                <a:latin typeface="Arial" pitchFamily="34" charset="0"/>
                <a:ea typeface="Arial" pitchFamily="34" charset="-122"/>
                <a:cs typeface="Arial" pitchFamily="34" charset="-120"/>
              </a:rPr>
              <a:t> derives from the sweep's condition names</a:t>
            </a:r>
            <a:endParaRPr lang="en-US" sz="1350" dirty="0"/>
          </a:p>
        </p:txBody>
      </p:sp>
      <p:sp>
        <p:nvSpPr>
          <p:cNvPr id="14" name="Shape 12"/>
          <p:cNvSpPr/>
          <p:nvPr/>
        </p:nvSpPr>
        <p:spPr>
          <a:xfrm>
            <a:off x="8066837" y="1691640"/>
            <a:ext cx="3576218" cy="2084832"/>
          </a:xfrm>
          <a:prstGeom prst="roundRect">
            <a:avLst>
              <a:gd name="adj" fmla="val 3509"/>
            </a:avLst>
          </a:prstGeom>
          <a:solidFill>
            <a:srgbClr val="131E33"/>
          </a:solidFill>
          <a:ln/>
        </p:spPr>
      </p:sp>
      <p:sp>
        <p:nvSpPr>
          <p:cNvPr id="15" name="Text 13"/>
          <p:cNvSpPr txBox="1"/>
          <p:nvPr/>
        </p:nvSpPr>
        <p:spPr>
          <a:xfrm>
            <a:off x="8295437" y="1828800"/>
            <a:ext cx="3119018" cy="640080"/>
          </a:xfrm>
          <a:prstGeom prst="rect">
            <a:avLst/>
          </a:prstGeom>
          <a:noFill/>
          <a:ln/>
        </p:spPr>
        <p:txBody>
          <a:bodyPr wrap="square" lIns="0" tIns="0" rIns="0" bIns="0" rtlCol="0" anchor="ctr"/>
          <a:lstStyle/>
          <a:p>
            <a:pPr algn="l" indent="0" marL="0">
              <a:buNone/>
            </a:pPr>
            <a:r>
              <a:rPr lang="en-US" sz="3400" b="1" dirty="0">
                <a:solidFill>
                  <a:srgbClr val="4CC38A"/>
                </a:solidFill>
                <a:latin typeface="Arial" pitchFamily="34" charset="0"/>
                <a:ea typeface="Arial" pitchFamily="34" charset="-122"/>
                <a:cs typeface="Arial" pitchFamily="34" charset="-120"/>
              </a:rPr>
              <a:t>a10.0</a:t>
            </a:r>
            <a:endParaRPr lang="en-US" sz="3400" dirty="0"/>
          </a:p>
        </p:txBody>
      </p:sp>
      <p:sp>
        <p:nvSpPr>
          <p:cNvPr id="16" name="Text 14"/>
          <p:cNvSpPr txBox="1"/>
          <p:nvPr/>
        </p:nvSpPr>
        <p:spPr>
          <a:xfrm>
            <a:off x="8295437" y="2496312"/>
            <a:ext cx="3119018" cy="310896"/>
          </a:xfrm>
          <a:prstGeom prst="rect">
            <a:avLst/>
          </a:prstGeom>
          <a:noFill/>
          <a:ln/>
        </p:spPr>
        <p:txBody>
          <a:bodyPr wrap="square" lIns="0" tIns="0" rIns="0" bIns="0" rtlCol="0" anchor="t"/>
          <a:lstStyle/>
          <a:p>
            <a:pPr algn="l" indent="0" marL="0">
              <a:buNone/>
            </a:pPr>
            <a:r>
              <a:rPr lang="en-US" sz="1600" b="1" dirty="0">
                <a:solidFill>
                  <a:srgbClr val="F1F5F9"/>
                </a:solidFill>
                <a:latin typeface="Arial" pitchFamily="34" charset="0"/>
                <a:ea typeface="Arial" pitchFamily="34" charset="-122"/>
                <a:cs typeface="Arial" pitchFamily="34" charset="-120"/>
              </a:rPr>
              <a:t>per-step “α = 10”</a:t>
            </a:r>
            <a:endParaRPr lang="en-US" sz="1600" dirty="0"/>
          </a:p>
        </p:txBody>
      </p:sp>
      <p:sp>
        <p:nvSpPr>
          <p:cNvPr id="17" name="Text 15"/>
          <p:cNvSpPr txBox="1"/>
          <p:nvPr/>
        </p:nvSpPr>
        <p:spPr>
          <a:xfrm>
            <a:off x="8295437" y="2843784"/>
            <a:ext cx="3164738" cy="850392"/>
          </a:xfrm>
          <a:prstGeom prst="rect">
            <a:avLst/>
          </a:prstGeom>
          <a:noFill/>
          <a:ln/>
        </p:spPr>
        <p:txBody>
          <a:bodyPr wrap="square" lIns="0" tIns="0" rIns="0" bIns="0" rtlCol="0" anchor="t"/>
          <a:lstStyle/>
          <a:p>
            <a:pPr algn="l" indent="0" marL="0">
              <a:buNone/>
            </a:pPr>
            <a:r>
              <a:rPr lang="en-US" sz="1350" dirty="0">
                <a:solidFill>
                  <a:srgbClr val="A7B4C8"/>
                </a:solidFill>
                <a:latin typeface="Arial" pitchFamily="34" charset="0"/>
                <a:ea typeface="Arial" pitchFamily="34" charset="-122"/>
                <a:cs typeface="Arial" pitchFamily="34" charset="-120"/>
              </a:rPr>
              <a:t>A loop label in the condition name </a:t>
            </a:r>
            <a:pPr algn="l" indent="0" marL="0">
              <a:buNone/>
            </a:pPr>
            <a:r>
              <a:rPr lang="en-US" sz="1200" dirty="0">
                <a:solidFill>
                  <a:srgbClr val="A7B4C8"/>
                </a:solidFill>
                <a:latin typeface="Courier New" pitchFamily="34" charset="0"/>
                <a:ea typeface="Courier New" pitchFamily="34" charset="-122"/>
                <a:cs typeface="Courier New" pitchFamily="34" charset="-120"/>
              </a:rPr>
              <a:t>per_step_*_L5_a10.0_b0.3</a:t>
            </a:r>
            <a:pPr algn="l" indent="0" marL="0">
              <a:buNone/>
            </a:pPr>
            <a:r>
              <a:rPr lang="en-US" sz="1350" dirty="0">
                <a:solidFill>
                  <a:srgbClr val="A7B4C8"/>
                </a:solidFill>
                <a:latin typeface="Arial" pitchFamily="34" charset="0"/>
                <a:ea typeface="Arial" pitchFamily="34" charset="-122"/>
                <a:cs typeface="Arial" pitchFamily="34" charset="-120"/>
              </a:rPr>
              <a:t>; α does not enter the per-step conceptor</a:t>
            </a:r>
            <a:endParaRPr lang="en-US" sz="1350" dirty="0"/>
          </a:p>
        </p:txBody>
      </p:sp>
      <p:sp>
        <p:nvSpPr>
          <p:cNvPr id="18" name="Shape 16"/>
          <p:cNvSpPr/>
          <p:nvPr/>
        </p:nvSpPr>
        <p:spPr>
          <a:xfrm>
            <a:off x="548640" y="3959352"/>
            <a:ext cx="3576218" cy="2084832"/>
          </a:xfrm>
          <a:prstGeom prst="roundRect">
            <a:avLst>
              <a:gd name="adj" fmla="val 3509"/>
            </a:avLst>
          </a:prstGeom>
          <a:solidFill>
            <a:srgbClr val="131E33"/>
          </a:solidFill>
          <a:ln/>
        </p:spPr>
      </p:sp>
      <p:sp>
        <p:nvSpPr>
          <p:cNvPr id="19" name="Text 17"/>
          <p:cNvSpPr txBox="1"/>
          <p:nvPr/>
        </p:nvSpPr>
        <p:spPr>
          <a:xfrm>
            <a:off x="777240" y="4096512"/>
            <a:ext cx="3119018" cy="640080"/>
          </a:xfrm>
          <a:prstGeom prst="rect">
            <a:avLst/>
          </a:prstGeom>
          <a:noFill/>
          <a:ln/>
        </p:spPr>
        <p:txBody>
          <a:bodyPr wrap="square" lIns="0" tIns="0" rIns="0" bIns="0" rtlCol="0" anchor="ctr"/>
          <a:lstStyle/>
          <a:p>
            <a:pPr algn="l" indent="0" marL="0">
              <a:buNone/>
            </a:pPr>
            <a:r>
              <a:rPr lang="en-US" sz="3400" b="1" dirty="0">
                <a:solidFill>
                  <a:srgbClr val="4CC38A"/>
                </a:solidFill>
                <a:latin typeface="Arial" pitchFamily="34" charset="0"/>
                <a:ea typeface="Arial" pitchFamily="34" charset="-122"/>
                <a:cs typeface="Arial" pitchFamily="34" charset="-120"/>
              </a:rPr>
              <a:t>10 / 10</a:t>
            </a:r>
            <a:endParaRPr lang="en-US" sz="3400" dirty="0"/>
          </a:p>
        </p:txBody>
      </p:sp>
      <p:sp>
        <p:nvSpPr>
          <p:cNvPr id="20" name="Text 18"/>
          <p:cNvSpPr txBox="1"/>
          <p:nvPr/>
        </p:nvSpPr>
        <p:spPr>
          <a:xfrm>
            <a:off x="777240" y="4764024"/>
            <a:ext cx="3119018" cy="310896"/>
          </a:xfrm>
          <a:prstGeom prst="rect">
            <a:avLst/>
          </a:prstGeom>
          <a:noFill/>
          <a:ln/>
        </p:spPr>
        <p:txBody>
          <a:bodyPr wrap="square" lIns="0" tIns="0" rIns="0" bIns="0" rtlCol="0" anchor="t"/>
          <a:lstStyle/>
          <a:p>
            <a:pPr algn="l" indent="0" marL="0">
              <a:buNone/>
            </a:pPr>
            <a:r>
              <a:rPr lang="en-US" sz="1600" b="1" dirty="0">
                <a:solidFill>
                  <a:srgbClr val="F1F5F9"/>
                </a:solidFill>
                <a:latin typeface="Arial" pitchFamily="34" charset="0"/>
                <a:ea typeface="Arial" pitchFamily="34" charset="-122"/>
                <a:cs typeface="Arial" pitchFamily="34" charset="-120"/>
              </a:rPr>
              <a:t>positive-only cells</a:t>
            </a:r>
            <a:endParaRPr lang="en-US" sz="1600" dirty="0"/>
          </a:p>
        </p:txBody>
      </p:sp>
      <p:sp>
        <p:nvSpPr>
          <p:cNvPr id="21" name="Text 19"/>
          <p:cNvSpPr txBox="1"/>
          <p:nvPr/>
        </p:nvSpPr>
        <p:spPr>
          <a:xfrm>
            <a:off x="777240" y="5111496"/>
            <a:ext cx="3164738" cy="850392"/>
          </a:xfrm>
          <a:prstGeom prst="rect">
            <a:avLst/>
          </a:prstGeom>
          <a:noFill/>
          <a:ln/>
        </p:spPr>
        <p:txBody>
          <a:bodyPr wrap="square" lIns="0" tIns="0" rIns="0" bIns="0" rtlCol="0" anchor="t"/>
          <a:lstStyle/>
          <a:p>
            <a:pPr algn="l" indent="0" marL="0">
              <a:buNone/>
            </a:pPr>
            <a:r>
              <a:rPr lang="en-US" sz="1350" dirty="0">
                <a:solidFill>
                  <a:srgbClr val="A7B4C8"/>
                </a:solidFill>
                <a:latin typeface="Arial" pitchFamily="34" charset="0"/>
                <a:ea typeface="Arial" pitchFamily="34" charset="-122"/>
                <a:cs typeface="Arial" pitchFamily="34" charset="-120"/>
              </a:rPr>
              <a:t>All inside the sweep grid L{5,11} × α{0.5,1} × β{0.1,0.3} (8 conditions), not Table 14's 60</a:t>
            </a:r>
            <a:endParaRPr lang="en-US" sz="1350" dirty="0"/>
          </a:p>
        </p:txBody>
      </p:sp>
      <p:sp>
        <p:nvSpPr>
          <p:cNvPr id="22" name="Shape 20"/>
          <p:cNvSpPr/>
          <p:nvPr/>
        </p:nvSpPr>
        <p:spPr>
          <a:xfrm>
            <a:off x="4307738" y="3959352"/>
            <a:ext cx="3576218" cy="2084832"/>
          </a:xfrm>
          <a:prstGeom prst="roundRect">
            <a:avLst>
              <a:gd name="adj" fmla="val 3509"/>
            </a:avLst>
          </a:prstGeom>
          <a:solidFill>
            <a:srgbClr val="131E33"/>
          </a:solidFill>
          <a:ln/>
        </p:spPr>
      </p:sp>
      <p:sp>
        <p:nvSpPr>
          <p:cNvPr id="23" name="Text 21"/>
          <p:cNvSpPr txBox="1"/>
          <p:nvPr/>
        </p:nvSpPr>
        <p:spPr>
          <a:xfrm>
            <a:off x="4536338" y="4096512"/>
            <a:ext cx="3119018" cy="640080"/>
          </a:xfrm>
          <a:prstGeom prst="rect">
            <a:avLst/>
          </a:prstGeom>
          <a:noFill/>
          <a:ln/>
        </p:spPr>
        <p:txBody>
          <a:bodyPr wrap="square" lIns="0" tIns="0" rIns="0" bIns="0" rtlCol="0" anchor="ctr"/>
          <a:lstStyle/>
          <a:p>
            <a:pPr algn="l" indent="0" marL="0">
              <a:buNone/>
            </a:pPr>
            <a:r>
              <a:rPr lang="en-US" sz="3400" b="1" dirty="0">
                <a:solidFill>
                  <a:srgbClr val="4CC38A"/>
                </a:solidFill>
                <a:latin typeface="Arial" pitchFamily="34" charset="0"/>
                <a:ea typeface="Arial" pitchFamily="34" charset="-122"/>
                <a:cs typeface="Arial" pitchFamily="34" charset="-120"/>
              </a:rPr>
              <a:t>k / 15</a:t>
            </a:r>
            <a:endParaRPr lang="en-US" sz="3400" dirty="0"/>
          </a:p>
        </p:txBody>
      </p:sp>
      <p:sp>
        <p:nvSpPr>
          <p:cNvPr id="24" name="Text 22"/>
          <p:cNvSpPr txBox="1"/>
          <p:nvPr/>
        </p:nvSpPr>
        <p:spPr>
          <a:xfrm>
            <a:off x="4536338" y="4764024"/>
            <a:ext cx="3119018" cy="310896"/>
          </a:xfrm>
          <a:prstGeom prst="rect">
            <a:avLst/>
          </a:prstGeom>
          <a:noFill/>
          <a:ln/>
        </p:spPr>
        <p:txBody>
          <a:bodyPr wrap="square" lIns="0" tIns="0" rIns="0" bIns="0" rtlCol="0" anchor="t"/>
          <a:lstStyle/>
          <a:p>
            <a:pPr algn="l" indent="0" marL="0">
              <a:buNone/>
            </a:pPr>
            <a:r>
              <a:rPr lang="en-US" sz="1600" b="1" dirty="0">
                <a:solidFill>
                  <a:srgbClr val="F1F5F9"/>
                </a:solidFill>
                <a:latin typeface="Arial" pitchFamily="34" charset="0"/>
                <a:ea typeface="Arial" pitchFamily="34" charset="-122"/>
                <a:cs typeface="Arial" pitchFamily="34" charset="-120"/>
              </a:rPr>
              <a:t>30 / 30 Table 4 cells</a:t>
            </a:r>
            <a:endParaRPr lang="en-US" sz="1600" dirty="0"/>
          </a:p>
        </p:txBody>
      </p:sp>
      <p:sp>
        <p:nvSpPr>
          <p:cNvPr id="25" name="Text 23"/>
          <p:cNvSpPr txBox="1"/>
          <p:nvPr/>
        </p:nvSpPr>
        <p:spPr>
          <a:xfrm>
            <a:off x="4536338" y="5111496"/>
            <a:ext cx="3164738" cy="850392"/>
          </a:xfrm>
          <a:prstGeom prst="rect">
            <a:avLst/>
          </a:prstGeom>
          <a:noFill/>
          <a:ln/>
        </p:spPr>
        <p:txBody>
          <a:bodyPr wrap="square" lIns="0" tIns="0" rIns="0" bIns="0" rtlCol="0" anchor="t"/>
          <a:lstStyle/>
          <a:p>
            <a:pPr algn="l" indent="0" marL="0">
              <a:buNone/>
            </a:pPr>
            <a:r>
              <a:rPr lang="en-US" sz="1350" dirty="0">
                <a:solidFill>
                  <a:srgbClr val="A7B4C8"/>
                </a:solidFill>
                <a:latin typeface="Arial" pitchFamily="34" charset="0"/>
                <a:ea typeface="Arial" pitchFamily="34" charset="-122"/>
                <a:cs typeface="Arial" pitchFamily="34" charset="-120"/>
              </a:rPr>
              <a:t>If N = 30: P(all 30 numerators even) = 4.0 × 10</a:t>
            </a:r>
            <a:pPr algn="l" indent="0" marL="0">
              <a:buNone/>
            </a:pPr>
            <a:r>
              <a:rPr lang="en-US" sz="1350" baseline="30000" dirty="0">
                <a:solidFill>
                  <a:srgbClr val="A7B4C8"/>
                </a:solidFill>
                <a:latin typeface="Arial" pitchFamily="34" charset="0"/>
                <a:ea typeface="Arial" pitchFamily="34" charset="-122"/>
                <a:cs typeface="Arial" pitchFamily="34" charset="-120"/>
              </a:rPr>
              <a:t>−9</a:t>
            </a:r>
            <a:pPr algn="l" indent="0" marL="0">
              <a:buNone/>
            </a:pPr>
            <a:r>
              <a:rPr lang="en-US" sz="1350" dirty="0">
                <a:solidFill>
                  <a:srgbClr val="A7B4C8"/>
                </a:solidFill>
                <a:latin typeface="Arial" pitchFamily="34" charset="0"/>
                <a:ea typeface="Arial" pitchFamily="34" charset="-122"/>
                <a:cs typeface="Arial" pitchFamily="34" charset="-120"/>
              </a:rPr>
              <a:t>. Control: Table 8 (16-env pipeline) shows k/16</a:t>
            </a:r>
            <a:endParaRPr lang="en-US" sz="1350" dirty="0"/>
          </a:p>
        </p:txBody>
      </p:sp>
      <p:sp>
        <p:nvSpPr>
          <p:cNvPr id="26" name="Shape 24"/>
          <p:cNvSpPr/>
          <p:nvPr/>
        </p:nvSpPr>
        <p:spPr>
          <a:xfrm>
            <a:off x="8066837" y="3959352"/>
            <a:ext cx="3576218" cy="2084832"/>
          </a:xfrm>
          <a:prstGeom prst="roundRect">
            <a:avLst>
              <a:gd name="adj" fmla="val 3509"/>
            </a:avLst>
          </a:prstGeom>
          <a:solidFill>
            <a:srgbClr val="131E33"/>
          </a:solidFill>
          <a:ln/>
        </p:spPr>
      </p:sp>
      <p:sp>
        <p:nvSpPr>
          <p:cNvPr id="27" name="Text 25"/>
          <p:cNvSpPr txBox="1"/>
          <p:nvPr/>
        </p:nvSpPr>
        <p:spPr>
          <a:xfrm>
            <a:off x="8295437" y="4096512"/>
            <a:ext cx="3119018" cy="640080"/>
          </a:xfrm>
          <a:prstGeom prst="rect">
            <a:avLst/>
          </a:prstGeom>
          <a:noFill/>
          <a:ln/>
        </p:spPr>
        <p:txBody>
          <a:bodyPr wrap="square" lIns="0" tIns="0" rIns="0" bIns="0" rtlCol="0" anchor="ctr"/>
          <a:lstStyle/>
          <a:p>
            <a:pPr algn="l" indent="0" marL="0">
              <a:buNone/>
            </a:pPr>
            <a:r>
              <a:rPr lang="en-US" sz="3400" b="1" dirty="0">
                <a:solidFill>
                  <a:srgbClr val="4CC38A"/>
                </a:solidFill>
                <a:latin typeface="Arial" pitchFamily="34" charset="0"/>
                <a:ea typeface="Arial" pitchFamily="34" charset="-122"/>
                <a:cs typeface="Arial" pitchFamily="34" charset="-120"/>
              </a:rPr>
              <a:t>Caption</a:t>
            </a:r>
            <a:endParaRPr lang="en-US" sz="3400" dirty="0"/>
          </a:p>
        </p:txBody>
      </p:sp>
      <p:sp>
        <p:nvSpPr>
          <p:cNvPr id="28" name="Text 26"/>
          <p:cNvSpPr txBox="1"/>
          <p:nvPr/>
        </p:nvSpPr>
        <p:spPr>
          <a:xfrm>
            <a:off x="8295437" y="4764024"/>
            <a:ext cx="3119018" cy="310896"/>
          </a:xfrm>
          <a:prstGeom prst="rect">
            <a:avLst/>
          </a:prstGeom>
          <a:noFill/>
          <a:ln/>
        </p:spPr>
        <p:txBody>
          <a:bodyPr wrap="square" lIns="0" tIns="0" rIns="0" bIns="0" rtlCol="0" anchor="t"/>
          <a:lstStyle/>
          <a:p>
            <a:pPr algn="l" indent="0" marL="0">
              <a:buNone/>
            </a:pPr>
            <a:r>
              <a:rPr lang="en-US" sz="1600" b="1" dirty="0">
                <a:solidFill>
                  <a:srgbClr val="F1F5F9"/>
                </a:solidFill>
                <a:latin typeface="Arial" pitchFamily="34" charset="0"/>
                <a:ea typeface="Arial" pitchFamily="34" charset="-122"/>
                <a:cs typeface="Arial" pitchFamily="34" charset="-120"/>
              </a:rPr>
              <a:t>Table 15</a:t>
            </a:r>
            <a:endParaRPr lang="en-US" sz="1600" dirty="0"/>
          </a:p>
        </p:txBody>
      </p:sp>
      <p:sp>
        <p:nvSpPr>
          <p:cNvPr id="29" name="Text 27"/>
          <p:cNvSpPr txBox="1"/>
          <p:nvPr/>
        </p:nvSpPr>
        <p:spPr>
          <a:xfrm>
            <a:off x="8295437" y="5111496"/>
            <a:ext cx="3164738" cy="850392"/>
          </a:xfrm>
          <a:prstGeom prst="rect">
            <a:avLst/>
          </a:prstGeom>
          <a:noFill/>
          <a:ln/>
        </p:spPr>
        <p:txBody>
          <a:bodyPr wrap="square" lIns="0" tIns="0" rIns="0" bIns="0" rtlCol="0" anchor="t"/>
          <a:lstStyle/>
          <a:p>
            <a:pPr algn="l" indent="0" marL="0">
              <a:buNone/>
            </a:pPr>
            <a:r>
              <a:rPr lang="en-US" sz="1350" dirty="0">
                <a:solidFill>
                  <a:srgbClr val="A7B4C8"/>
                </a:solidFill>
                <a:latin typeface="Arial" pitchFamily="34" charset="0"/>
                <a:ea typeface="Arial" pitchFamily="34" charset="-122"/>
                <a:cs typeface="Arial" pitchFamily="34" charset="-120"/>
              </a:rPr>
              <a:t>Near-verbatim rendering of the LaTeX f-string in </a:t>
            </a:r>
            <a:pPr algn="l" indent="0" marL="0">
              <a:buNone/>
            </a:pPr>
            <a:r>
              <a:rPr lang="en-US" sz="1200" dirty="0">
                <a:solidFill>
                  <a:srgbClr val="A7B4C8"/>
                </a:solidFill>
                <a:latin typeface="Courier New" pitchFamily="34" charset="0"/>
                <a:ea typeface="Courier New" pitchFamily="34" charset="-122"/>
                <a:cs typeface="Courier New" pitchFamily="34" charset="-120"/>
              </a:rPr>
              <a:t>oracle_gap_table.py</a:t>
            </a:r>
            <a:pPr algn="l" indent="0" marL="0">
              <a:buNone/>
            </a:pPr>
            <a:r>
              <a:rPr lang="en-US" sz="1350" dirty="0">
                <a:solidFill>
                  <a:srgbClr val="A7B4C8"/>
                </a:solidFill>
                <a:latin typeface="Arial" pitchFamily="34" charset="0"/>
                <a:ea typeface="Arial" pitchFamily="34" charset="-122"/>
                <a:cs typeface="Arial" pitchFamily="34" charset="-120"/>
              </a:rPr>
              <a:t>, same benchmark order</a:t>
            </a:r>
            <a:endParaRPr lang="en-US" sz="1350" dirty="0"/>
          </a:p>
        </p:txBody>
      </p:sp>
      <p:sp>
        <p:nvSpPr>
          <p:cNvPr id="30" name="Text 28"/>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Paper Tables 4, 8, 14, 15 [P] · miranda-v2 2fdc5ad / ec62cad [R] · phase6c_author_branch_archaeology.md §1, §5</a:t>
            </a:r>
            <a:endParaRPr lang="en-US" sz="1000" dirty="0"/>
          </a:p>
        </p:txBody>
      </p:sp>
      <p:sp>
        <p:nvSpPr>
          <p:cNvPr id="31" name="Text 29"/>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32" name="Text 30"/>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13 / 21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HISTORICAL PIPELINE · PHASE 6C</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miranda-v2, run as written: 12–13/15 on the fit states</a:t>
            </a:r>
            <a:endParaRPr lang="en-US" sz="3000" dirty="0"/>
          </a:p>
        </p:txBody>
      </p:sp>
      <p:sp>
        <p:nvSpPr>
          <p:cNvPr id="4" name="Shape 2"/>
          <p:cNvSpPr/>
          <p:nvPr/>
        </p:nvSpPr>
        <p:spPr>
          <a:xfrm>
            <a:off x="1143000" y="5120640"/>
            <a:ext cx="6309360" cy="0"/>
          </a:xfrm>
          <a:prstGeom prst="line">
            <a:avLst/>
          </a:prstGeom>
          <a:noFill/>
          <a:ln w="9525">
            <a:solidFill>
              <a:srgbClr val="22314A"/>
            </a:solidFill>
            <a:prstDash val="solid"/>
          </a:ln>
        </p:spPr>
      </p:sp>
      <p:sp>
        <p:nvSpPr>
          <p:cNvPr id="5" name="Text 3"/>
          <p:cNvSpPr txBox="1"/>
          <p:nvPr/>
        </p:nvSpPr>
        <p:spPr>
          <a:xfrm>
            <a:off x="640080" y="4992624"/>
            <a:ext cx="411480" cy="256032"/>
          </a:xfrm>
          <a:prstGeom prst="rect">
            <a:avLst/>
          </a:prstGeom>
          <a:noFill/>
          <a:ln/>
        </p:spPr>
        <p:txBody>
          <a:bodyPr wrap="square" lIns="0" tIns="0" rIns="0" bIns="0" rtlCol="0" anchor="t"/>
          <a:lstStyle/>
          <a:p>
            <a:pPr algn="r" indent="0" marL="0">
              <a:buNone/>
            </a:pPr>
            <a:r>
              <a:rPr lang="en-US" sz="1300" dirty="0">
                <a:solidFill>
                  <a:srgbClr val="6B7A93"/>
                </a:solidFill>
                <a:latin typeface="Arial" pitchFamily="34" charset="0"/>
                <a:ea typeface="Arial" pitchFamily="34" charset="-122"/>
                <a:cs typeface="Arial" pitchFamily="34" charset="-120"/>
              </a:rPr>
              <a:t>5</a:t>
            </a:r>
            <a:endParaRPr lang="en-US" sz="1300" dirty="0"/>
          </a:p>
        </p:txBody>
      </p:sp>
      <p:sp>
        <p:nvSpPr>
          <p:cNvPr id="6" name="Shape 4"/>
          <p:cNvSpPr/>
          <p:nvPr/>
        </p:nvSpPr>
        <p:spPr>
          <a:xfrm>
            <a:off x="1143000" y="4331970"/>
            <a:ext cx="6309360" cy="0"/>
          </a:xfrm>
          <a:prstGeom prst="line">
            <a:avLst/>
          </a:prstGeom>
          <a:noFill/>
          <a:ln w="9525">
            <a:solidFill>
              <a:srgbClr val="22314A"/>
            </a:solidFill>
            <a:prstDash val="solid"/>
          </a:ln>
        </p:spPr>
      </p:sp>
      <p:sp>
        <p:nvSpPr>
          <p:cNvPr id="7" name="Text 5"/>
          <p:cNvSpPr txBox="1"/>
          <p:nvPr/>
        </p:nvSpPr>
        <p:spPr>
          <a:xfrm>
            <a:off x="640080" y="4203954"/>
            <a:ext cx="411480" cy="256032"/>
          </a:xfrm>
          <a:prstGeom prst="rect">
            <a:avLst/>
          </a:prstGeom>
          <a:noFill/>
          <a:ln/>
        </p:spPr>
        <p:txBody>
          <a:bodyPr wrap="square" lIns="0" tIns="0" rIns="0" bIns="0" rtlCol="0" anchor="t"/>
          <a:lstStyle/>
          <a:p>
            <a:pPr algn="r" indent="0" marL="0">
              <a:buNone/>
            </a:pPr>
            <a:r>
              <a:rPr lang="en-US" sz="1300" dirty="0">
                <a:solidFill>
                  <a:srgbClr val="6B7A93"/>
                </a:solidFill>
                <a:latin typeface="Arial" pitchFamily="34" charset="0"/>
                <a:ea typeface="Arial" pitchFamily="34" charset="-122"/>
                <a:cs typeface="Arial" pitchFamily="34" charset="-120"/>
              </a:rPr>
              <a:t>7.5</a:t>
            </a:r>
            <a:endParaRPr lang="en-US" sz="1300" dirty="0"/>
          </a:p>
        </p:txBody>
      </p:sp>
      <p:sp>
        <p:nvSpPr>
          <p:cNvPr id="8" name="Shape 6"/>
          <p:cNvSpPr/>
          <p:nvPr/>
        </p:nvSpPr>
        <p:spPr>
          <a:xfrm>
            <a:off x="1143000" y="3543300"/>
            <a:ext cx="6309360" cy="0"/>
          </a:xfrm>
          <a:prstGeom prst="line">
            <a:avLst/>
          </a:prstGeom>
          <a:noFill/>
          <a:ln w="9525">
            <a:solidFill>
              <a:srgbClr val="22314A"/>
            </a:solidFill>
            <a:prstDash val="solid"/>
          </a:ln>
        </p:spPr>
      </p:sp>
      <p:sp>
        <p:nvSpPr>
          <p:cNvPr id="9" name="Text 7"/>
          <p:cNvSpPr txBox="1"/>
          <p:nvPr/>
        </p:nvSpPr>
        <p:spPr>
          <a:xfrm>
            <a:off x="640080" y="3415284"/>
            <a:ext cx="411480" cy="256032"/>
          </a:xfrm>
          <a:prstGeom prst="rect">
            <a:avLst/>
          </a:prstGeom>
          <a:noFill/>
          <a:ln/>
        </p:spPr>
        <p:txBody>
          <a:bodyPr wrap="square" lIns="0" tIns="0" rIns="0" bIns="0" rtlCol="0" anchor="t"/>
          <a:lstStyle/>
          <a:p>
            <a:pPr algn="r" indent="0" marL="0">
              <a:buNone/>
            </a:pPr>
            <a:r>
              <a:rPr lang="en-US" sz="1300" dirty="0">
                <a:solidFill>
                  <a:srgbClr val="6B7A93"/>
                </a:solidFill>
                <a:latin typeface="Arial" pitchFamily="34" charset="0"/>
                <a:ea typeface="Arial" pitchFamily="34" charset="-122"/>
                <a:cs typeface="Arial" pitchFamily="34" charset="-120"/>
              </a:rPr>
              <a:t>10</a:t>
            </a:r>
            <a:endParaRPr lang="en-US" sz="1300" dirty="0"/>
          </a:p>
        </p:txBody>
      </p:sp>
      <p:sp>
        <p:nvSpPr>
          <p:cNvPr id="10" name="Shape 8"/>
          <p:cNvSpPr/>
          <p:nvPr/>
        </p:nvSpPr>
        <p:spPr>
          <a:xfrm>
            <a:off x="1143000" y="2754630"/>
            <a:ext cx="6309360" cy="0"/>
          </a:xfrm>
          <a:prstGeom prst="line">
            <a:avLst/>
          </a:prstGeom>
          <a:noFill/>
          <a:ln w="9525">
            <a:solidFill>
              <a:srgbClr val="22314A"/>
            </a:solidFill>
            <a:prstDash val="solid"/>
          </a:ln>
        </p:spPr>
      </p:sp>
      <p:sp>
        <p:nvSpPr>
          <p:cNvPr id="11" name="Text 9"/>
          <p:cNvSpPr txBox="1"/>
          <p:nvPr/>
        </p:nvSpPr>
        <p:spPr>
          <a:xfrm>
            <a:off x="640080" y="2626614"/>
            <a:ext cx="411480" cy="256032"/>
          </a:xfrm>
          <a:prstGeom prst="rect">
            <a:avLst/>
          </a:prstGeom>
          <a:noFill/>
          <a:ln/>
        </p:spPr>
        <p:txBody>
          <a:bodyPr wrap="square" lIns="0" tIns="0" rIns="0" bIns="0" rtlCol="0" anchor="t"/>
          <a:lstStyle/>
          <a:p>
            <a:pPr algn="r" indent="0" marL="0">
              <a:buNone/>
            </a:pPr>
            <a:r>
              <a:rPr lang="en-US" sz="1300" dirty="0">
                <a:solidFill>
                  <a:srgbClr val="6B7A93"/>
                </a:solidFill>
                <a:latin typeface="Arial" pitchFamily="34" charset="0"/>
                <a:ea typeface="Arial" pitchFamily="34" charset="-122"/>
                <a:cs typeface="Arial" pitchFamily="34" charset="-120"/>
              </a:rPr>
              <a:t>12.5</a:t>
            </a:r>
            <a:endParaRPr lang="en-US" sz="1300" dirty="0"/>
          </a:p>
        </p:txBody>
      </p:sp>
      <p:sp>
        <p:nvSpPr>
          <p:cNvPr id="12" name="Shape 10"/>
          <p:cNvSpPr/>
          <p:nvPr/>
        </p:nvSpPr>
        <p:spPr>
          <a:xfrm>
            <a:off x="1143000" y="1965960"/>
            <a:ext cx="6309360" cy="0"/>
          </a:xfrm>
          <a:prstGeom prst="line">
            <a:avLst/>
          </a:prstGeom>
          <a:noFill/>
          <a:ln w="9525">
            <a:solidFill>
              <a:srgbClr val="22314A"/>
            </a:solidFill>
            <a:prstDash val="solid"/>
          </a:ln>
        </p:spPr>
      </p:sp>
      <p:sp>
        <p:nvSpPr>
          <p:cNvPr id="13" name="Text 11"/>
          <p:cNvSpPr txBox="1"/>
          <p:nvPr/>
        </p:nvSpPr>
        <p:spPr>
          <a:xfrm>
            <a:off x="640080" y="1837944"/>
            <a:ext cx="411480" cy="256032"/>
          </a:xfrm>
          <a:prstGeom prst="rect">
            <a:avLst/>
          </a:prstGeom>
          <a:noFill/>
          <a:ln/>
        </p:spPr>
        <p:txBody>
          <a:bodyPr wrap="square" lIns="0" tIns="0" rIns="0" bIns="0" rtlCol="0" anchor="t"/>
          <a:lstStyle/>
          <a:p>
            <a:pPr algn="r" indent="0" marL="0">
              <a:buNone/>
            </a:pPr>
            <a:r>
              <a:rPr lang="en-US" sz="1300" dirty="0">
                <a:solidFill>
                  <a:srgbClr val="6B7A93"/>
                </a:solidFill>
                <a:latin typeface="Arial" pitchFamily="34" charset="0"/>
                <a:ea typeface="Arial" pitchFamily="34" charset="-122"/>
                <a:cs typeface="Arial" pitchFamily="34" charset="-120"/>
              </a:rPr>
              <a:t>15</a:t>
            </a:r>
            <a:endParaRPr lang="en-US" sz="1300" dirty="0"/>
          </a:p>
        </p:txBody>
      </p:sp>
      <p:sp>
        <p:nvSpPr>
          <p:cNvPr id="14" name="Text 12"/>
          <p:cNvSpPr txBox="1"/>
          <p:nvPr/>
        </p:nvSpPr>
        <p:spPr>
          <a:xfrm>
            <a:off x="594360" y="1508760"/>
            <a:ext cx="5486400" cy="256032"/>
          </a:xfrm>
          <a:prstGeom prst="rect">
            <a:avLst/>
          </a:prstGeom>
          <a:noFill/>
          <a:ln/>
        </p:spPr>
        <p:txBody>
          <a:bodyPr wrap="square" lIns="0" tIns="0" rIns="0" bIns="0" rtlCol="0" anchor="t"/>
          <a:lstStyle/>
          <a:p>
            <a:pPr algn="l" indent="0" marL="0">
              <a:buNone/>
            </a:pPr>
            <a:r>
              <a:rPr lang="en-US" sz="1300" dirty="0">
                <a:solidFill>
                  <a:srgbClr val="6B7A93"/>
                </a:solidFill>
                <a:latin typeface="Arial" pitchFamily="34" charset="0"/>
                <a:ea typeface="Arial" pitchFamily="34" charset="-122"/>
                <a:cs typeface="Arial" pitchFamily="34" charset="-120"/>
              </a:rPr>
              <a:t>Successes / 15 · states 0–14 (= fit states) · whiskers: Wilson 95%</a:t>
            </a:r>
            <a:endParaRPr lang="en-US" sz="1300" dirty="0"/>
          </a:p>
        </p:txBody>
      </p:sp>
      <p:sp>
        <p:nvSpPr>
          <p:cNvPr id="15" name="Shape 13"/>
          <p:cNvSpPr/>
          <p:nvPr/>
        </p:nvSpPr>
        <p:spPr>
          <a:xfrm>
            <a:off x="1143000" y="2281428"/>
            <a:ext cx="6309360" cy="0"/>
          </a:xfrm>
          <a:prstGeom prst="line">
            <a:avLst/>
          </a:prstGeom>
          <a:noFill/>
          <a:ln w="28575">
            <a:solidFill>
              <a:srgbClr val="F59E0B"/>
            </a:solidFill>
            <a:prstDash val="dash"/>
          </a:ln>
        </p:spPr>
      </p:sp>
      <p:sp>
        <p:nvSpPr>
          <p:cNvPr id="16" name="Text 14"/>
          <p:cNvSpPr txBox="1"/>
          <p:nvPr/>
        </p:nvSpPr>
        <p:spPr>
          <a:xfrm>
            <a:off x="4526280" y="1952244"/>
            <a:ext cx="2926080" cy="274320"/>
          </a:xfrm>
          <a:prstGeom prst="rect">
            <a:avLst/>
          </a:prstGeom>
          <a:noFill/>
          <a:ln/>
        </p:spPr>
        <p:txBody>
          <a:bodyPr wrap="square" lIns="0" tIns="0" rIns="0" bIns="0" rtlCol="0" anchor="t"/>
          <a:lstStyle/>
          <a:p>
            <a:pPr algn="r" indent="0" marL="0">
              <a:buNone/>
            </a:pPr>
            <a:r>
              <a:rPr lang="en-US" sz="1300" b="1" dirty="0">
                <a:solidFill>
                  <a:srgbClr val="F59E0B"/>
                </a:solidFill>
                <a:latin typeface="Arial" pitchFamily="34" charset="0"/>
                <a:ea typeface="Arial" pitchFamily="34" charset="-122"/>
                <a:cs typeface="Arial" pitchFamily="34" charset="-120"/>
              </a:rPr>
              <a:t>Paper Global 0.93 ≙ 14/15</a:t>
            </a:r>
            <a:endParaRPr lang="en-US" sz="1300" dirty="0"/>
          </a:p>
        </p:txBody>
      </p:sp>
      <p:sp>
        <p:nvSpPr>
          <p:cNvPr id="17" name="Shape 15"/>
          <p:cNvSpPr/>
          <p:nvPr/>
        </p:nvSpPr>
        <p:spPr>
          <a:xfrm>
            <a:off x="1481328" y="2141045"/>
            <a:ext cx="0" cy="1618351"/>
          </a:xfrm>
          <a:prstGeom prst="line">
            <a:avLst/>
          </a:prstGeom>
          <a:noFill/>
          <a:ln w="15875">
            <a:solidFill>
              <a:srgbClr val="38BDF8"/>
            </a:solidFill>
            <a:prstDash val="solid"/>
          </a:ln>
        </p:spPr>
      </p:sp>
      <p:sp>
        <p:nvSpPr>
          <p:cNvPr id="18" name="Shape 16"/>
          <p:cNvSpPr/>
          <p:nvPr/>
        </p:nvSpPr>
        <p:spPr>
          <a:xfrm>
            <a:off x="1426464" y="2141045"/>
            <a:ext cx="109728" cy="0"/>
          </a:xfrm>
          <a:prstGeom prst="line">
            <a:avLst/>
          </a:prstGeom>
          <a:noFill/>
          <a:ln w="15875">
            <a:solidFill>
              <a:srgbClr val="38BDF8"/>
            </a:solidFill>
            <a:prstDash val="solid"/>
          </a:ln>
        </p:spPr>
      </p:sp>
      <p:sp>
        <p:nvSpPr>
          <p:cNvPr id="19" name="Shape 17"/>
          <p:cNvSpPr/>
          <p:nvPr/>
        </p:nvSpPr>
        <p:spPr>
          <a:xfrm>
            <a:off x="1426464" y="3759396"/>
            <a:ext cx="109728" cy="0"/>
          </a:xfrm>
          <a:prstGeom prst="line">
            <a:avLst/>
          </a:prstGeom>
          <a:noFill/>
          <a:ln w="15875">
            <a:solidFill>
              <a:srgbClr val="38BDF8"/>
            </a:solidFill>
            <a:prstDash val="solid"/>
          </a:ln>
        </p:spPr>
      </p:sp>
      <p:sp>
        <p:nvSpPr>
          <p:cNvPr id="20" name="Shape 18"/>
          <p:cNvSpPr/>
          <p:nvPr/>
        </p:nvSpPr>
        <p:spPr>
          <a:xfrm>
            <a:off x="1362456" y="2478024"/>
            <a:ext cx="237744" cy="237744"/>
          </a:xfrm>
          <a:prstGeom prst="ellipse">
            <a:avLst/>
          </a:prstGeom>
          <a:solidFill>
            <a:srgbClr val="38BDF8"/>
          </a:solidFill>
          <a:ln w="9525">
            <a:solidFill>
              <a:srgbClr val="38BDF8"/>
            </a:solidFill>
            <a:prstDash val="solid"/>
          </a:ln>
        </p:spPr>
      </p:sp>
      <p:sp>
        <p:nvSpPr>
          <p:cNvPr id="21" name="Text 19"/>
          <p:cNvSpPr txBox="1"/>
          <p:nvPr/>
        </p:nvSpPr>
        <p:spPr>
          <a:xfrm>
            <a:off x="1664208" y="2368296"/>
            <a:ext cx="822960" cy="457200"/>
          </a:xfrm>
          <a:prstGeom prst="rect">
            <a:avLst/>
          </a:prstGeom>
          <a:noFill/>
          <a:ln/>
        </p:spPr>
        <p:txBody>
          <a:bodyPr wrap="square" lIns="0" tIns="0" rIns="0" bIns="0" rtlCol="0" anchor="t"/>
          <a:lstStyle/>
          <a:p>
            <a:pPr algn="l" indent="0" marL="0">
              <a:buNone/>
            </a:pPr>
            <a:r>
              <a:rPr lang="en-US" sz="1300" b="1" dirty="0">
                <a:solidFill>
                  <a:srgbClr val="38BDF8"/>
                </a:solidFill>
                <a:latin typeface="Arial" pitchFamily="34" charset="0"/>
                <a:ea typeface="Arial" pitchFamily="34" charset="-122"/>
                <a:cs typeface="Arial" pitchFamily="34" charset="-120"/>
              </a:rPr>
              <a:t>13/15</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run1</a:t>
            </a:r>
            <a:endParaRPr lang="en-US" sz="1300" dirty="0"/>
          </a:p>
        </p:txBody>
      </p:sp>
      <p:sp>
        <p:nvSpPr>
          <p:cNvPr id="22" name="Shape 20"/>
          <p:cNvSpPr/>
          <p:nvPr/>
        </p:nvSpPr>
        <p:spPr>
          <a:xfrm>
            <a:off x="2395728" y="2297201"/>
            <a:ext cx="0" cy="1807632"/>
          </a:xfrm>
          <a:prstGeom prst="line">
            <a:avLst/>
          </a:prstGeom>
          <a:noFill/>
          <a:ln w="15875">
            <a:solidFill>
              <a:srgbClr val="38BDF8"/>
            </a:solidFill>
            <a:prstDash val="solid"/>
          </a:ln>
        </p:spPr>
      </p:sp>
      <p:sp>
        <p:nvSpPr>
          <p:cNvPr id="23" name="Shape 21"/>
          <p:cNvSpPr/>
          <p:nvPr/>
        </p:nvSpPr>
        <p:spPr>
          <a:xfrm>
            <a:off x="2340864" y="2297201"/>
            <a:ext cx="109728" cy="0"/>
          </a:xfrm>
          <a:prstGeom prst="line">
            <a:avLst/>
          </a:prstGeom>
          <a:noFill/>
          <a:ln w="15875">
            <a:solidFill>
              <a:srgbClr val="38BDF8"/>
            </a:solidFill>
            <a:prstDash val="solid"/>
          </a:ln>
        </p:spPr>
      </p:sp>
      <p:sp>
        <p:nvSpPr>
          <p:cNvPr id="24" name="Shape 22"/>
          <p:cNvSpPr/>
          <p:nvPr/>
        </p:nvSpPr>
        <p:spPr>
          <a:xfrm>
            <a:off x="2340864" y="4104833"/>
            <a:ext cx="109728" cy="0"/>
          </a:xfrm>
          <a:prstGeom prst="line">
            <a:avLst/>
          </a:prstGeom>
          <a:noFill/>
          <a:ln w="15875">
            <a:solidFill>
              <a:srgbClr val="38BDF8"/>
            </a:solidFill>
            <a:prstDash val="solid"/>
          </a:ln>
        </p:spPr>
      </p:sp>
      <p:sp>
        <p:nvSpPr>
          <p:cNvPr id="25" name="Shape 23"/>
          <p:cNvSpPr/>
          <p:nvPr/>
        </p:nvSpPr>
        <p:spPr>
          <a:xfrm>
            <a:off x="2276856" y="2793492"/>
            <a:ext cx="237744" cy="237744"/>
          </a:xfrm>
          <a:prstGeom prst="ellipse">
            <a:avLst/>
          </a:prstGeom>
          <a:solidFill>
            <a:srgbClr val="38BDF8"/>
          </a:solidFill>
          <a:ln w="9525">
            <a:solidFill>
              <a:srgbClr val="38BDF8"/>
            </a:solidFill>
            <a:prstDash val="solid"/>
          </a:ln>
        </p:spPr>
      </p:sp>
      <p:sp>
        <p:nvSpPr>
          <p:cNvPr id="26" name="Text 24"/>
          <p:cNvSpPr txBox="1"/>
          <p:nvPr/>
        </p:nvSpPr>
        <p:spPr>
          <a:xfrm>
            <a:off x="2578608" y="2683764"/>
            <a:ext cx="822960" cy="457200"/>
          </a:xfrm>
          <a:prstGeom prst="rect">
            <a:avLst/>
          </a:prstGeom>
          <a:noFill/>
          <a:ln/>
        </p:spPr>
        <p:txBody>
          <a:bodyPr wrap="square" lIns="0" tIns="0" rIns="0" bIns="0" rtlCol="0" anchor="t"/>
          <a:lstStyle/>
          <a:p>
            <a:pPr algn="l" indent="0" marL="0">
              <a:buNone/>
            </a:pPr>
            <a:r>
              <a:rPr lang="en-US" sz="1300" b="1" dirty="0">
                <a:solidFill>
                  <a:srgbClr val="38BDF8"/>
                </a:solidFill>
                <a:latin typeface="Arial" pitchFamily="34" charset="0"/>
                <a:ea typeface="Arial" pitchFamily="34" charset="-122"/>
                <a:cs typeface="Arial" pitchFamily="34" charset="-120"/>
              </a:rPr>
              <a:t>12/15</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run2a</a:t>
            </a:r>
            <a:endParaRPr lang="en-US" sz="1300" dirty="0"/>
          </a:p>
        </p:txBody>
      </p:sp>
      <p:sp>
        <p:nvSpPr>
          <p:cNvPr id="27" name="Text 25"/>
          <p:cNvSpPr txBox="1"/>
          <p:nvPr/>
        </p:nvSpPr>
        <p:spPr>
          <a:xfrm>
            <a:off x="1188720" y="5230368"/>
            <a:ext cx="2011680" cy="566928"/>
          </a:xfrm>
          <a:prstGeom prst="rect">
            <a:avLst/>
          </a:prstGeom>
          <a:noFill/>
          <a:ln/>
        </p:spPr>
        <p:txBody>
          <a:bodyPr wrap="square" lIns="0" tIns="0" rIns="0" bIns="0" rtlCol="0" anchor="t"/>
          <a:lstStyle/>
          <a:p>
            <a:pPr algn="ctr" indent="0" marL="0">
              <a:buNone/>
            </a:pPr>
            <a:r>
              <a:rPr lang="en-US" sz="1500" b="1" dirty="0">
                <a:solidFill>
                  <a:srgbClr val="F1F5F9"/>
                </a:solidFill>
                <a:latin typeface="Arial" pitchFamily="34" charset="0"/>
                <a:ea typeface="Arial" pitchFamily="34" charset="-122"/>
                <a:cs typeface="Arial" pitchFamily="34" charset="-120"/>
              </a:rPr>
              <a:t>Global</a:t>
            </a:r>
            <a:endParaRPr lang="en-US" sz="1500" dirty="0"/>
          </a:p>
          <a:p>
            <a:pPr algn="ctr" indent="0" marL="0">
              <a:buNone/>
            </a:pPr>
            <a:r>
              <a:rPr lang="en-US" sz="1500" dirty="0">
                <a:solidFill>
                  <a:srgbClr val="6B7A93"/>
                </a:solidFill>
                <a:latin typeface="Arial" pitchFamily="34" charset="0"/>
                <a:ea typeface="Arial" pitchFamily="34" charset="-122"/>
                <a:cs typeface="Arial" pitchFamily="34" charset="-120"/>
              </a:rPr>
              <a:t>L5 · α 0.5 · β 0.1</a:t>
            </a:r>
            <a:endParaRPr lang="en-US" sz="1500" dirty="0"/>
          </a:p>
        </p:txBody>
      </p:sp>
      <p:sp>
        <p:nvSpPr>
          <p:cNvPr id="28" name="Shape 26"/>
          <p:cNvSpPr/>
          <p:nvPr/>
        </p:nvSpPr>
        <p:spPr>
          <a:xfrm>
            <a:off x="3127248" y="2481750"/>
            <a:ext cx="0" cy="1944860"/>
          </a:xfrm>
          <a:prstGeom prst="line">
            <a:avLst/>
          </a:prstGeom>
          <a:noFill/>
          <a:ln w="15875">
            <a:solidFill>
              <a:srgbClr val="A3AEC2"/>
            </a:solidFill>
            <a:prstDash val="solid"/>
          </a:ln>
        </p:spPr>
      </p:sp>
      <p:sp>
        <p:nvSpPr>
          <p:cNvPr id="29" name="Shape 27"/>
          <p:cNvSpPr/>
          <p:nvPr/>
        </p:nvSpPr>
        <p:spPr>
          <a:xfrm>
            <a:off x="3072384" y="2481750"/>
            <a:ext cx="109728" cy="0"/>
          </a:xfrm>
          <a:prstGeom prst="line">
            <a:avLst/>
          </a:prstGeom>
          <a:noFill/>
          <a:ln w="15875">
            <a:solidFill>
              <a:srgbClr val="A3AEC2"/>
            </a:solidFill>
            <a:prstDash val="solid"/>
          </a:ln>
        </p:spPr>
      </p:sp>
      <p:sp>
        <p:nvSpPr>
          <p:cNvPr id="30" name="Shape 28"/>
          <p:cNvSpPr/>
          <p:nvPr/>
        </p:nvSpPr>
        <p:spPr>
          <a:xfrm>
            <a:off x="3072384" y="4426610"/>
            <a:ext cx="109728" cy="0"/>
          </a:xfrm>
          <a:prstGeom prst="line">
            <a:avLst/>
          </a:prstGeom>
          <a:noFill/>
          <a:ln w="15875">
            <a:solidFill>
              <a:srgbClr val="A3AEC2"/>
            </a:solidFill>
            <a:prstDash val="solid"/>
          </a:ln>
        </p:spPr>
      </p:sp>
      <p:sp>
        <p:nvSpPr>
          <p:cNvPr id="31" name="Shape 29"/>
          <p:cNvSpPr/>
          <p:nvPr/>
        </p:nvSpPr>
        <p:spPr>
          <a:xfrm>
            <a:off x="3008376" y="3108960"/>
            <a:ext cx="237744" cy="237744"/>
          </a:xfrm>
          <a:prstGeom prst="ellipse">
            <a:avLst/>
          </a:prstGeom>
          <a:solidFill>
            <a:srgbClr val="A3AEC2"/>
          </a:solidFill>
          <a:ln w="9525">
            <a:solidFill>
              <a:srgbClr val="A3AEC2"/>
            </a:solidFill>
            <a:prstDash val="solid"/>
          </a:ln>
        </p:spPr>
      </p:sp>
      <p:sp>
        <p:nvSpPr>
          <p:cNvPr id="32" name="Text 30"/>
          <p:cNvSpPr txBox="1"/>
          <p:nvPr/>
        </p:nvSpPr>
        <p:spPr>
          <a:xfrm>
            <a:off x="3310128" y="2999232"/>
            <a:ext cx="822960" cy="457200"/>
          </a:xfrm>
          <a:prstGeom prst="rect">
            <a:avLst/>
          </a:prstGeom>
          <a:noFill/>
          <a:ln/>
        </p:spPr>
        <p:txBody>
          <a:bodyPr wrap="square" lIns="0" tIns="0" rIns="0" bIns="0" rtlCol="0" anchor="t"/>
          <a:lstStyle/>
          <a:p>
            <a:pPr algn="l" indent="0" marL="0">
              <a:buNone/>
            </a:pPr>
            <a:r>
              <a:rPr lang="en-US" sz="1300" b="1" dirty="0">
                <a:solidFill>
                  <a:srgbClr val="A3AEC2"/>
                </a:solidFill>
                <a:latin typeface="Arial" pitchFamily="34" charset="0"/>
                <a:ea typeface="Arial" pitchFamily="34" charset="-122"/>
                <a:cs typeface="Arial" pitchFamily="34" charset="-120"/>
              </a:rPr>
              <a:t>11/15</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run1</a:t>
            </a:r>
            <a:endParaRPr lang="en-US" sz="1300" dirty="0"/>
          </a:p>
        </p:txBody>
      </p:sp>
      <p:sp>
        <p:nvSpPr>
          <p:cNvPr id="33" name="Shape 31"/>
          <p:cNvSpPr/>
          <p:nvPr/>
        </p:nvSpPr>
        <p:spPr>
          <a:xfrm>
            <a:off x="4041648" y="2685227"/>
            <a:ext cx="0" cy="2039501"/>
          </a:xfrm>
          <a:prstGeom prst="line">
            <a:avLst/>
          </a:prstGeom>
          <a:noFill/>
          <a:ln w="15875">
            <a:solidFill>
              <a:srgbClr val="A3AEC2"/>
            </a:solidFill>
            <a:prstDash val="solid"/>
          </a:ln>
        </p:spPr>
      </p:sp>
      <p:sp>
        <p:nvSpPr>
          <p:cNvPr id="34" name="Shape 32"/>
          <p:cNvSpPr/>
          <p:nvPr/>
        </p:nvSpPr>
        <p:spPr>
          <a:xfrm>
            <a:off x="3986784" y="2685227"/>
            <a:ext cx="109728" cy="0"/>
          </a:xfrm>
          <a:prstGeom prst="line">
            <a:avLst/>
          </a:prstGeom>
          <a:noFill/>
          <a:ln w="15875">
            <a:solidFill>
              <a:srgbClr val="A3AEC2"/>
            </a:solidFill>
            <a:prstDash val="solid"/>
          </a:ln>
        </p:spPr>
      </p:sp>
      <p:sp>
        <p:nvSpPr>
          <p:cNvPr id="35" name="Shape 33"/>
          <p:cNvSpPr/>
          <p:nvPr/>
        </p:nvSpPr>
        <p:spPr>
          <a:xfrm>
            <a:off x="3986784" y="4724728"/>
            <a:ext cx="109728" cy="0"/>
          </a:xfrm>
          <a:prstGeom prst="line">
            <a:avLst/>
          </a:prstGeom>
          <a:noFill/>
          <a:ln w="15875">
            <a:solidFill>
              <a:srgbClr val="A3AEC2"/>
            </a:solidFill>
            <a:prstDash val="solid"/>
          </a:ln>
        </p:spPr>
      </p:sp>
      <p:sp>
        <p:nvSpPr>
          <p:cNvPr id="36" name="Shape 34"/>
          <p:cNvSpPr/>
          <p:nvPr/>
        </p:nvSpPr>
        <p:spPr>
          <a:xfrm>
            <a:off x="3922776" y="3424428"/>
            <a:ext cx="237744" cy="237744"/>
          </a:xfrm>
          <a:prstGeom prst="ellipse">
            <a:avLst/>
          </a:prstGeom>
          <a:solidFill>
            <a:srgbClr val="A3AEC2"/>
          </a:solidFill>
          <a:ln w="9525">
            <a:solidFill>
              <a:srgbClr val="A3AEC2"/>
            </a:solidFill>
            <a:prstDash val="solid"/>
          </a:ln>
        </p:spPr>
      </p:sp>
      <p:sp>
        <p:nvSpPr>
          <p:cNvPr id="37" name="Text 35"/>
          <p:cNvSpPr txBox="1"/>
          <p:nvPr/>
        </p:nvSpPr>
        <p:spPr>
          <a:xfrm>
            <a:off x="4224528" y="3314700"/>
            <a:ext cx="822960" cy="457200"/>
          </a:xfrm>
          <a:prstGeom prst="rect">
            <a:avLst/>
          </a:prstGeom>
          <a:noFill/>
          <a:ln/>
        </p:spPr>
        <p:txBody>
          <a:bodyPr wrap="square" lIns="0" tIns="0" rIns="0" bIns="0" rtlCol="0" anchor="t"/>
          <a:lstStyle/>
          <a:p>
            <a:pPr algn="l" indent="0" marL="0">
              <a:buNone/>
            </a:pPr>
            <a:r>
              <a:rPr lang="en-US" sz="1300" b="1" dirty="0">
                <a:solidFill>
                  <a:srgbClr val="A3AEC2"/>
                </a:solidFill>
                <a:latin typeface="Arial" pitchFamily="34" charset="0"/>
                <a:ea typeface="Arial" pitchFamily="34" charset="-122"/>
                <a:cs typeface="Arial" pitchFamily="34" charset="-120"/>
              </a:rPr>
              <a:t>10/15</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run2a</a:t>
            </a:r>
            <a:endParaRPr lang="en-US" sz="1300" dirty="0"/>
          </a:p>
        </p:txBody>
      </p:sp>
      <p:sp>
        <p:nvSpPr>
          <p:cNvPr id="38" name="Shape 36"/>
          <p:cNvSpPr/>
          <p:nvPr/>
        </p:nvSpPr>
        <p:spPr>
          <a:xfrm>
            <a:off x="4956048" y="2297201"/>
            <a:ext cx="0" cy="1807632"/>
          </a:xfrm>
          <a:prstGeom prst="line">
            <a:avLst/>
          </a:prstGeom>
          <a:noFill/>
          <a:ln w="15875">
            <a:solidFill>
              <a:srgbClr val="A3AEC2"/>
            </a:solidFill>
            <a:prstDash val="solid"/>
          </a:ln>
        </p:spPr>
      </p:sp>
      <p:sp>
        <p:nvSpPr>
          <p:cNvPr id="39" name="Shape 37"/>
          <p:cNvSpPr/>
          <p:nvPr/>
        </p:nvSpPr>
        <p:spPr>
          <a:xfrm>
            <a:off x="4901184" y="2297201"/>
            <a:ext cx="109728" cy="0"/>
          </a:xfrm>
          <a:prstGeom prst="line">
            <a:avLst/>
          </a:prstGeom>
          <a:noFill/>
          <a:ln w="15875">
            <a:solidFill>
              <a:srgbClr val="A3AEC2"/>
            </a:solidFill>
            <a:prstDash val="solid"/>
          </a:ln>
        </p:spPr>
      </p:sp>
      <p:sp>
        <p:nvSpPr>
          <p:cNvPr id="40" name="Shape 38"/>
          <p:cNvSpPr/>
          <p:nvPr/>
        </p:nvSpPr>
        <p:spPr>
          <a:xfrm>
            <a:off x="4901184" y="4104833"/>
            <a:ext cx="109728" cy="0"/>
          </a:xfrm>
          <a:prstGeom prst="line">
            <a:avLst/>
          </a:prstGeom>
          <a:noFill/>
          <a:ln w="15875">
            <a:solidFill>
              <a:srgbClr val="A3AEC2"/>
            </a:solidFill>
            <a:prstDash val="solid"/>
          </a:ln>
        </p:spPr>
      </p:sp>
      <p:sp>
        <p:nvSpPr>
          <p:cNvPr id="41" name="Shape 39"/>
          <p:cNvSpPr/>
          <p:nvPr/>
        </p:nvSpPr>
        <p:spPr>
          <a:xfrm>
            <a:off x="4837176" y="2793492"/>
            <a:ext cx="237744" cy="237744"/>
          </a:xfrm>
          <a:prstGeom prst="ellipse">
            <a:avLst/>
          </a:prstGeom>
          <a:solidFill>
            <a:srgbClr val="A3AEC2"/>
          </a:solidFill>
          <a:ln w="9525">
            <a:solidFill>
              <a:srgbClr val="A3AEC2"/>
            </a:solidFill>
            <a:prstDash val="solid"/>
          </a:ln>
        </p:spPr>
      </p:sp>
      <p:sp>
        <p:nvSpPr>
          <p:cNvPr id="42" name="Text 40"/>
          <p:cNvSpPr txBox="1"/>
          <p:nvPr/>
        </p:nvSpPr>
        <p:spPr>
          <a:xfrm>
            <a:off x="5138928" y="2683764"/>
            <a:ext cx="822960" cy="457200"/>
          </a:xfrm>
          <a:prstGeom prst="rect">
            <a:avLst/>
          </a:prstGeom>
          <a:noFill/>
          <a:ln/>
        </p:spPr>
        <p:txBody>
          <a:bodyPr wrap="square" lIns="0" tIns="0" rIns="0" bIns="0" rtlCol="0" anchor="t"/>
          <a:lstStyle/>
          <a:p>
            <a:pPr algn="l" indent="0" marL="0">
              <a:buNone/>
            </a:pPr>
            <a:r>
              <a:rPr lang="en-US" sz="1300" b="1" dirty="0">
                <a:solidFill>
                  <a:srgbClr val="A3AEC2"/>
                </a:solidFill>
                <a:latin typeface="Arial" pitchFamily="34" charset="0"/>
                <a:ea typeface="Arial" pitchFamily="34" charset="-122"/>
                <a:cs typeface="Arial" pitchFamily="34" charset="-120"/>
              </a:rPr>
              <a:t>12/15</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run2b</a:t>
            </a:r>
            <a:endParaRPr lang="en-US" sz="1300" dirty="0"/>
          </a:p>
        </p:txBody>
      </p:sp>
      <p:sp>
        <p:nvSpPr>
          <p:cNvPr id="43" name="Text 41"/>
          <p:cNvSpPr txBox="1"/>
          <p:nvPr/>
        </p:nvSpPr>
        <p:spPr>
          <a:xfrm>
            <a:off x="3291840" y="5230368"/>
            <a:ext cx="2011680" cy="566928"/>
          </a:xfrm>
          <a:prstGeom prst="rect">
            <a:avLst/>
          </a:prstGeom>
          <a:noFill/>
          <a:ln/>
        </p:spPr>
        <p:txBody>
          <a:bodyPr wrap="square" lIns="0" tIns="0" rIns="0" bIns="0" rtlCol="0" anchor="t"/>
          <a:lstStyle/>
          <a:p>
            <a:pPr algn="ctr" indent="0" marL="0">
              <a:buNone/>
            </a:pPr>
            <a:r>
              <a:rPr lang="en-US" sz="1500" b="1" dirty="0">
                <a:solidFill>
                  <a:srgbClr val="F1F5F9"/>
                </a:solidFill>
                <a:latin typeface="Arial" pitchFamily="34" charset="0"/>
                <a:ea typeface="Arial" pitchFamily="34" charset="-122"/>
                <a:cs typeface="Arial" pitchFamily="34" charset="-120"/>
              </a:rPr>
              <a:t>Unsteered baseline</a:t>
            </a:r>
            <a:endParaRPr lang="en-US" sz="1500" dirty="0"/>
          </a:p>
          <a:p>
            <a:pPr algn="ctr" indent="0" marL="0">
              <a:buNone/>
            </a:pPr>
            <a:r>
              <a:rPr lang="en-US" sz="1500" dirty="0">
                <a:solidFill>
                  <a:srgbClr val="6B7A93"/>
                </a:solidFill>
                <a:latin typeface="Arial" pitchFamily="34" charset="0"/>
                <a:ea typeface="Arial" pitchFamily="34" charset="-122"/>
                <a:cs typeface="Arial" pitchFamily="34" charset="-120"/>
              </a:rPr>
              <a:t>same sessions</a:t>
            </a:r>
            <a:endParaRPr lang="en-US" sz="1500" dirty="0"/>
          </a:p>
        </p:txBody>
      </p:sp>
      <p:sp>
        <p:nvSpPr>
          <p:cNvPr id="44" name="Shape 42"/>
          <p:cNvSpPr/>
          <p:nvPr/>
        </p:nvSpPr>
        <p:spPr>
          <a:xfrm>
            <a:off x="5687568" y="2481750"/>
            <a:ext cx="0" cy="1944860"/>
          </a:xfrm>
          <a:prstGeom prst="line">
            <a:avLst/>
          </a:prstGeom>
          <a:noFill/>
          <a:ln w="15875">
            <a:solidFill>
              <a:srgbClr val="7F8CA3"/>
            </a:solidFill>
            <a:prstDash val="solid"/>
          </a:ln>
        </p:spPr>
      </p:sp>
      <p:sp>
        <p:nvSpPr>
          <p:cNvPr id="45" name="Shape 43"/>
          <p:cNvSpPr/>
          <p:nvPr/>
        </p:nvSpPr>
        <p:spPr>
          <a:xfrm>
            <a:off x="5632704" y="2481750"/>
            <a:ext cx="109728" cy="0"/>
          </a:xfrm>
          <a:prstGeom prst="line">
            <a:avLst/>
          </a:prstGeom>
          <a:noFill/>
          <a:ln w="15875">
            <a:solidFill>
              <a:srgbClr val="7F8CA3"/>
            </a:solidFill>
            <a:prstDash val="solid"/>
          </a:ln>
        </p:spPr>
      </p:sp>
      <p:sp>
        <p:nvSpPr>
          <p:cNvPr id="46" name="Shape 44"/>
          <p:cNvSpPr/>
          <p:nvPr/>
        </p:nvSpPr>
        <p:spPr>
          <a:xfrm>
            <a:off x="5632704" y="4426610"/>
            <a:ext cx="109728" cy="0"/>
          </a:xfrm>
          <a:prstGeom prst="line">
            <a:avLst/>
          </a:prstGeom>
          <a:noFill/>
          <a:ln w="15875">
            <a:solidFill>
              <a:srgbClr val="7F8CA3"/>
            </a:solidFill>
            <a:prstDash val="solid"/>
          </a:ln>
        </p:spPr>
      </p:sp>
      <p:sp>
        <p:nvSpPr>
          <p:cNvPr id="47" name="Shape 45"/>
          <p:cNvSpPr/>
          <p:nvPr/>
        </p:nvSpPr>
        <p:spPr>
          <a:xfrm>
            <a:off x="5568696" y="3108960"/>
            <a:ext cx="237744" cy="237744"/>
          </a:xfrm>
          <a:prstGeom prst="ellipse">
            <a:avLst/>
          </a:prstGeom>
          <a:solidFill>
            <a:srgbClr val="7F8CA3"/>
          </a:solidFill>
          <a:ln w="9525">
            <a:solidFill>
              <a:srgbClr val="7F8CA3"/>
            </a:solidFill>
            <a:prstDash val="solid"/>
          </a:ln>
        </p:spPr>
      </p:sp>
      <p:sp>
        <p:nvSpPr>
          <p:cNvPr id="48" name="Text 46"/>
          <p:cNvSpPr txBox="1"/>
          <p:nvPr/>
        </p:nvSpPr>
        <p:spPr>
          <a:xfrm>
            <a:off x="5870448" y="2999232"/>
            <a:ext cx="822960" cy="457200"/>
          </a:xfrm>
          <a:prstGeom prst="rect">
            <a:avLst/>
          </a:prstGeom>
          <a:noFill/>
          <a:ln/>
        </p:spPr>
        <p:txBody>
          <a:bodyPr wrap="square" lIns="0" tIns="0" rIns="0" bIns="0" rtlCol="0" anchor="t"/>
          <a:lstStyle/>
          <a:p>
            <a:pPr algn="l" indent="0" marL="0">
              <a:buNone/>
            </a:pPr>
            <a:r>
              <a:rPr lang="en-US" sz="1300" b="1" dirty="0">
                <a:solidFill>
                  <a:srgbClr val="7F8CA3"/>
                </a:solidFill>
                <a:latin typeface="Arial" pitchFamily="34" charset="0"/>
                <a:ea typeface="Arial" pitchFamily="34" charset="-122"/>
                <a:cs typeface="Arial" pitchFamily="34" charset="-120"/>
              </a:rPr>
              <a:t>11/15</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run1</a:t>
            </a:r>
            <a:endParaRPr lang="en-US" sz="1300" dirty="0"/>
          </a:p>
        </p:txBody>
      </p:sp>
      <p:sp>
        <p:nvSpPr>
          <p:cNvPr id="49" name="Shape 47"/>
          <p:cNvSpPr/>
          <p:nvPr/>
        </p:nvSpPr>
        <p:spPr>
          <a:xfrm>
            <a:off x="6601968" y="2297201"/>
            <a:ext cx="0" cy="1807632"/>
          </a:xfrm>
          <a:prstGeom prst="line">
            <a:avLst/>
          </a:prstGeom>
          <a:noFill/>
          <a:ln w="15875">
            <a:solidFill>
              <a:srgbClr val="7F8CA3"/>
            </a:solidFill>
            <a:prstDash val="solid"/>
          </a:ln>
        </p:spPr>
      </p:sp>
      <p:sp>
        <p:nvSpPr>
          <p:cNvPr id="50" name="Shape 48"/>
          <p:cNvSpPr/>
          <p:nvPr/>
        </p:nvSpPr>
        <p:spPr>
          <a:xfrm>
            <a:off x="6547104" y="2297201"/>
            <a:ext cx="109728" cy="0"/>
          </a:xfrm>
          <a:prstGeom prst="line">
            <a:avLst/>
          </a:prstGeom>
          <a:noFill/>
          <a:ln w="15875">
            <a:solidFill>
              <a:srgbClr val="7F8CA3"/>
            </a:solidFill>
            <a:prstDash val="solid"/>
          </a:ln>
        </p:spPr>
      </p:sp>
      <p:sp>
        <p:nvSpPr>
          <p:cNvPr id="51" name="Shape 49"/>
          <p:cNvSpPr/>
          <p:nvPr/>
        </p:nvSpPr>
        <p:spPr>
          <a:xfrm>
            <a:off x="6547104" y="4104833"/>
            <a:ext cx="109728" cy="0"/>
          </a:xfrm>
          <a:prstGeom prst="line">
            <a:avLst/>
          </a:prstGeom>
          <a:noFill/>
          <a:ln w="15875">
            <a:solidFill>
              <a:srgbClr val="7F8CA3"/>
            </a:solidFill>
            <a:prstDash val="solid"/>
          </a:ln>
        </p:spPr>
      </p:sp>
      <p:sp>
        <p:nvSpPr>
          <p:cNvPr id="52" name="Shape 50"/>
          <p:cNvSpPr/>
          <p:nvPr/>
        </p:nvSpPr>
        <p:spPr>
          <a:xfrm>
            <a:off x="6483096" y="2793492"/>
            <a:ext cx="237744" cy="237744"/>
          </a:xfrm>
          <a:prstGeom prst="ellipse">
            <a:avLst/>
          </a:prstGeom>
          <a:solidFill>
            <a:srgbClr val="7F8CA3"/>
          </a:solidFill>
          <a:ln w="9525">
            <a:solidFill>
              <a:srgbClr val="7F8CA3"/>
            </a:solidFill>
            <a:prstDash val="solid"/>
          </a:ln>
        </p:spPr>
      </p:sp>
      <p:sp>
        <p:nvSpPr>
          <p:cNvPr id="53" name="Text 51"/>
          <p:cNvSpPr txBox="1"/>
          <p:nvPr/>
        </p:nvSpPr>
        <p:spPr>
          <a:xfrm>
            <a:off x="6784848" y="2683764"/>
            <a:ext cx="822960" cy="457200"/>
          </a:xfrm>
          <a:prstGeom prst="rect">
            <a:avLst/>
          </a:prstGeom>
          <a:noFill/>
          <a:ln/>
        </p:spPr>
        <p:txBody>
          <a:bodyPr wrap="square" lIns="0" tIns="0" rIns="0" bIns="0" rtlCol="0" anchor="t"/>
          <a:lstStyle/>
          <a:p>
            <a:pPr algn="l" indent="0" marL="0">
              <a:buNone/>
            </a:pPr>
            <a:r>
              <a:rPr lang="en-US" sz="1300" b="1" dirty="0">
                <a:solidFill>
                  <a:srgbClr val="7F8CA3"/>
                </a:solidFill>
                <a:latin typeface="Arial" pitchFamily="34" charset="0"/>
                <a:ea typeface="Arial" pitchFamily="34" charset="-122"/>
                <a:cs typeface="Arial" pitchFamily="34" charset="-120"/>
              </a:rPr>
              <a:t>12/15</a:t>
            </a:r>
            <a:endParaRPr lang="en-US" sz="1300" dirty="0"/>
          </a:p>
          <a:p>
            <a:pPr algn="l" indent="0" marL="0">
              <a:buNone/>
            </a:pPr>
            <a:r>
              <a:rPr lang="en-US" sz="1300" dirty="0">
                <a:solidFill>
                  <a:srgbClr val="6B7A93"/>
                </a:solidFill>
                <a:latin typeface="Arial" pitchFamily="34" charset="0"/>
                <a:ea typeface="Arial" pitchFamily="34" charset="-122"/>
                <a:cs typeface="Arial" pitchFamily="34" charset="-120"/>
              </a:rPr>
              <a:t>run2a</a:t>
            </a:r>
            <a:endParaRPr lang="en-US" sz="1300" dirty="0"/>
          </a:p>
        </p:txBody>
      </p:sp>
      <p:sp>
        <p:nvSpPr>
          <p:cNvPr id="54" name="Text 52"/>
          <p:cNvSpPr txBox="1"/>
          <p:nvPr/>
        </p:nvSpPr>
        <p:spPr>
          <a:xfrm>
            <a:off x="5394960" y="5230368"/>
            <a:ext cx="2011680" cy="566928"/>
          </a:xfrm>
          <a:prstGeom prst="rect">
            <a:avLst/>
          </a:prstGeom>
          <a:noFill/>
          <a:ln/>
        </p:spPr>
        <p:txBody>
          <a:bodyPr wrap="square" lIns="0" tIns="0" rIns="0" bIns="0" rtlCol="0" anchor="t"/>
          <a:lstStyle/>
          <a:p>
            <a:pPr algn="ctr" indent="0" marL="0">
              <a:buNone/>
            </a:pPr>
            <a:r>
              <a:rPr lang="en-US" sz="1500" b="1" dirty="0">
                <a:solidFill>
                  <a:srgbClr val="F1F5F9"/>
                </a:solidFill>
                <a:latin typeface="Arial" pitchFamily="34" charset="0"/>
                <a:ea typeface="Arial" pitchFamily="34" charset="-122"/>
                <a:cs typeface="Arial" pitchFamily="34" charset="-120"/>
              </a:rPr>
              <a:t>Random control</a:t>
            </a:r>
            <a:endParaRPr lang="en-US" sz="1500" dirty="0"/>
          </a:p>
          <a:p>
            <a:pPr algn="ctr" indent="0" marL="0">
              <a:buNone/>
            </a:pPr>
            <a:r>
              <a:rPr lang="en-US" sz="1500" dirty="0">
                <a:solidFill>
                  <a:srgbClr val="6B7A93"/>
                </a:solidFill>
                <a:latin typeface="Arial" pitchFamily="34" charset="0"/>
                <a:ea typeface="Arial" pitchFamily="34" charset="-122"/>
                <a:cs typeface="Arial" pitchFamily="34" charset="-120"/>
              </a:rPr>
              <a:t>candidate, L5 · β 0.1</a:t>
            </a:r>
            <a:endParaRPr lang="en-US" sz="1500" dirty="0"/>
          </a:p>
        </p:txBody>
      </p:sp>
      <p:sp>
        <p:nvSpPr>
          <p:cNvPr id="55" name="Shape 53"/>
          <p:cNvSpPr/>
          <p:nvPr/>
        </p:nvSpPr>
        <p:spPr>
          <a:xfrm>
            <a:off x="594360" y="1188720"/>
            <a:ext cx="5709056" cy="310896"/>
          </a:xfrm>
          <a:prstGeom prst="roundRect">
            <a:avLst>
              <a:gd name="adj" fmla="val 50000"/>
            </a:avLst>
          </a:prstGeom>
          <a:solidFill>
            <a:srgbClr val="131E33"/>
          </a:solidFill>
          <a:ln w="12700">
            <a:solidFill>
              <a:srgbClr val="F2C94C"/>
            </a:solidFill>
            <a:prstDash val="solid"/>
          </a:ln>
        </p:spPr>
      </p:sp>
      <p:sp>
        <p:nvSpPr>
          <p:cNvPr id="56" name="Text 54"/>
          <p:cNvSpPr txBox="1"/>
          <p:nvPr/>
        </p:nvSpPr>
        <p:spPr>
          <a:xfrm>
            <a:off x="594360" y="1188720"/>
            <a:ext cx="5709056" cy="310896"/>
          </a:xfrm>
          <a:prstGeom prst="rect">
            <a:avLst/>
          </a:prstGeom>
          <a:noFill/>
          <a:ln/>
        </p:spPr>
        <p:txBody>
          <a:bodyPr wrap="square" lIns="0" tIns="0" rIns="0" bIns="0" rtlCol="0" anchor="ctr"/>
          <a:lstStyle/>
          <a:p>
            <a:pPr algn="ctr" indent="0" marL="0">
              <a:buNone/>
            </a:pPr>
            <a:r>
              <a:rPr lang="en-US" sz="1150" b="1" spc="100" kern="0" dirty="0">
                <a:solidFill>
                  <a:srgbClr val="F2C94C"/>
                </a:solidFill>
                <a:latin typeface="Arial" pitchFamily="34" charset="0"/>
                <a:ea typeface="Arial" pitchFamily="34" charset="-122"/>
                <a:cs typeface="Arial" pitchFamily="34" charset="-120"/>
              </a:rPr>
              <a:t>HISTORICAL FIT-STATE SEMANTICS · NOT HELD-OUT</a:t>
            </a:r>
            <a:endParaRPr lang="en-US" sz="1150" dirty="0"/>
          </a:p>
        </p:txBody>
      </p:sp>
      <p:sp>
        <p:nvSpPr>
          <p:cNvPr id="57" name="Text 55"/>
          <p:cNvSpPr txBox="1"/>
          <p:nvPr/>
        </p:nvSpPr>
        <p:spPr>
          <a:xfrm>
            <a:off x="8092440" y="1325880"/>
            <a:ext cx="3550615" cy="1371600"/>
          </a:xfrm>
          <a:prstGeom prst="rect">
            <a:avLst/>
          </a:prstGeom>
          <a:noFill/>
          <a:ln/>
        </p:spPr>
        <p:txBody>
          <a:bodyPr wrap="square" lIns="0" tIns="0" rIns="0" bIns="0" rtlCol="0" anchor="t"/>
          <a:lstStyle/>
          <a:p>
            <a:pPr algn="l" indent="0" marL="0">
              <a:buNone/>
            </a:pPr>
            <a:r>
              <a:rPr lang="en-US" sz="1900" b="1" dirty="0">
                <a:solidFill>
                  <a:srgbClr val="38BDF8"/>
                </a:solidFill>
                <a:latin typeface="Arial" pitchFamily="34" charset="0"/>
                <a:ea typeface="Arial" pitchFamily="34" charset="-122"/>
                <a:cs typeface="Arial" pitchFamily="34" charset="-120"/>
              </a:rPr>
              <a:t>The historical pipeline approximately reproduces the numerical Global score, but baseline and random controls reach the same range.</a:t>
            </a:r>
            <a:endParaRPr lang="en-US" sz="1900" dirty="0"/>
          </a:p>
        </p:txBody>
      </p:sp>
      <p:sp>
        <p:nvSpPr>
          <p:cNvPr id="58" name="Text 56"/>
          <p:cNvSpPr txBox="1"/>
          <p:nvPr/>
        </p:nvSpPr>
        <p:spPr>
          <a:xfrm>
            <a:off x="8092440" y="2834640"/>
            <a:ext cx="3550615" cy="3017520"/>
          </a:xfrm>
          <a:prstGeom prst="rect">
            <a:avLst/>
          </a:prstGeom>
          <a:noFill/>
          <a:ln/>
        </p:spPr>
        <p:txBody>
          <a:bodyPr wrap="square" lIns="0" tIns="0" rIns="0" bIns="0" rtlCol="0" anchor="t"/>
          <a:lstStyle/>
          <a:p>
            <a:pPr algn="l" marL="177800" indent="-177800">
              <a:spcAft>
                <a:spcPts val="900"/>
              </a:spcAft>
              <a:buSzPct val="100000"/>
              <a:buChar char="•"/>
            </a:pPr>
            <a:r>
              <a:rPr lang="en-US" sz="1450" dirty="0">
                <a:solidFill>
                  <a:srgbClr val="A7B4C8"/>
                </a:solidFill>
                <a:latin typeface="Arial" pitchFamily="34" charset="0"/>
                <a:ea typeface="Arial" pitchFamily="34" charset="-122"/>
                <a:cs typeface="Arial" pitchFamily="34" charset="-120"/>
              </a:rPr>
              <a:t>Pooled: Global </a:t>
            </a:r>
            <a:pPr algn="l" marL="177800" indent="-177800">
              <a:spcAft>
                <a:spcPts val="900"/>
              </a:spcAft>
              <a:buSzPct val="100000"/>
              <a:buChar char="•"/>
            </a:pPr>
            <a:r>
              <a:rPr lang="en-US" sz="1450" b="1" dirty="0">
                <a:solidFill>
                  <a:srgbClr val="A7B4C8"/>
                </a:solidFill>
                <a:latin typeface="Arial" pitchFamily="34" charset="0"/>
                <a:ea typeface="Arial" pitchFamily="34" charset="-122"/>
                <a:cs typeface="Arial" pitchFamily="34" charset="-120"/>
              </a:rPr>
              <a:t>25/30</a:t>
            </a:r>
            <a:pPr algn="l" marL="177800" indent="-177800">
              <a:spcAft>
                <a:spcPts val="900"/>
              </a:spcAft>
              <a:buSzPct val="100000"/>
              <a:buChar char="•"/>
            </a:pPr>
            <a:r>
              <a:rPr lang="en-US" sz="1450" dirty="0">
                <a:solidFill>
                  <a:srgbClr val="A7B4C8"/>
                </a:solidFill>
                <a:latin typeface="Arial" pitchFamily="34" charset="0"/>
                <a:ea typeface="Arial" pitchFamily="34" charset="-122"/>
                <a:cs typeface="Arial" pitchFamily="34" charset="-120"/>
              </a:rPr>
              <a:t> · baseline </a:t>
            </a:r>
            <a:pPr algn="l" marL="177800" indent="-177800">
              <a:spcAft>
                <a:spcPts val="900"/>
              </a:spcAft>
              <a:buSzPct val="100000"/>
              <a:buChar char="•"/>
            </a:pPr>
            <a:r>
              <a:rPr lang="en-US" sz="1450" b="1" dirty="0">
                <a:solidFill>
                  <a:srgbClr val="A7B4C8"/>
                </a:solidFill>
                <a:latin typeface="Arial" pitchFamily="34" charset="0"/>
                <a:ea typeface="Arial" pitchFamily="34" charset="-122"/>
                <a:cs typeface="Arial" pitchFamily="34" charset="-120"/>
              </a:rPr>
              <a:t>33/45</a:t>
            </a:r>
            <a:pPr algn="l" marL="177800" indent="-177800">
              <a:spcAft>
                <a:spcPts val="900"/>
              </a:spcAft>
              <a:buSzPct val="100000"/>
              <a:buChar char="•"/>
            </a:pPr>
            <a:r>
              <a:rPr lang="en-US" sz="1450" dirty="0">
                <a:solidFill>
                  <a:srgbClr val="A7B4C8"/>
                </a:solidFill>
                <a:latin typeface="Arial" pitchFamily="34" charset="0"/>
                <a:ea typeface="Arial" pitchFamily="34" charset="-122"/>
                <a:cs typeface="Arial" pitchFamily="34" charset="-120"/>
              </a:rPr>
              <a:t> · random </a:t>
            </a:r>
            <a:pPr algn="l" marL="177800" indent="-177800">
              <a:spcAft>
                <a:spcPts val="900"/>
              </a:spcAft>
              <a:buSzPct val="100000"/>
              <a:buChar char="•"/>
            </a:pPr>
            <a:r>
              <a:rPr lang="en-US" sz="1450" b="1" dirty="0">
                <a:solidFill>
                  <a:srgbClr val="A7B4C8"/>
                </a:solidFill>
                <a:latin typeface="Arial" pitchFamily="34" charset="0"/>
                <a:ea typeface="Arial" pitchFamily="34" charset="-122"/>
                <a:cs typeface="Arial" pitchFamily="34" charset="-120"/>
              </a:rPr>
              <a:t>23/30</a:t>
            </a:r>
            <a:endParaRPr lang="en-US" sz="1450" dirty="0"/>
          </a:p>
          <a:p>
            <a:pPr algn="l" marL="177800" indent="-177800">
              <a:spcAft>
                <a:spcPts val="900"/>
              </a:spcAft>
              <a:buSzPct val="100000"/>
              <a:buChar char="•"/>
            </a:pPr>
            <a:r>
              <a:rPr lang="en-US" sz="1450" dirty="0">
                <a:solidFill>
                  <a:srgbClr val="A7B4C8"/>
                </a:solidFill>
                <a:latin typeface="Arial" pitchFamily="34" charset="0"/>
                <a:ea typeface="Arial" pitchFamily="34" charset="-122"/>
                <a:cs typeface="Arial" pitchFamily="34" charset="-120"/>
              </a:rPr>
              <a:t>Fisher: vs baseline p = 0.40 · vs random p = 0.75 · vs 14/15 p = 0.65</a:t>
            </a:r>
            <a:endParaRPr lang="en-US" sz="1450" dirty="0"/>
          </a:p>
          <a:p>
            <a:pPr algn="l" marL="177800" indent="-177800">
              <a:spcAft>
                <a:spcPts val="900"/>
              </a:spcAft>
              <a:buSzPct val="100000"/>
              <a:buChar char="•"/>
            </a:pPr>
            <a:r>
              <a:rPr lang="en-US" sz="1450" dirty="0">
                <a:solidFill>
                  <a:srgbClr val="A7B4C8"/>
                </a:solidFill>
                <a:latin typeface="Arial" pitchFamily="34" charset="0"/>
                <a:ea typeface="Arial" pitchFamily="34" charset="-122"/>
                <a:cs typeface="Arial" pitchFamily="34" charset="-120"/>
              </a:rPr>
              <a:t>Per-step cell as coded: 9/15, 9/15 (paper 13/15) · Positive-only 7/15 (paper 12/15)</a:t>
            </a:r>
            <a:endParaRPr lang="en-US" sz="1450" dirty="0"/>
          </a:p>
          <a:p>
            <a:pPr algn="l" marL="177800" indent="-177800">
              <a:spcAft>
                <a:spcPts val="900"/>
              </a:spcAft>
              <a:buSzPct val="100000"/>
              <a:buChar char="•"/>
            </a:pPr>
            <a:r>
              <a:rPr lang="en-US" sz="1450" dirty="0">
                <a:solidFill>
                  <a:srgbClr val="A7B4C8"/>
                </a:solidFill>
                <a:latin typeface="Arial" pitchFamily="34" charset="0"/>
                <a:ea typeface="Arial" pitchFamily="34" charset="-122"/>
                <a:cs typeface="Arial" pitchFamily="34" charset="-120"/>
              </a:rPr>
              <a:t>Evaluated states 0–14 are the authors' fit-rollout states</a:t>
            </a:r>
            <a:endParaRPr lang="en-US" sz="1450" dirty="0"/>
          </a:p>
        </p:txBody>
      </p:sp>
      <p:sp>
        <p:nvSpPr>
          <p:cNvPr id="59" name="Text 57"/>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phase6c_candidate_test_results.csv · miranda-v2 @ 29059a5 (unmodified) · authors' fit activations · states 0–14, unseeded</a:t>
            </a:r>
            <a:endParaRPr lang="en-US" sz="1000" dirty="0"/>
          </a:p>
        </p:txBody>
      </p:sp>
      <p:sp>
        <p:nvSpPr>
          <p:cNvPr id="60" name="Text 58"/>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61" name="Text 59"/>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14 / 21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EXACT DISCREPANCIES</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Paper vs public code, component by component</a:t>
            </a:r>
            <a:endParaRPr lang="en-US" sz="3000" dirty="0"/>
          </a:p>
        </p:txBody>
      </p:sp>
      <p:sp>
        <p:nvSpPr>
          <p:cNvPr id="4" name="Text 2"/>
          <p:cNvSpPr txBox="1"/>
          <p:nvPr/>
        </p:nvSpPr>
        <p:spPr>
          <a:xfrm>
            <a:off x="548640" y="1225296"/>
            <a:ext cx="2286000" cy="365760"/>
          </a:xfrm>
          <a:prstGeom prst="rect">
            <a:avLst/>
          </a:prstGeom>
          <a:noFill/>
          <a:ln/>
        </p:spPr>
        <p:txBody>
          <a:bodyPr wrap="square" lIns="0" tIns="0" rIns="0" bIns="0" rtlCol="0" anchor="ctr"/>
          <a:lstStyle/>
          <a:p>
            <a:pPr algn="l" indent="0" marL="0">
              <a:buNone/>
            </a:pPr>
            <a:r>
              <a:rPr lang="en-US" sz="1500" b="1" dirty="0">
                <a:solidFill>
                  <a:srgbClr val="A7B4C8"/>
                </a:solidFill>
                <a:latin typeface="Arial" pitchFamily="34" charset="0"/>
                <a:ea typeface="Arial" pitchFamily="34" charset="-122"/>
                <a:cs typeface="Arial" pitchFamily="34" charset="-120"/>
              </a:rPr>
              <a:t>Component</a:t>
            </a:r>
            <a:endParaRPr lang="en-US" sz="1500" dirty="0"/>
          </a:p>
        </p:txBody>
      </p:sp>
      <p:sp>
        <p:nvSpPr>
          <p:cNvPr id="5" name="Text 3"/>
          <p:cNvSpPr txBox="1"/>
          <p:nvPr/>
        </p:nvSpPr>
        <p:spPr>
          <a:xfrm>
            <a:off x="2990088" y="1225296"/>
            <a:ext cx="2834640" cy="365760"/>
          </a:xfrm>
          <a:prstGeom prst="rect">
            <a:avLst/>
          </a:prstGeom>
          <a:noFill/>
          <a:ln/>
        </p:spPr>
        <p:txBody>
          <a:bodyPr wrap="square" lIns="0" tIns="0" rIns="0" bIns="0" rtlCol="0" anchor="ctr"/>
          <a:lstStyle/>
          <a:p>
            <a:pPr algn="l" indent="0" marL="0">
              <a:buNone/>
            </a:pPr>
            <a:r>
              <a:rPr lang="en-US" sz="1500" b="1" dirty="0">
                <a:solidFill>
                  <a:srgbClr val="F59E0B"/>
                </a:solidFill>
                <a:latin typeface="Arial" pitchFamily="34" charset="0"/>
                <a:ea typeface="Arial" pitchFamily="34" charset="-122"/>
                <a:cs typeface="Arial" pitchFamily="34" charset="-120"/>
              </a:rPr>
              <a:t>Paper (text)</a:t>
            </a:r>
            <a:endParaRPr lang="en-US" sz="1500" dirty="0"/>
          </a:p>
        </p:txBody>
      </p:sp>
      <p:sp>
        <p:nvSpPr>
          <p:cNvPr id="6" name="Text 4"/>
          <p:cNvSpPr txBox="1"/>
          <p:nvPr/>
        </p:nvSpPr>
        <p:spPr>
          <a:xfrm>
            <a:off x="5870448" y="1225296"/>
            <a:ext cx="2926080" cy="365760"/>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Released main · 2afa10e</a:t>
            </a:r>
            <a:endParaRPr lang="en-US" sz="1500" dirty="0"/>
          </a:p>
        </p:txBody>
      </p:sp>
      <p:sp>
        <p:nvSpPr>
          <p:cNvPr id="7" name="Text 5"/>
          <p:cNvSpPr txBox="1"/>
          <p:nvPr/>
        </p:nvSpPr>
        <p:spPr>
          <a:xfrm>
            <a:off x="8842248" y="1225296"/>
            <a:ext cx="2907792" cy="365760"/>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miranda-v2 · 29059a5</a:t>
            </a:r>
            <a:endParaRPr lang="en-US" sz="1500" dirty="0"/>
          </a:p>
        </p:txBody>
      </p:sp>
      <p:sp>
        <p:nvSpPr>
          <p:cNvPr id="8" name="Text 6"/>
          <p:cNvSpPr txBox="1"/>
          <p:nvPr/>
        </p:nvSpPr>
        <p:spPr>
          <a:xfrm>
            <a:off x="548640" y="1636776"/>
            <a:ext cx="2286000" cy="37490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Evaluation episodes</a:t>
            </a:r>
            <a:endParaRPr lang="en-US" sz="1500" dirty="0"/>
          </a:p>
        </p:txBody>
      </p:sp>
      <p:sp>
        <p:nvSpPr>
          <p:cNvPr id="9" name="Shape 7"/>
          <p:cNvSpPr/>
          <p:nvPr/>
        </p:nvSpPr>
        <p:spPr>
          <a:xfrm>
            <a:off x="2880360" y="1636776"/>
            <a:ext cx="2761488" cy="374904"/>
          </a:xfrm>
          <a:prstGeom prst="roundRect">
            <a:avLst>
              <a:gd name="adj" fmla="val 12195"/>
            </a:avLst>
          </a:prstGeom>
          <a:solidFill>
            <a:srgbClr val="131E33"/>
          </a:solidFill>
          <a:ln/>
        </p:spPr>
      </p:sp>
      <p:sp>
        <p:nvSpPr>
          <p:cNvPr id="10" name="Text 8"/>
          <p:cNvSpPr txBox="1"/>
          <p:nvPr/>
        </p:nvSpPr>
        <p:spPr>
          <a:xfrm>
            <a:off x="2990088" y="1636776"/>
            <a:ext cx="2615184" cy="37490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30 per condition</a:t>
            </a:r>
            <a:endParaRPr lang="en-US" sz="1400" dirty="0"/>
          </a:p>
        </p:txBody>
      </p:sp>
      <p:sp>
        <p:nvSpPr>
          <p:cNvPr id="11" name="Shape 9"/>
          <p:cNvSpPr/>
          <p:nvPr/>
        </p:nvSpPr>
        <p:spPr>
          <a:xfrm>
            <a:off x="5760720" y="1636776"/>
            <a:ext cx="2852928" cy="374904"/>
          </a:xfrm>
          <a:prstGeom prst="roundRect">
            <a:avLst>
              <a:gd name="adj" fmla="val 12195"/>
            </a:avLst>
          </a:prstGeom>
          <a:solidFill>
            <a:srgbClr val="3D3314"/>
          </a:solidFill>
          <a:ln/>
        </p:spPr>
      </p:sp>
      <p:sp>
        <p:nvSpPr>
          <p:cNvPr id="12" name="Text 10"/>
          <p:cNvSpPr txBox="1"/>
          <p:nvPr/>
        </p:nvSpPr>
        <p:spPr>
          <a:xfrm>
            <a:off x="5833872" y="1636776"/>
            <a:ext cx="274320" cy="374904"/>
          </a:xfrm>
          <a:prstGeom prst="rect">
            <a:avLst/>
          </a:prstGeom>
          <a:noFill/>
          <a:ln/>
        </p:spPr>
        <p:txBody>
          <a:bodyPr wrap="square" lIns="0" tIns="0" rIns="0" bIns="0" rtlCol="0" anchor="ctr"/>
          <a:lstStyle/>
          <a:p>
            <a:pPr algn="ctr" indent="0" marL="0">
              <a:buNone/>
            </a:pPr>
            <a:r>
              <a:rPr lang="en-US" sz="1600" b="1" dirty="0">
                <a:solidFill>
                  <a:srgbClr val="F2C94C"/>
                </a:solidFill>
                <a:latin typeface="Arial" pitchFamily="34" charset="0"/>
                <a:ea typeface="Arial" pitchFamily="34" charset="-122"/>
                <a:cs typeface="Arial" pitchFamily="34" charset="-120"/>
              </a:rPr>
              <a:t>!</a:t>
            </a:r>
            <a:endParaRPr lang="en-US" sz="1600" dirty="0"/>
          </a:p>
        </p:txBody>
      </p:sp>
      <p:sp>
        <p:nvSpPr>
          <p:cNvPr id="13" name="Text 11"/>
          <p:cNvSpPr txBox="1"/>
          <p:nvPr/>
        </p:nvSpPr>
        <p:spPr>
          <a:xfrm>
            <a:off x="6144768" y="1636776"/>
            <a:ext cx="2423160"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configurable (docs: 15)</a:t>
            </a:r>
            <a:endParaRPr lang="en-US" sz="1400" dirty="0"/>
          </a:p>
        </p:txBody>
      </p:sp>
      <p:sp>
        <p:nvSpPr>
          <p:cNvPr id="14" name="Shape 12"/>
          <p:cNvSpPr/>
          <p:nvPr/>
        </p:nvSpPr>
        <p:spPr>
          <a:xfrm>
            <a:off x="8732520" y="1636776"/>
            <a:ext cx="2834640" cy="374904"/>
          </a:xfrm>
          <a:prstGeom prst="roundRect">
            <a:avLst>
              <a:gd name="adj" fmla="val 12195"/>
            </a:avLst>
          </a:prstGeom>
          <a:solidFill>
            <a:srgbClr val="421B20"/>
          </a:solidFill>
          <a:ln/>
        </p:spPr>
      </p:sp>
      <p:sp>
        <p:nvSpPr>
          <p:cNvPr id="15" name="Text 13"/>
          <p:cNvSpPr txBox="1"/>
          <p:nvPr/>
        </p:nvSpPr>
        <p:spPr>
          <a:xfrm>
            <a:off x="8805672" y="1636776"/>
            <a:ext cx="274320" cy="374904"/>
          </a:xfrm>
          <a:prstGeom prst="rect">
            <a:avLst/>
          </a:prstGeom>
          <a:noFill/>
          <a:ln/>
        </p:spPr>
        <p:txBody>
          <a:bodyPr wrap="square" lIns="0" tIns="0" rIns="0" bIns="0" rtlCol="0" anchor="ctr"/>
          <a:lstStyle/>
          <a:p>
            <a:pPr algn="ctr" indent="0" marL="0">
              <a:buNone/>
            </a:pPr>
            <a:r>
              <a:rPr lang="en-US" sz="1600" b="1" dirty="0">
                <a:solidFill>
                  <a:srgbClr val="EF6B6B"/>
                </a:solidFill>
                <a:latin typeface="Arial" pitchFamily="34" charset="0"/>
                <a:ea typeface="Arial" pitchFamily="34" charset="-122"/>
                <a:cs typeface="Arial" pitchFamily="34" charset="-120"/>
              </a:rPr>
              <a:t>✗</a:t>
            </a:r>
            <a:endParaRPr lang="en-US" sz="1600" dirty="0"/>
          </a:p>
        </p:txBody>
      </p:sp>
      <p:sp>
        <p:nvSpPr>
          <p:cNvPr id="16" name="Text 14"/>
          <p:cNvSpPr txBox="1"/>
          <p:nvPr/>
        </p:nvSpPr>
        <p:spPr>
          <a:xfrm>
            <a:off x="9116568" y="1636776"/>
            <a:ext cx="2404872"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15 (NUM_EPISODES = 15)</a:t>
            </a:r>
            <a:endParaRPr lang="en-US" sz="1400" dirty="0"/>
          </a:p>
        </p:txBody>
      </p:sp>
      <p:sp>
        <p:nvSpPr>
          <p:cNvPr id="17" name="Text 15"/>
          <p:cNvSpPr txBox="1"/>
          <p:nvPr/>
        </p:nvSpPr>
        <p:spPr>
          <a:xfrm>
            <a:off x="548640" y="2066544"/>
            <a:ext cx="2286000" cy="37490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Fit / test separation</a:t>
            </a:r>
            <a:endParaRPr lang="en-US" sz="1500" dirty="0"/>
          </a:p>
        </p:txBody>
      </p:sp>
      <p:sp>
        <p:nvSpPr>
          <p:cNvPr id="18" name="Shape 16"/>
          <p:cNvSpPr/>
          <p:nvPr/>
        </p:nvSpPr>
        <p:spPr>
          <a:xfrm>
            <a:off x="2880360" y="2066544"/>
            <a:ext cx="2761488" cy="374904"/>
          </a:xfrm>
          <a:prstGeom prst="roundRect">
            <a:avLst>
              <a:gd name="adj" fmla="val 12195"/>
            </a:avLst>
          </a:prstGeom>
          <a:solidFill>
            <a:srgbClr val="131E33"/>
          </a:solidFill>
          <a:ln/>
        </p:spPr>
      </p:sp>
      <p:sp>
        <p:nvSpPr>
          <p:cNvPr id="19" name="Text 17"/>
          <p:cNvSpPr txBox="1"/>
          <p:nvPr/>
        </p:nvSpPr>
        <p:spPr>
          <a:xfrm>
            <a:off x="2990088" y="2066544"/>
            <a:ext cx="2615184" cy="37490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15 fit + 30 disjoint test</a:t>
            </a:r>
            <a:endParaRPr lang="en-US" sz="1400" dirty="0"/>
          </a:p>
        </p:txBody>
      </p:sp>
      <p:sp>
        <p:nvSpPr>
          <p:cNvPr id="20" name="Shape 18"/>
          <p:cNvSpPr/>
          <p:nvPr/>
        </p:nvSpPr>
        <p:spPr>
          <a:xfrm>
            <a:off x="5760720" y="2066544"/>
            <a:ext cx="2852928" cy="374904"/>
          </a:xfrm>
          <a:prstGeom prst="roundRect">
            <a:avLst>
              <a:gd name="adj" fmla="val 12195"/>
            </a:avLst>
          </a:prstGeom>
          <a:solidFill>
            <a:srgbClr val="123A2A"/>
          </a:solidFill>
          <a:ln/>
        </p:spPr>
      </p:sp>
      <p:sp>
        <p:nvSpPr>
          <p:cNvPr id="21" name="Text 19"/>
          <p:cNvSpPr txBox="1"/>
          <p:nvPr/>
        </p:nvSpPr>
        <p:spPr>
          <a:xfrm>
            <a:off x="5833872" y="2066544"/>
            <a:ext cx="274320" cy="374904"/>
          </a:xfrm>
          <a:prstGeom prst="rect">
            <a:avLst/>
          </a:prstGeom>
          <a:noFill/>
          <a:ln/>
        </p:spPr>
        <p:txBody>
          <a:bodyPr wrap="square" lIns="0" tIns="0" rIns="0" bIns="0" rtlCol="0" anchor="ctr"/>
          <a:lstStyle/>
          <a:p>
            <a:pPr algn="ctr" indent="0" marL="0">
              <a:buNone/>
            </a:pPr>
            <a:r>
              <a:rPr lang="en-US" sz="1600" b="1" dirty="0">
                <a:solidFill>
                  <a:srgbClr val="4CC38A"/>
                </a:solidFill>
                <a:latin typeface="Arial" pitchFamily="34" charset="0"/>
                <a:ea typeface="Arial" pitchFamily="34" charset="-122"/>
                <a:cs typeface="Arial" pitchFamily="34" charset="-120"/>
              </a:rPr>
              <a:t>✓</a:t>
            </a:r>
            <a:endParaRPr lang="en-US" sz="1600" dirty="0"/>
          </a:p>
        </p:txBody>
      </p:sp>
      <p:sp>
        <p:nvSpPr>
          <p:cNvPr id="22" name="Text 20"/>
          <p:cNvSpPr txBox="1"/>
          <p:nvPr/>
        </p:nvSpPr>
        <p:spPr>
          <a:xfrm>
            <a:off x="6144768" y="2066544"/>
            <a:ext cx="2423160"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via --seed offset (post-#48)</a:t>
            </a:r>
            <a:endParaRPr lang="en-US" sz="1400" dirty="0"/>
          </a:p>
        </p:txBody>
      </p:sp>
      <p:sp>
        <p:nvSpPr>
          <p:cNvPr id="23" name="Shape 21"/>
          <p:cNvSpPr/>
          <p:nvPr/>
        </p:nvSpPr>
        <p:spPr>
          <a:xfrm>
            <a:off x="8732520" y="2066544"/>
            <a:ext cx="2834640" cy="374904"/>
          </a:xfrm>
          <a:prstGeom prst="roundRect">
            <a:avLst>
              <a:gd name="adj" fmla="val 12195"/>
            </a:avLst>
          </a:prstGeom>
          <a:solidFill>
            <a:srgbClr val="421B20"/>
          </a:solidFill>
          <a:ln/>
        </p:spPr>
      </p:sp>
      <p:sp>
        <p:nvSpPr>
          <p:cNvPr id="24" name="Text 22"/>
          <p:cNvSpPr txBox="1"/>
          <p:nvPr/>
        </p:nvSpPr>
        <p:spPr>
          <a:xfrm>
            <a:off x="8805672" y="2066544"/>
            <a:ext cx="274320" cy="374904"/>
          </a:xfrm>
          <a:prstGeom prst="rect">
            <a:avLst/>
          </a:prstGeom>
          <a:noFill/>
          <a:ln/>
        </p:spPr>
        <p:txBody>
          <a:bodyPr wrap="square" lIns="0" tIns="0" rIns="0" bIns="0" rtlCol="0" anchor="ctr"/>
          <a:lstStyle/>
          <a:p>
            <a:pPr algn="ctr" indent="0" marL="0">
              <a:buNone/>
            </a:pPr>
            <a:r>
              <a:rPr lang="en-US" sz="1600" b="1" dirty="0">
                <a:solidFill>
                  <a:srgbClr val="EF6B6B"/>
                </a:solidFill>
                <a:latin typeface="Arial" pitchFamily="34" charset="0"/>
                <a:ea typeface="Arial" pitchFamily="34" charset="-122"/>
                <a:cs typeface="Arial" pitchFamily="34" charset="-120"/>
              </a:rPr>
              <a:t>✗</a:t>
            </a:r>
            <a:endParaRPr lang="en-US" sz="1600" dirty="0"/>
          </a:p>
        </p:txBody>
      </p:sp>
      <p:sp>
        <p:nvSpPr>
          <p:cNvPr id="25" name="Text 23"/>
          <p:cNvSpPr txBox="1"/>
          <p:nvPr/>
        </p:nvSpPr>
        <p:spPr>
          <a:xfrm>
            <a:off x="9116568" y="2066544"/>
            <a:ext cx="2404872"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none: eval states 0–14 = fit</a:t>
            </a:r>
            <a:endParaRPr lang="en-US" sz="1400" dirty="0"/>
          </a:p>
        </p:txBody>
      </p:sp>
      <p:sp>
        <p:nvSpPr>
          <p:cNvPr id="26" name="Text 24"/>
          <p:cNvSpPr txBox="1"/>
          <p:nvPr/>
        </p:nvSpPr>
        <p:spPr>
          <a:xfrm>
            <a:off x="548640" y="2496312"/>
            <a:ext cx="2286000" cy="37490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Token pooling</a:t>
            </a:r>
            <a:endParaRPr lang="en-US" sz="1500" dirty="0"/>
          </a:p>
        </p:txBody>
      </p:sp>
      <p:sp>
        <p:nvSpPr>
          <p:cNvPr id="27" name="Shape 25"/>
          <p:cNvSpPr/>
          <p:nvPr/>
        </p:nvSpPr>
        <p:spPr>
          <a:xfrm>
            <a:off x="2880360" y="2496312"/>
            <a:ext cx="2761488" cy="374904"/>
          </a:xfrm>
          <a:prstGeom prst="roundRect">
            <a:avLst>
              <a:gd name="adj" fmla="val 12195"/>
            </a:avLst>
          </a:prstGeom>
          <a:solidFill>
            <a:srgbClr val="131E33"/>
          </a:solidFill>
          <a:ln/>
        </p:spPr>
      </p:sp>
      <p:sp>
        <p:nvSpPr>
          <p:cNvPr id="28" name="Text 26"/>
          <p:cNvSpPr txBox="1"/>
          <p:nvPr/>
        </p:nvSpPr>
        <p:spPr>
          <a:xfrm>
            <a:off x="2990088" y="2496312"/>
            <a:ext cx="2615184" cy="37490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mean over 10 action tokens</a:t>
            </a:r>
            <a:endParaRPr lang="en-US" sz="1400" dirty="0"/>
          </a:p>
        </p:txBody>
      </p:sp>
      <p:sp>
        <p:nvSpPr>
          <p:cNvPr id="29" name="Shape 27"/>
          <p:cNvSpPr/>
          <p:nvPr/>
        </p:nvSpPr>
        <p:spPr>
          <a:xfrm>
            <a:off x="5760720" y="2496312"/>
            <a:ext cx="2852928" cy="374904"/>
          </a:xfrm>
          <a:prstGeom prst="roundRect">
            <a:avLst>
              <a:gd name="adj" fmla="val 12195"/>
            </a:avLst>
          </a:prstGeom>
          <a:solidFill>
            <a:srgbClr val="421B20"/>
          </a:solidFill>
          <a:ln/>
        </p:spPr>
      </p:sp>
      <p:sp>
        <p:nvSpPr>
          <p:cNvPr id="30" name="Text 28"/>
          <p:cNvSpPr txBox="1"/>
          <p:nvPr/>
        </p:nvSpPr>
        <p:spPr>
          <a:xfrm>
            <a:off x="5833872" y="2496312"/>
            <a:ext cx="274320" cy="374904"/>
          </a:xfrm>
          <a:prstGeom prst="rect">
            <a:avLst/>
          </a:prstGeom>
          <a:noFill/>
          <a:ln/>
        </p:spPr>
        <p:txBody>
          <a:bodyPr wrap="square" lIns="0" tIns="0" rIns="0" bIns="0" rtlCol="0" anchor="ctr"/>
          <a:lstStyle/>
          <a:p>
            <a:pPr algn="ctr" indent="0" marL="0">
              <a:buNone/>
            </a:pPr>
            <a:r>
              <a:rPr lang="en-US" sz="1600" b="1" dirty="0">
                <a:solidFill>
                  <a:srgbClr val="EF6B6B"/>
                </a:solidFill>
                <a:latin typeface="Arial" pitchFamily="34" charset="0"/>
                <a:ea typeface="Arial" pitchFamily="34" charset="-122"/>
                <a:cs typeface="Arial" pitchFamily="34" charset="-120"/>
              </a:rPr>
              <a:t>✗</a:t>
            </a:r>
            <a:endParaRPr lang="en-US" sz="1600" dirty="0"/>
          </a:p>
        </p:txBody>
      </p:sp>
      <p:sp>
        <p:nvSpPr>
          <p:cNvPr id="31" name="Text 29"/>
          <p:cNvSpPr txBox="1"/>
          <p:nvPr/>
        </p:nvSpPr>
        <p:spPr>
          <a:xfrm>
            <a:off x="6144768" y="2496312"/>
            <a:ext cx="2423160"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every token is a row</a:t>
            </a:r>
            <a:endParaRPr lang="en-US" sz="1400" dirty="0"/>
          </a:p>
        </p:txBody>
      </p:sp>
      <p:sp>
        <p:nvSpPr>
          <p:cNvPr id="32" name="Shape 30"/>
          <p:cNvSpPr/>
          <p:nvPr/>
        </p:nvSpPr>
        <p:spPr>
          <a:xfrm>
            <a:off x="8732520" y="2496312"/>
            <a:ext cx="2834640" cy="374904"/>
          </a:xfrm>
          <a:prstGeom prst="roundRect">
            <a:avLst>
              <a:gd name="adj" fmla="val 12195"/>
            </a:avLst>
          </a:prstGeom>
          <a:solidFill>
            <a:srgbClr val="123A2A"/>
          </a:solidFill>
          <a:ln/>
        </p:spPr>
      </p:sp>
      <p:sp>
        <p:nvSpPr>
          <p:cNvPr id="33" name="Text 31"/>
          <p:cNvSpPr txBox="1"/>
          <p:nvPr/>
        </p:nvSpPr>
        <p:spPr>
          <a:xfrm>
            <a:off x="8805672" y="2496312"/>
            <a:ext cx="274320" cy="374904"/>
          </a:xfrm>
          <a:prstGeom prst="rect">
            <a:avLst/>
          </a:prstGeom>
          <a:noFill/>
          <a:ln/>
        </p:spPr>
        <p:txBody>
          <a:bodyPr wrap="square" lIns="0" tIns="0" rIns="0" bIns="0" rtlCol="0" anchor="ctr"/>
          <a:lstStyle/>
          <a:p>
            <a:pPr algn="ctr" indent="0" marL="0">
              <a:buNone/>
            </a:pPr>
            <a:r>
              <a:rPr lang="en-US" sz="1600" b="1" dirty="0">
                <a:solidFill>
                  <a:srgbClr val="4CC38A"/>
                </a:solidFill>
                <a:latin typeface="Arial" pitchFamily="34" charset="0"/>
                <a:ea typeface="Arial" pitchFamily="34" charset="-122"/>
                <a:cs typeface="Arial" pitchFamily="34" charset="-120"/>
              </a:rPr>
              <a:t>✓</a:t>
            </a:r>
            <a:endParaRPr lang="en-US" sz="1600" dirty="0"/>
          </a:p>
        </p:txBody>
      </p:sp>
      <p:sp>
        <p:nvSpPr>
          <p:cNvPr id="34" name="Text 32"/>
          <p:cNvSpPr txBox="1"/>
          <p:nvPr/>
        </p:nvSpPr>
        <p:spPr>
          <a:xfrm>
            <a:off x="9116568" y="2496312"/>
            <a:ext cx="2404872"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mean-pooled</a:t>
            </a:r>
            <a:endParaRPr lang="en-US" sz="1400" dirty="0"/>
          </a:p>
        </p:txBody>
      </p:sp>
      <p:sp>
        <p:nvSpPr>
          <p:cNvPr id="35" name="Text 33"/>
          <p:cNvSpPr txBox="1"/>
          <p:nvPr/>
        </p:nvSpPr>
        <p:spPr>
          <a:xfrm>
            <a:off x="548640" y="2926080"/>
            <a:ext cx="2286000" cy="37490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Centering</a:t>
            </a:r>
            <a:endParaRPr lang="en-US" sz="1500" dirty="0"/>
          </a:p>
        </p:txBody>
      </p:sp>
      <p:sp>
        <p:nvSpPr>
          <p:cNvPr id="36" name="Shape 34"/>
          <p:cNvSpPr/>
          <p:nvPr/>
        </p:nvSpPr>
        <p:spPr>
          <a:xfrm>
            <a:off x="2880360" y="2926080"/>
            <a:ext cx="2761488" cy="374904"/>
          </a:xfrm>
          <a:prstGeom prst="roundRect">
            <a:avLst>
              <a:gd name="adj" fmla="val 12195"/>
            </a:avLst>
          </a:prstGeom>
          <a:solidFill>
            <a:srgbClr val="131E33"/>
          </a:solidFill>
          <a:ln/>
        </p:spPr>
      </p:sp>
      <p:sp>
        <p:nvSpPr>
          <p:cNvPr id="37" name="Text 35"/>
          <p:cNvSpPr txBox="1"/>
          <p:nvPr/>
        </p:nvSpPr>
        <p:spPr>
          <a:xfrm>
            <a:off x="2990088" y="2926080"/>
            <a:ext cx="2615184" cy="37490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mean-centered R</a:t>
            </a:r>
            <a:endParaRPr lang="en-US" sz="1400" dirty="0"/>
          </a:p>
        </p:txBody>
      </p:sp>
      <p:sp>
        <p:nvSpPr>
          <p:cNvPr id="38" name="Shape 36"/>
          <p:cNvSpPr/>
          <p:nvPr/>
        </p:nvSpPr>
        <p:spPr>
          <a:xfrm>
            <a:off x="5760720" y="2926080"/>
            <a:ext cx="2852928" cy="374904"/>
          </a:xfrm>
          <a:prstGeom prst="roundRect">
            <a:avLst>
              <a:gd name="adj" fmla="val 12195"/>
            </a:avLst>
          </a:prstGeom>
          <a:solidFill>
            <a:srgbClr val="421B20"/>
          </a:solidFill>
          <a:ln/>
        </p:spPr>
      </p:sp>
      <p:sp>
        <p:nvSpPr>
          <p:cNvPr id="39" name="Text 37"/>
          <p:cNvSpPr txBox="1"/>
          <p:nvPr/>
        </p:nvSpPr>
        <p:spPr>
          <a:xfrm>
            <a:off x="5833872" y="2926080"/>
            <a:ext cx="274320" cy="374904"/>
          </a:xfrm>
          <a:prstGeom prst="rect">
            <a:avLst/>
          </a:prstGeom>
          <a:noFill/>
          <a:ln/>
        </p:spPr>
        <p:txBody>
          <a:bodyPr wrap="square" lIns="0" tIns="0" rIns="0" bIns="0" rtlCol="0" anchor="ctr"/>
          <a:lstStyle/>
          <a:p>
            <a:pPr algn="ctr" indent="0" marL="0">
              <a:buNone/>
            </a:pPr>
            <a:r>
              <a:rPr lang="en-US" sz="1600" b="1" dirty="0">
                <a:solidFill>
                  <a:srgbClr val="EF6B6B"/>
                </a:solidFill>
                <a:latin typeface="Arial" pitchFamily="34" charset="0"/>
                <a:ea typeface="Arial" pitchFamily="34" charset="-122"/>
                <a:cs typeface="Arial" pitchFamily="34" charset="-120"/>
              </a:rPr>
              <a:t>✗</a:t>
            </a:r>
            <a:endParaRPr lang="en-US" sz="1600" dirty="0"/>
          </a:p>
        </p:txBody>
      </p:sp>
      <p:sp>
        <p:nvSpPr>
          <p:cNvPr id="40" name="Text 38"/>
          <p:cNvSpPr txBox="1"/>
          <p:nvPr/>
        </p:nvSpPr>
        <p:spPr>
          <a:xfrm>
            <a:off x="6144768" y="2926080"/>
            <a:ext cx="2423160"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uncentered R = XᵀX / N</a:t>
            </a:r>
            <a:endParaRPr lang="en-US" sz="1400" dirty="0"/>
          </a:p>
        </p:txBody>
      </p:sp>
      <p:sp>
        <p:nvSpPr>
          <p:cNvPr id="41" name="Shape 39"/>
          <p:cNvSpPr/>
          <p:nvPr/>
        </p:nvSpPr>
        <p:spPr>
          <a:xfrm>
            <a:off x="8732520" y="2926080"/>
            <a:ext cx="2834640" cy="374904"/>
          </a:xfrm>
          <a:prstGeom prst="roundRect">
            <a:avLst>
              <a:gd name="adj" fmla="val 12195"/>
            </a:avLst>
          </a:prstGeom>
          <a:solidFill>
            <a:srgbClr val="123A2A"/>
          </a:solidFill>
          <a:ln/>
        </p:spPr>
      </p:sp>
      <p:sp>
        <p:nvSpPr>
          <p:cNvPr id="42" name="Text 40"/>
          <p:cNvSpPr txBox="1"/>
          <p:nvPr/>
        </p:nvSpPr>
        <p:spPr>
          <a:xfrm>
            <a:off x="8805672" y="2926080"/>
            <a:ext cx="274320" cy="374904"/>
          </a:xfrm>
          <a:prstGeom prst="rect">
            <a:avLst/>
          </a:prstGeom>
          <a:noFill/>
          <a:ln/>
        </p:spPr>
        <p:txBody>
          <a:bodyPr wrap="square" lIns="0" tIns="0" rIns="0" bIns="0" rtlCol="0" anchor="ctr"/>
          <a:lstStyle/>
          <a:p>
            <a:pPr algn="ctr" indent="0" marL="0">
              <a:buNone/>
            </a:pPr>
            <a:r>
              <a:rPr lang="en-US" sz="1600" b="1" dirty="0">
                <a:solidFill>
                  <a:srgbClr val="4CC38A"/>
                </a:solidFill>
                <a:latin typeface="Arial" pitchFamily="34" charset="0"/>
                <a:ea typeface="Arial" pitchFamily="34" charset="-122"/>
                <a:cs typeface="Arial" pitchFamily="34" charset="-120"/>
              </a:rPr>
              <a:t>✓</a:t>
            </a:r>
            <a:endParaRPr lang="en-US" sz="1600" dirty="0"/>
          </a:p>
        </p:txBody>
      </p:sp>
      <p:sp>
        <p:nvSpPr>
          <p:cNvPr id="43" name="Text 41"/>
          <p:cNvSpPr txBox="1"/>
          <p:nvPr/>
        </p:nvSpPr>
        <p:spPr>
          <a:xfrm>
            <a:off x="9116568" y="2926080"/>
            <a:ext cx="2404872"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centered</a:t>
            </a:r>
            <a:endParaRPr lang="en-US" sz="1400" dirty="0"/>
          </a:p>
        </p:txBody>
      </p:sp>
      <p:sp>
        <p:nvSpPr>
          <p:cNvPr id="44" name="Text 42"/>
          <p:cNvSpPr txBox="1"/>
          <p:nvPr/>
        </p:nvSpPr>
        <p:spPr>
          <a:xfrm>
            <a:off x="548640" y="3355848"/>
            <a:ext cx="2286000" cy="37490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Contrastive operation</a:t>
            </a:r>
            <a:endParaRPr lang="en-US" sz="1500" dirty="0"/>
          </a:p>
        </p:txBody>
      </p:sp>
      <p:sp>
        <p:nvSpPr>
          <p:cNvPr id="45" name="Shape 43"/>
          <p:cNvSpPr/>
          <p:nvPr/>
        </p:nvSpPr>
        <p:spPr>
          <a:xfrm>
            <a:off x="2880360" y="3355848"/>
            <a:ext cx="2761488" cy="374904"/>
          </a:xfrm>
          <a:prstGeom prst="roundRect">
            <a:avLst>
              <a:gd name="adj" fmla="val 12195"/>
            </a:avLst>
          </a:prstGeom>
          <a:solidFill>
            <a:srgbClr val="131E33"/>
          </a:solidFill>
          <a:ln/>
        </p:spPr>
      </p:sp>
      <p:sp>
        <p:nvSpPr>
          <p:cNvPr id="46" name="Text 44"/>
          <p:cNvSpPr txBox="1"/>
          <p:nvPr/>
        </p:nvSpPr>
        <p:spPr>
          <a:xfrm>
            <a:off x="2990088" y="3355848"/>
            <a:ext cx="2615184" cy="37490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(A</a:t>
            </a:r>
            <a:pPr algn="l" indent="0" marL="0">
              <a:buNone/>
            </a:pPr>
            <a:r>
              <a:rPr lang="en-US" sz="1400" baseline="30000" dirty="0">
                <a:solidFill>
                  <a:srgbClr val="A7B4C8"/>
                </a:solidFill>
                <a:latin typeface="Arial" pitchFamily="34" charset="0"/>
                <a:ea typeface="Arial" pitchFamily="34" charset="-122"/>
                <a:cs typeface="Arial" pitchFamily="34" charset="-120"/>
              </a:rPr>
              <a:t>−1</a:t>
            </a:r>
            <a:pPr algn="l" indent="0" marL="0">
              <a:buNone/>
            </a:pPr>
            <a:r>
              <a:rPr lang="en-US" sz="1400" dirty="0">
                <a:solidFill>
                  <a:srgbClr val="A7B4C8"/>
                </a:solidFill>
                <a:latin typeface="Arial" pitchFamily="34" charset="0"/>
                <a:ea typeface="Arial" pitchFamily="34" charset="-122"/>
                <a:cs typeface="Arial" pitchFamily="34" charset="-120"/>
              </a:rPr>
              <a:t> + B</a:t>
            </a:r>
            <a:pPr algn="l" indent="0" marL="0">
              <a:buNone/>
            </a:pPr>
            <a:r>
              <a:rPr lang="en-US" sz="1400" baseline="30000" dirty="0">
                <a:solidFill>
                  <a:srgbClr val="A7B4C8"/>
                </a:solidFill>
                <a:latin typeface="Arial" pitchFamily="34" charset="0"/>
                <a:ea typeface="Arial" pitchFamily="34" charset="-122"/>
                <a:cs typeface="Arial" pitchFamily="34" charset="-120"/>
              </a:rPr>
              <a:t>−1</a:t>
            </a:r>
            <a:pPr algn="l" indent="0" marL="0">
              <a:buNone/>
            </a:pPr>
            <a:r>
              <a:rPr lang="en-US" sz="1400" dirty="0">
                <a:solidFill>
                  <a:srgbClr val="A7B4C8"/>
                </a:solidFill>
                <a:latin typeface="Arial" pitchFamily="34" charset="0"/>
                <a:ea typeface="Arial" pitchFamily="34" charset="-122"/>
                <a:cs typeface="Arial" pitchFamily="34" charset="-120"/>
              </a:rPr>
              <a:t> − I)</a:t>
            </a:r>
            <a:pPr algn="l" indent="0" marL="0">
              <a:buNone/>
            </a:pPr>
            <a:r>
              <a:rPr lang="en-US" sz="1400" baseline="30000" dirty="0">
                <a:solidFill>
                  <a:srgbClr val="A7B4C8"/>
                </a:solidFill>
                <a:latin typeface="Arial" pitchFamily="34" charset="0"/>
                <a:ea typeface="Arial" pitchFamily="34" charset="-122"/>
                <a:cs typeface="Arial" pitchFamily="34" charset="-120"/>
              </a:rPr>
              <a:t>−1</a:t>
            </a:r>
            <a:pPr algn="l" indent="0" marL="0">
              <a:buNone/>
            </a:pPr>
            <a:r>
              <a:rPr lang="en-US" sz="1400" dirty="0">
                <a:solidFill>
                  <a:srgbClr val="A7B4C8"/>
                </a:solidFill>
                <a:latin typeface="Arial" pitchFamily="34" charset="0"/>
                <a:ea typeface="Arial" pitchFamily="34" charset="-122"/>
                <a:cs typeface="Arial" pitchFamily="34" charset="-120"/>
              </a:rPr>
              <a:t>, pinv</a:t>
            </a:r>
            <a:endParaRPr lang="en-US" sz="1400" dirty="0"/>
          </a:p>
        </p:txBody>
      </p:sp>
      <p:sp>
        <p:nvSpPr>
          <p:cNvPr id="47" name="Shape 45"/>
          <p:cNvSpPr/>
          <p:nvPr/>
        </p:nvSpPr>
        <p:spPr>
          <a:xfrm>
            <a:off x="5760720" y="3355848"/>
            <a:ext cx="2852928" cy="374904"/>
          </a:xfrm>
          <a:prstGeom prst="roundRect">
            <a:avLst>
              <a:gd name="adj" fmla="val 12195"/>
            </a:avLst>
          </a:prstGeom>
          <a:solidFill>
            <a:srgbClr val="421B20"/>
          </a:solidFill>
          <a:ln/>
        </p:spPr>
      </p:sp>
      <p:sp>
        <p:nvSpPr>
          <p:cNvPr id="48" name="Text 46"/>
          <p:cNvSpPr txBox="1"/>
          <p:nvPr/>
        </p:nvSpPr>
        <p:spPr>
          <a:xfrm>
            <a:off x="5833872" y="3355848"/>
            <a:ext cx="274320" cy="374904"/>
          </a:xfrm>
          <a:prstGeom prst="rect">
            <a:avLst/>
          </a:prstGeom>
          <a:noFill/>
          <a:ln/>
        </p:spPr>
        <p:txBody>
          <a:bodyPr wrap="square" lIns="0" tIns="0" rIns="0" bIns="0" rtlCol="0" anchor="ctr"/>
          <a:lstStyle/>
          <a:p>
            <a:pPr algn="ctr" indent="0" marL="0">
              <a:buNone/>
            </a:pPr>
            <a:r>
              <a:rPr lang="en-US" sz="1600" b="1" dirty="0">
                <a:solidFill>
                  <a:srgbClr val="EF6B6B"/>
                </a:solidFill>
                <a:latin typeface="Arial" pitchFamily="34" charset="0"/>
                <a:ea typeface="Arial" pitchFamily="34" charset="-122"/>
                <a:cs typeface="Arial" pitchFamily="34" charset="-120"/>
              </a:rPr>
              <a:t>✗</a:t>
            </a:r>
            <a:endParaRPr lang="en-US" sz="1600" dirty="0"/>
          </a:p>
        </p:txBody>
      </p:sp>
      <p:sp>
        <p:nvSpPr>
          <p:cNvPr id="49" name="Text 47"/>
          <p:cNvSpPr txBox="1"/>
          <p:nvPr/>
        </p:nvSpPr>
        <p:spPr>
          <a:xfrm>
            <a:off x="6144768" y="3355848"/>
            <a:ext cx="2423160"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A (A + B − AB)</a:t>
            </a:r>
            <a:pPr algn="l" indent="0" marL="0">
              <a:buNone/>
            </a:pPr>
            <a:r>
              <a:rPr lang="en-US" sz="1400" baseline="30000" dirty="0">
                <a:solidFill>
                  <a:srgbClr val="F1F5F9"/>
                </a:solidFill>
                <a:latin typeface="Arial" pitchFamily="34" charset="0"/>
                <a:ea typeface="Arial" pitchFamily="34" charset="-122"/>
                <a:cs typeface="Arial" pitchFamily="34" charset="-120"/>
              </a:rPr>
              <a:t>−1</a:t>
            </a:r>
            <a:pPr algn="l" indent="0" marL="0">
              <a:buNone/>
            </a:pPr>
            <a:r>
              <a:rPr lang="en-US" sz="1400" dirty="0">
                <a:solidFill>
                  <a:srgbClr val="F1F5F9"/>
                </a:solidFill>
                <a:latin typeface="Arial" pitchFamily="34" charset="0"/>
                <a:ea typeface="Arial" pitchFamily="34" charset="-122"/>
                <a:cs typeface="Arial" pitchFamily="34" charset="-120"/>
              </a:rPr>
              <a:t> B</a:t>
            </a:r>
            <a:endParaRPr lang="en-US" sz="1400" dirty="0"/>
          </a:p>
        </p:txBody>
      </p:sp>
      <p:sp>
        <p:nvSpPr>
          <p:cNvPr id="50" name="Shape 48"/>
          <p:cNvSpPr/>
          <p:nvPr/>
        </p:nvSpPr>
        <p:spPr>
          <a:xfrm>
            <a:off x="8732520" y="3355848"/>
            <a:ext cx="2834640" cy="374904"/>
          </a:xfrm>
          <a:prstGeom prst="roundRect">
            <a:avLst>
              <a:gd name="adj" fmla="val 12195"/>
            </a:avLst>
          </a:prstGeom>
          <a:solidFill>
            <a:srgbClr val="421B20"/>
          </a:solidFill>
          <a:ln/>
        </p:spPr>
      </p:sp>
      <p:sp>
        <p:nvSpPr>
          <p:cNvPr id="51" name="Text 49"/>
          <p:cNvSpPr txBox="1"/>
          <p:nvPr/>
        </p:nvSpPr>
        <p:spPr>
          <a:xfrm>
            <a:off x="8805672" y="3355848"/>
            <a:ext cx="274320" cy="374904"/>
          </a:xfrm>
          <a:prstGeom prst="rect">
            <a:avLst/>
          </a:prstGeom>
          <a:noFill/>
          <a:ln/>
        </p:spPr>
        <p:txBody>
          <a:bodyPr wrap="square" lIns="0" tIns="0" rIns="0" bIns="0" rtlCol="0" anchor="ctr"/>
          <a:lstStyle/>
          <a:p>
            <a:pPr algn="ctr" indent="0" marL="0">
              <a:buNone/>
            </a:pPr>
            <a:r>
              <a:rPr lang="en-US" sz="1600" b="1" dirty="0">
                <a:solidFill>
                  <a:srgbClr val="EF6B6B"/>
                </a:solidFill>
                <a:latin typeface="Arial" pitchFamily="34" charset="0"/>
                <a:ea typeface="Arial" pitchFamily="34" charset="-122"/>
                <a:cs typeface="Arial" pitchFamily="34" charset="-120"/>
              </a:rPr>
              <a:t>✗</a:t>
            </a:r>
            <a:endParaRPr lang="en-US" sz="1600" dirty="0"/>
          </a:p>
        </p:txBody>
      </p:sp>
      <p:sp>
        <p:nvSpPr>
          <p:cNvPr id="52" name="Text 50"/>
          <p:cNvSpPr txBox="1"/>
          <p:nvPr/>
        </p:nvSpPr>
        <p:spPr>
          <a:xfrm>
            <a:off x="9116568" y="3355848"/>
            <a:ext cx="2404872"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C</a:t>
            </a:r>
            <a:pPr algn="l" indent="0" marL="0">
              <a:buNone/>
            </a:pPr>
            <a:r>
              <a:rPr lang="en-US" sz="1400" baseline="-40000" dirty="0">
                <a:solidFill>
                  <a:srgbClr val="F1F5F9"/>
                </a:solidFill>
                <a:latin typeface="Arial" pitchFamily="34" charset="0"/>
                <a:ea typeface="Arial" pitchFamily="34" charset="-122"/>
                <a:cs typeface="Arial" pitchFamily="34" charset="-120"/>
              </a:rPr>
              <a:t>s</a:t>
            </a:r>
            <a:pPr algn="l" indent="0" marL="0">
              <a:buNone/>
            </a:pPr>
            <a:r>
              <a:rPr lang="en-US" sz="1400" dirty="0">
                <a:solidFill>
                  <a:srgbClr val="F1F5F9"/>
                </a:solidFill>
                <a:latin typeface="Arial" pitchFamily="34" charset="0"/>
                <a:ea typeface="Arial" pitchFamily="34" charset="-122"/>
                <a:cs typeface="Arial" pitchFamily="34" charset="-120"/>
              </a:rPr>
              <a:t> (I − C</a:t>
            </a:r>
            <a:pPr algn="l" indent="0" marL="0">
              <a:buNone/>
            </a:pPr>
            <a:r>
              <a:rPr lang="en-US" sz="1400" baseline="-40000" dirty="0">
                <a:solidFill>
                  <a:srgbClr val="F1F5F9"/>
                </a:solidFill>
                <a:latin typeface="Arial" pitchFamily="34" charset="0"/>
                <a:ea typeface="Arial" pitchFamily="34" charset="-122"/>
                <a:cs typeface="Arial" pitchFamily="34" charset="-120"/>
              </a:rPr>
              <a:t>f</a:t>
            </a:r>
            <a:pPr algn="l" indent="0" marL="0">
              <a:buNone/>
            </a:pPr>
            <a:r>
              <a:rPr lang="en-US" sz="1400" dirty="0">
                <a:solidFill>
                  <a:srgbClr val="F1F5F9"/>
                </a:solidFill>
                <a:latin typeface="Arial" pitchFamily="34" charset="0"/>
                <a:ea typeface="Arial" pitchFamily="34" charset="-122"/>
                <a:cs typeface="Arial" pitchFamily="34" charset="-120"/>
              </a:rPr>
              <a:t>)</a:t>
            </a:r>
            <a:endParaRPr lang="en-US" sz="1400" dirty="0"/>
          </a:p>
        </p:txBody>
      </p:sp>
      <p:sp>
        <p:nvSpPr>
          <p:cNvPr id="53" name="Text 51"/>
          <p:cNvSpPr txBox="1"/>
          <p:nvPr/>
        </p:nvSpPr>
        <p:spPr>
          <a:xfrm>
            <a:off x="548640" y="3785616"/>
            <a:ext cx="2286000" cy="37490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Global aggregation</a:t>
            </a:r>
            <a:endParaRPr lang="en-US" sz="1500" dirty="0"/>
          </a:p>
        </p:txBody>
      </p:sp>
      <p:sp>
        <p:nvSpPr>
          <p:cNvPr id="54" name="Shape 52"/>
          <p:cNvSpPr/>
          <p:nvPr/>
        </p:nvSpPr>
        <p:spPr>
          <a:xfrm>
            <a:off x="2880360" y="3785616"/>
            <a:ext cx="2761488" cy="374904"/>
          </a:xfrm>
          <a:prstGeom prst="roundRect">
            <a:avLst>
              <a:gd name="adj" fmla="val 12195"/>
            </a:avLst>
          </a:prstGeom>
          <a:solidFill>
            <a:srgbClr val="131E33"/>
          </a:solidFill>
          <a:ln/>
        </p:spPr>
      </p:sp>
      <p:sp>
        <p:nvSpPr>
          <p:cNvPr id="55" name="Text 53"/>
          <p:cNvSpPr txBox="1"/>
          <p:nvPr/>
        </p:nvSpPr>
        <p:spPr>
          <a:xfrm>
            <a:off x="2990088" y="3785616"/>
            <a:ext cx="2615184" cy="37490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all denoising steps</a:t>
            </a:r>
            <a:endParaRPr lang="en-US" sz="1400" dirty="0"/>
          </a:p>
        </p:txBody>
      </p:sp>
      <p:sp>
        <p:nvSpPr>
          <p:cNvPr id="56" name="Shape 54"/>
          <p:cNvSpPr/>
          <p:nvPr/>
        </p:nvSpPr>
        <p:spPr>
          <a:xfrm>
            <a:off x="5760720" y="3785616"/>
            <a:ext cx="2852928" cy="374904"/>
          </a:xfrm>
          <a:prstGeom prst="roundRect">
            <a:avLst>
              <a:gd name="adj" fmla="val 12195"/>
            </a:avLst>
          </a:prstGeom>
          <a:solidFill>
            <a:srgbClr val="123A2A"/>
          </a:solidFill>
          <a:ln/>
        </p:spPr>
      </p:sp>
      <p:sp>
        <p:nvSpPr>
          <p:cNvPr id="57" name="Text 55"/>
          <p:cNvSpPr txBox="1"/>
          <p:nvPr/>
        </p:nvSpPr>
        <p:spPr>
          <a:xfrm>
            <a:off x="5833872" y="3785616"/>
            <a:ext cx="274320" cy="374904"/>
          </a:xfrm>
          <a:prstGeom prst="rect">
            <a:avLst/>
          </a:prstGeom>
          <a:noFill/>
          <a:ln/>
        </p:spPr>
        <p:txBody>
          <a:bodyPr wrap="square" lIns="0" tIns="0" rIns="0" bIns="0" rtlCol="0" anchor="ctr"/>
          <a:lstStyle/>
          <a:p>
            <a:pPr algn="ctr" indent="0" marL="0">
              <a:buNone/>
            </a:pPr>
            <a:r>
              <a:rPr lang="en-US" sz="1600" b="1" dirty="0">
                <a:solidFill>
                  <a:srgbClr val="4CC38A"/>
                </a:solidFill>
                <a:latin typeface="Arial" pitchFamily="34" charset="0"/>
                <a:ea typeface="Arial" pitchFamily="34" charset="-122"/>
                <a:cs typeface="Arial" pitchFamily="34" charset="-120"/>
              </a:rPr>
              <a:t>✓</a:t>
            </a:r>
            <a:endParaRPr lang="en-US" sz="1600" dirty="0"/>
          </a:p>
        </p:txBody>
      </p:sp>
      <p:sp>
        <p:nvSpPr>
          <p:cNvPr id="58" name="Text 56"/>
          <p:cNvSpPr txBox="1"/>
          <p:nvPr/>
        </p:nvSpPr>
        <p:spPr>
          <a:xfrm>
            <a:off x="6144768" y="3785616"/>
            <a:ext cx="2423160"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all steps × all tokens</a:t>
            </a:r>
            <a:endParaRPr lang="en-US" sz="1400" dirty="0"/>
          </a:p>
        </p:txBody>
      </p:sp>
      <p:sp>
        <p:nvSpPr>
          <p:cNvPr id="59" name="Shape 57"/>
          <p:cNvSpPr/>
          <p:nvPr/>
        </p:nvSpPr>
        <p:spPr>
          <a:xfrm>
            <a:off x="8732520" y="3785616"/>
            <a:ext cx="2834640" cy="374904"/>
          </a:xfrm>
          <a:prstGeom prst="roundRect">
            <a:avLst>
              <a:gd name="adj" fmla="val 12195"/>
            </a:avLst>
          </a:prstGeom>
          <a:solidFill>
            <a:srgbClr val="421B20"/>
          </a:solidFill>
          <a:ln/>
        </p:spPr>
      </p:sp>
      <p:sp>
        <p:nvSpPr>
          <p:cNvPr id="60" name="Text 58"/>
          <p:cNvSpPr txBox="1"/>
          <p:nvPr/>
        </p:nvSpPr>
        <p:spPr>
          <a:xfrm>
            <a:off x="8805672" y="3785616"/>
            <a:ext cx="274320" cy="374904"/>
          </a:xfrm>
          <a:prstGeom prst="rect">
            <a:avLst/>
          </a:prstGeom>
          <a:noFill/>
          <a:ln/>
        </p:spPr>
        <p:txBody>
          <a:bodyPr wrap="square" lIns="0" tIns="0" rIns="0" bIns="0" rtlCol="0" anchor="ctr"/>
          <a:lstStyle/>
          <a:p>
            <a:pPr algn="ctr" indent="0" marL="0">
              <a:buNone/>
            </a:pPr>
            <a:r>
              <a:rPr lang="en-US" sz="1600" b="1" dirty="0">
                <a:solidFill>
                  <a:srgbClr val="EF6B6B"/>
                </a:solidFill>
                <a:latin typeface="Arial" pitchFamily="34" charset="0"/>
                <a:ea typeface="Arial" pitchFamily="34" charset="-122"/>
                <a:cs typeface="Arial" pitchFamily="34" charset="-120"/>
              </a:rPr>
              <a:t>✗</a:t>
            </a:r>
            <a:endParaRPr lang="en-US" sz="1600" dirty="0"/>
          </a:p>
        </p:txBody>
      </p:sp>
      <p:sp>
        <p:nvSpPr>
          <p:cNvPr id="61" name="Text 59"/>
          <p:cNvSpPr txBox="1"/>
          <p:nvPr/>
        </p:nvSpPr>
        <p:spPr>
          <a:xfrm>
            <a:off x="9116568" y="3785616"/>
            <a:ext cx="2404872"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denoising step 0 only</a:t>
            </a:r>
            <a:endParaRPr lang="en-US" sz="1400" dirty="0"/>
          </a:p>
        </p:txBody>
      </p:sp>
      <p:sp>
        <p:nvSpPr>
          <p:cNvPr id="62" name="Text 60"/>
          <p:cNvSpPr txBox="1"/>
          <p:nvPr/>
        </p:nvSpPr>
        <p:spPr>
          <a:xfrm>
            <a:off x="548640" y="4215384"/>
            <a:ext cx="2286000" cy="37490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Per-step α</a:t>
            </a:r>
            <a:endParaRPr lang="en-US" sz="1500" dirty="0"/>
          </a:p>
        </p:txBody>
      </p:sp>
      <p:sp>
        <p:nvSpPr>
          <p:cNvPr id="63" name="Shape 61"/>
          <p:cNvSpPr/>
          <p:nvPr/>
        </p:nvSpPr>
        <p:spPr>
          <a:xfrm>
            <a:off x="2880360" y="4215384"/>
            <a:ext cx="2761488" cy="374904"/>
          </a:xfrm>
          <a:prstGeom prst="roundRect">
            <a:avLst>
              <a:gd name="adj" fmla="val 12195"/>
            </a:avLst>
          </a:prstGeom>
          <a:solidFill>
            <a:srgbClr val="131E33"/>
          </a:solidFill>
          <a:ln/>
        </p:spPr>
      </p:sp>
      <p:sp>
        <p:nvSpPr>
          <p:cNvPr id="64" name="Text 62"/>
          <p:cNvSpPr txBox="1"/>
          <p:nvPr/>
        </p:nvSpPr>
        <p:spPr>
          <a:xfrm>
            <a:off x="2990088" y="4215384"/>
            <a:ext cx="2615184" cy="37490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α = 10 (KS3)</a:t>
            </a:r>
            <a:endParaRPr lang="en-US" sz="1400" dirty="0"/>
          </a:p>
        </p:txBody>
      </p:sp>
      <p:sp>
        <p:nvSpPr>
          <p:cNvPr id="65" name="Shape 63"/>
          <p:cNvSpPr/>
          <p:nvPr/>
        </p:nvSpPr>
        <p:spPr>
          <a:xfrm>
            <a:off x="5760720" y="4215384"/>
            <a:ext cx="2852928" cy="374904"/>
          </a:xfrm>
          <a:prstGeom prst="roundRect">
            <a:avLst>
              <a:gd name="adj" fmla="val 12195"/>
            </a:avLst>
          </a:prstGeom>
          <a:solidFill>
            <a:srgbClr val="421B20"/>
          </a:solidFill>
          <a:ln/>
        </p:spPr>
      </p:sp>
      <p:sp>
        <p:nvSpPr>
          <p:cNvPr id="66" name="Text 64"/>
          <p:cNvSpPr txBox="1"/>
          <p:nvPr/>
        </p:nvSpPr>
        <p:spPr>
          <a:xfrm>
            <a:off x="5833872" y="4215384"/>
            <a:ext cx="274320" cy="374904"/>
          </a:xfrm>
          <a:prstGeom prst="rect">
            <a:avLst/>
          </a:prstGeom>
          <a:noFill/>
          <a:ln/>
        </p:spPr>
        <p:txBody>
          <a:bodyPr wrap="square" lIns="0" tIns="0" rIns="0" bIns="0" rtlCol="0" anchor="ctr"/>
          <a:lstStyle/>
          <a:p>
            <a:pPr algn="ctr" indent="0" marL="0">
              <a:buNone/>
            </a:pPr>
            <a:r>
              <a:rPr lang="en-US" sz="1600" b="1" dirty="0">
                <a:solidFill>
                  <a:srgbClr val="EF6B6B"/>
                </a:solidFill>
                <a:latin typeface="Arial" pitchFamily="34" charset="0"/>
                <a:ea typeface="Arial" pitchFamily="34" charset="-122"/>
                <a:cs typeface="Arial" pitchFamily="34" charset="-120"/>
              </a:rPr>
              <a:t>✗</a:t>
            </a:r>
            <a:endParaRPr lang="en-US" sz="1600" dirty="0"/>
          </a:p>
        </p:txBody>
      </p:sp>
      <p:sp>
        <p:nvSpPr>
          <p:cNvPr id="67" name="Text 65"/>
          <p:cNvSpPr txBox="1"/>
          <p:nvPr/>
        </p:nvSpPr>
        <p:spPr>
          <a:xfrm>
            <a:off x="6144768" y="4215384"/>
            <a:ext cx="2423160"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fixed α = 1.0</a:t>
            </a:r>
            <a:endParaRPr lang="en-US" sz="1400" dirty="0"/>
          </a:p>
        </p:txBody>
      </p:sp>
      <p:sp>
        <p:nvSpPr>
          <p:cNvPr id="68" name="Shape 66"/>
          <p:cNvSpPr/>
          <p:nvPr/>
        </p:nvSpPr>
        <p:spPr>
          <a:xfrm>
            <a:off x="8732520" y="4215384"/>
            <a:ext cx="2834640" cy="374904"/>
          </a:xfrm>
          <a:prstGeom prst="roundRect">
            <a:avLst>
              <a:gd name="adj" fmla="val 12195"/>
            </a:avLst>
          </a:prstGeom>
          <a:solidFill>
            <a:srgbClr val="421B20"/>
          </a:solidFill>
          <a:ln/>
        </p:spPr>
      </p:sp>
      <p:sp>
        <p:nvSpPr>
          <p:cNvPr id="69" name="Text 67"/>
          <p:cNvSpPr txBox="1"/>
          <p:nvPr/>
        </p:nvSpPr>
        <p:spPr>
          <a:xfrm>
            <a:off x="8805672" y="4215384"/>
            <a:ext cx="274320" cy="374904"/>
          </a:xfrm>
          <a:prstGeom prst="rect">
            <a:avLst/>
          </a:prstGeom>
          <a:noFill/>
          <a:ln/>
        </p:spPr>
        <p:txBody>
          <a:bodyPr wrap="square" lIns="0" tIns="0" rIns="0" bIns="0" rtlCol="0" anchor="ctr"/>
          <a:lstStyle/>
          <a:p>
            <a:pPr algn="ctr" indent="0" marL="0">
              <a:buNone/>
            </a:pPr>
            <a:r>
              <a:rPr lang="en-US" sz="1600" b="1" dirty="0">
                <a:solidFill>
                  <a:srgbClr val="EF6B6B"/>
                </a:solidFill>
                <a:latin typeface="Arial" pitchFamily="34" charset="0"/>
                <a:ea typeface="Arial" pitchFamily="34" charset="-122"/>
                <a:cs typeface="Arial" pitchFamily="34" charset="-120"/>
              </a:rPr>
              <a:t>✗</a:t>
            </a:r>
            <a:endParaRPr lang="en-US" sz="1600" dirty="0"/>
          </a:p>
        </p:txBody>
      </p:sp>
      <p:sp>
        <p:nvSpPr>
          <p:cNvPr id="70" name="Text 68"/>
          <p:cNvSpPr txBox="1"/>
          <p:nvPr/>
        </p:nvSpPr>
        <p:spPr>
          <a:xfrm>
            <a:off x="9116568" y="4215384"/>
            <a:ext cx="2404872"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label a10.0; conceptor α = 1</a:t>
            </a:r>
            <a:endParaRPr lang="en-US" sz="1400" dirty="0"/>
          </a:p>
        </p:txBody>
      </p:sp>
      <p:sp>
        <p:nvSpPr>
          <p:cNvPr id="71" name="Text 69"/>
          <p:cNvSpPr txBox="1"/>
          <p:nvPr/>
        </p:nvSpPr>
        <p:spPr>
          <a:xfrm>
            <a:off x="548640" y="4645152"/>
            <a:ext cx="2286000" cy="37490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Per-step mechanism</a:t>
            </a:r>
            <a:endParaRPr lang="en-US" sz="1500" dirty="0"/>
          </a:p>
        </p:txBody>
      </p:sp>
      <p:sp>
        <p:nvSpPr>
          <p:cNvPr id="72" name="Shape 70"/>
          <p:cNvSpPr/>
          <p:nvPr/>
        </p:nvSpPr>
        <p:spPr>
          <a:xfrm>
            <a:off x="2880360" y="4645152"/>
            <a:ext cx="2761488" cy="374904"/>
          </a:xfrm>
          <a:prstGeom prst="roundRect">
            <a:avLst>
              <a:gd name="adj" fmla="val 12195"/>
            </a:avLst>
          </a:prstGeom>
          <a:solidFill>
            <a:srgbClr val="131E33"/>
          </a:solidFill>
          <a:ln/>
        </p:spPr>
      </p:sp>
      <p:sp>
        <p:nvSpPr>
          <p:cNvPr id="73" name="Text 71"/>
          <p:cNvSpPr txBox="1"/>
          <p:nvPr/>
        </p:nvSpPr>
        <p:spPr>
          <a:xfrm>
            <a:off x="2990088" y="4645152"/>
            <a:ext cx="2615184" cy="37490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separate C per step</a:t>
            </a:r>
            <a:endParaRPr lang="en-US" sz="1400" dirty="0"/>
          </a:p>
        </p:txBody>
      </p:sp>
      <p:sp>
        <p:nvSpPr>
          <p:cNvPr id="74" name="Shape 72"/>
          <p:cNvSpPr/>
          <p:nvPr/>
        </p:nvSpPr>
        <p:spPr>
          <a:xfrm>
            <a:off x="5760720" y="4645152"/>
            <a:ext cx="2852928" cy="374904"/>
          </a:xfrm>
          <a:prstGeom prst="roundRect">
            <a:avLst>
              <a:gd name="adj" fmla="val 12195"/>
            </a:avLst>
          </a:prstGeom>
          <a:solidFill>
            <a:srgbClr val="123A2A"/>
          </a:solidFill>
          <a:ln/>
        </p:spPr>
      </p:sp>
      <p:sp>
        <p:nvSpPr>
          <p:cNvPr id="75" name="Text 73"/>
          <p:cNvSpPr txBox="1"/>
          <p:nvPr/>
        </p:nvSpPr>
        <p:spPr>
          <a:xfrm>
            <a:off x="5833872" y="4645152"/>
            <a:ext cx="274320" cy="374904"/>
          </a:xfrm>
          <a:prstGeom prst="rect">
            <a:avLst/>
          </a:prstGeom>
          <a:noFill/>
          <a:ln/>
        </p:spPr>
        <p:txBody>
          <a:bodyPr wrap="square" lIns="0" tIns="0" rIns="0" bIns="0" rtlCol="0" anchor="ctr"/>
          <a:lstStyle/>
          <a:p>
            <a:pPr algn="ctr" indent="0" marL="0">
              <a:buNone/>
            </a:pPr>
            <a:r>
              <a:rPr lang="en-US" sz="1600" b="1" dirty="0">
                <a:solidFill>
                  <a:srgbClr val="4CC38A"/>
                </a:solidFill>
                <a:latin typeface="Arial" pitchFamily="34" charset="0"/>
                <a:ea typeface="Arial" pitchFamily="34" charset="-122"/>
                <a:cs typeface="Arial" pitchFamily="34" charset="-120"/>
              </a:rPr>
              <a:t>✓</a:t>
            </a:r>
            <a:endParaRPr lang="en-US" sz="1600" dirty="0"/>
          </a:p>
        </p:txBody>
      </p:sp>
      <p:sp>
        <p:nvSpPr>
          <p:cNvPr id="76" name="Text 74"/>
          <p:cNvSpPr txBox="1"/>
          <p:nvPr/>
        </p:nvSpPr>
        <p:spPr>
          <a:xfrm>
            <a:off x="6144768" y="4645152"/>
            <a:ext cx="2423160"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time-varying</a:t>
            </a:r>
            <a:endParaRPr lang="en-US" sz="1400" dirty="0"/>
          </a:p>
        </p:txBody>
      </p:sp>
      <p:sp>
        <p:nvSpPr>
          <p:cNvPr id="77" name="Shape 75"/>
          <p:cNvSpPr/>
          <p:nvPr/>
        </p:nvSpPr>
        <p:spPr>
          <a:xfrm>
            <a:off x="8732520" y="4645152"/>
            <a:ext cx="2834640" cy="374904"/>
          </a:xfrm>
          <a:prstGeom prst="roundRect">
            <a:avLst>
              <a:gd name="adj" fmla="val 12195"/>
            </a:avLst>
          </a:prstGeom>
          <a:solidFill>
            <a:srgbClr val="421B20"/>
          </a:solidFill>
          <a:ln/>
        </p:spPr>
      </p:sp>
      <p:sp>
        <p:nvSpPr>
          <p:cNvPr id="78" name="Text 76"/>
          <p:cNvSpPr txBox="1"/>
          <p:nvPr/>
        </p:nvSpPr>
        <p:spPr>
          <a:xfrm>
            <a:off x="8805672" y="4645152"/>
            <a:ext cx="274320" cy="374904"/>
          </a:xfrm>
          <a:prstGeom prst="rect">
            <a:avLst/>
          </a:prstGeom>
          <a:noFill/>
          <a:ln/>
        </p:spPr>
        <p:txBody>
          <a:bodyPr wrap="square" lIns="0" tIns="0" rIns="0" bIns="0" rtlCol="0" anchor="ctr"/>
          <a:lstStyle/>
          <a:p>
            <a:pPr algn="ctr" indent="0" marL="0">
              <a:buNone/>
            </a:pPr>
            <a:r>
              <a:rPr lang="en-US" sz="1600" b="1" dirty="0">
                <a:solidFill>
                  <a:srgbClr val="EF6B6B"/>
                </a:solidFill>
                <a:latin typeface="Arial" pitchFamily="34" charset="0"/>
                <a:ea typeface="Arial" pitchFamily="34" charset="-122"/>
                <a:cs typeface="Arial" pitchFamily="34" charset="-120"/>
              </a:rPr>
              <a:t>✗</a:t>
            </a:r>
            <a:endParaRPr lang="en-US" sz="1600" dirty="0"/>
          </a:p>
        </p:txBody>
      </p:sp>
      <p:sp>
        <p:nvSpPr>
          <p:cNvPr id="79" name="Text 77"/>
          <p:cNvSpPr txBox="1"/>
          <p:nvPr/>
        </p:nvSpPr>
        <p:spPr>
          <a:xfrm>
            <a:off x="9116568" y="4645152"/>
            <a:ext cx="2404872"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fixed ds-0 or ds-9 C</a:t>
            </a:r>
            <a:endParaRPr lang="en-US" sz="1400" dirty="0"/>
          </a:p>
        </p:txBody>
      </p:sp>
      <p:sp>
        <p:nvSpPr>
          <p:cNvPr id="80" name="Text 78"/>
          <p:cNvSpPr txBox="1"/>
          <p:nvPr/>
        </p:nvSpPr>
        <p:spPr>
          <a:xfrm>
            <a:off x="548640" y="5074920"/>
            <a:ext cx="2286000" cy="374904"/>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Grid size</a:t>
            </a:r>
            <a:endParaRPr lang="en-US" sz="1500" dirty="0"/>
          </a:p>
        </p:txBody>
      </p:sp>
      <p:sp>
        <p:nvSpPr>
          <p:cNvPr id="81" name="Shape 79"/>
          <p:cNvSpPr/>
          <p:nvPr/>
        </p:nvSpPr>
        <p:spPr>
          <a:xfrm>
            <a:off x="2880360" y="5074920"/>
            <a:ext cx="2761488" cy="374904"/>
          </a:xfrm>
          <a:prstGeom prst="roundRect">
            <a:avLst>
              <a:gd name="adj" fmla="val 12195"/>
            </a:avLst>
          </a:prstGeom>
          <a:solidFill>
            <a:srgbClr val="131E33"/>
          </a:solidFill>
          <a:ln/>
        </p:spPr>
      </p:sp>
      <p:sp>
        <p:nvSpPr>
          <p:cNvPr id="82" name="Text 80"/>
          <p:cNvSpPr txBox="1"/>
          <p:nvPr/>
        </p:nvSpPr>
        <p:spPr>
          <a:xfrm>
            <a:off x="2990088" y="5074920"/>
            <a:ext cx="2615184" cy="374904"/>
          </a:xfrm>
          <a:prstGeom prst="rect">
            <a:avLst/>
          </a:prstGeom>
          <a:noFill/>
          <a:ln/>
        </p:spPr>
        <p:txBody>
          <a:bodyPr wrap="square" lIns="0" tIns="0" rIns="0" bIns="0" rtlCol="0" anchor="ctr"/>
          <a:lstStyle/>
          <a:p>
            <a:pPr algn="l" indent="0" marL="0">
              <a:buNone/>
            </a:pPr>
            <a:r>
              <a:rPr lang="en-US" sz="1400" dirty="0">
                <a:solidFill>
                  <a:srgbClr val="A7B4C8"/>
                </a:solidFill>
                <a:latin typeface="Arial" pitchFamily="34" charset="0"/>
                <a:ea typeface="Arial" pitchFamily="34" charset="-122"/>
                <a:cs typeface="Arial" pitchFamily="34" charset="-120"/>
              </a:rPr>
              <a:t>240 (Table 14); text: up to 152</a:t>
            </a:r>
            <a:endParaRPr lang="en-US" sz="1400" dirty="0"/>
          </a:p>
        </p:txBody>
      </p:sp>
      <p:sp>
        <p:nvSpPr>
          <p:cNvPr id="83" name="Shape 81"/>
          <p:cNvSpPr/>
          <p:nvPr/>
        </p:nvSpPr>
        <p:spPr>
          <a:xfrm>
            <a:off x="5760720" y="5074920"/>
            <a:ext cx="2852928" cy="374904"/>
          </a:xfrm>
          <a:prstGeom prst="roundRect">
            <a:avLst>
              <a:gd name="adj" fmla="val 12195"/>
            </a:avLst>
          </a:prstGeom>
          <a:solidFill>
            <a:srgbClr val="3D3314"/>
          </a:solidFill>
          <a:ln/>
        </p:spPr>
      </p:sp>
      <p:sp>
        <p:nvSpPr>
          <p:cNvPr id="84" name="Text 82"/>
          <p:cNvSpPr txBox="1"/>
          <p:nvPr/>
        </p:nvSpPr>
        <p:spPr>
          <a:xfrm>
            <a:off x="5833872" y="5074920"/>
            <a:ext cx="274320" cy="374904"/>
          </a:xfrm>
          <a:prstGeom prst="rect">
            <a:avLst/>
          </a:prstGeom>
          <a:noFill/>
          <a:ln/>
        </p:spPr>
        <p:txBody>
          <a:bodyPr wrap="square" lIns="0" tIns="0" rIns="0" bIns="0" rtlCol="0" anchor="ctr"/>
          <a:lstStyle/>
          <a:p>
            <a:pPr algn="ctr" indent="0" marL="0">
              <a:buNone/>
            </a:pPr>
            <a:r>
              <a:rPr lang="en-US" sz="1600" b="1" dirty="0">
                <a:solidFill>
                  <a:srgbClr val="F2C94C"/>
                </a:solidFill>
                <a:latin typeface="Arial" pitchFamily="34" charset="0"/>
                <a:ea typeface="Arial" pitchFamily="34" charset="-122"/>
                <a:cs typeface="Arial" pitchFamily="34" charset="-120"/>
              </a:rPr>
              <a:t>!</a:t>
            </a:r>
            <a:endParaRPr lang="en-US" sz="1600" dirty="0"/>
          </a:p>
        </p:txBody>
      </p:sp>
      <p:sp>
        <p:nvSpPr>
          <p:cNvPr id="85" name="Text 83"/>
          <p:cNvSpPr txBox="1"/>
          <p:nvPr/>
        </p:nvSpPr>
        <p:spPr>
          <a:xfrm>
            <a:off x="6144768" y="5074920"/>
            <a:ext cx="2423160"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configurable; per-step α fixed</a:t>
            </a:r>
            <a:endParaRPr lang="en-US" sz="1400" dirty="0"/>
          </a:p>
        </p:txBody>
      </p:sp>
      <p:sp>
        <p:nvSpPr>
          <p:cNvPr id="86" name="Shape 84"/>
          <p:cNvSpPr/>
          <p:nvPr/>
        </p:nvSpPr>
        <p:spPr>
          <a:xfrm>
            <a:off x="8732520" y="5074920"/>
            <a:ext cx="2834640" cy="374904"/>
          </a:xfrm>
          <a:prstGeom prst="roundRect">
            <a:avLst>
              <a:gd name="adj" fmla="val 12195"/>
            </a:avLst>
          </a:prstGeom>
          <a:solidFill>
            <a:srgbClr val="123A2A"/>
          </a:solidFill>
          <a:ln/>
        </p:spPr>
      </p:sp>
      <p:sp>
        <p:nvSpPr>
          <p:cNvPr id="87" name="Text 85"/>
          <p:cNvSpPr txBox="1"/>
          <p:nvPr/>
        </p:nvSpPr>
        <p:spPr>
          <a:xfrm>
            <a:off x="8805672" y="5074920"/>
            <a:ext cx="274320" cy="374904"/>
          </a:xfrm>
          <a:prstGeom prst="rect">
            <a:avLst/>
          </a:prstGeom>
          <a:noFill/>
          <a:ln/>
        </p:spPr>
        <p:txBody>
          <a:bodyPr wrap="square" lIns="0" tIns="0" rIns="0" bIns="0" rtlCol="0" anchor="ctr"/>
          <a:lstStyle/>
          <a:p>
            <a:pPr algn="ctr" indent="0" marL="0">
              <a:buNone/>
            </a:pPr>
            <a:r>
              <a:rPr lang="en-US" sz="1600" b="1" dirty="0">
                <a:solidFill>
                  <a:srgbClr val="4CC38A"/>
                </a:solidFill>
                <a:latin typeface="Arial" pitchFamily="34" charset="0"/>
                <a:ea typeface="Arial" pitchFamily="34" charset="-122"/>
                <a:cs typeface="Arial" pitchFamily="34" charset="-120"/>
              </a:rPr>
              <a:t>✓</a:t>
            </a:r>
            <a:endParaRPr lang="en-US" sz="1600" dirty="0"/>
          </a:p>
        </p:txBody>
      </p:sp>
      <p:sp>
        <p:nvSpPr>
          <p:cNvPr id="88" name="Text 86"/>
          <p:cNvSpPr txBox="1"/>
          <p:nvPr/>
        </p:nvSpPr>
        <p:spPr>
          <a:xfrm>
            <a:off x="9116568" y="5074920"/>
            <a:ext cx="2404872" cy="374904"/>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152 (matches text + cells)</a:t>
            </a:r>
            <a:endParaRPr lang="en-US" sz="1400" dirty="0"/>
          </a:p>
        </p:txBody>
      </p:sp>
      <p:sp>
        <p:nvSpPr>
          <p:cNvPr id="89" name="Text 87"/>
          <p:cNvSpPr txBox="1"/>
          <p:nvPr/>
        </p:nvSpPr>
        <p:spPr>
          <a:xfrm>
            <a:off x="548640" y="5541264"/>
            <a:ext cx="11094415" cy="256032"/>
          </a:xfrm>
          <a:prstGeom prst="rect">
            <a:avLst/>
          </a:prstGeom>
          <a:noFill/>
          <a:ln/>
        </p:spPr>
        <p:txBody>
          <a:bodyPr wrap="square" lIns="0" tIns="0" rIns="0" bIns="0" rtlCol="0" anchor="t"/>
          <a:lstStyle/>
          <a:p>
            <a:pPr algn="l" indent="0" marL="0">
              <a:buNone/>
            </a:pPr>
            <a:r>
              <a:rPr lang="en-US" sz="1250" dirty="0">
                <a:solidFill>
                  <a:srgbClr val="4CC38A"/>
                </a:solidFill>
                <a:latin typeface="Arial" pitchFamily="34" charset="0"/>
                <a:ea typeface="Arial" pitchFamily="34" charset="-122"/>
                <a:cs typeface="Arial" pitchFamily="34" charset="-120"/>
              </a:rPr>
              <a:t>✓</a:t>
            </a:r>
            <a:pPr algn="l" indent="0" marL="0">
              <a:buNone/>
            </a:pPr>
            <a:r>
              <a:rPr lang="en-US" sz="1250" dirty="0">
                <a:solidFill>
                  <a:srgbClr val="A7B4C8"/>
                </a:solidFill>
                <a:latin typeface="Arial" pitchFamily="34" charset="0"/>
                <a:ea typeface="Arial" pitchFamily="34" charset="-122"/>
                <a:cs typeface="Arial" pitchFamily="34" charset="-120"/>
              </a:rPr>
              <a:t> as in the paper text    </a:t>
            </a:r>
            <a:pPr algn="l" indent="0" marL="0">
              <a:buNone/>
            </a:pPr>
            <a:r>
              <a:rPr lang="en-US" sz="1250" dirty="0">
                <a:solidFill>
                  <a:srgbClr val="EF6B6B"/>
                </a:solidFill>
                <a:latin typeface="Arial" pitchFamily="34" charset="0"/>
                <a:ea typeface="Arial" pitchFamily="34" charset="-122"/>
                <a:cs typeface="Arial" pitchFamily="34" charset="-120"/>
              </a:rPr>
              <a:t>✗</a:t>
            </a:r>
            <a:pPr algn="l" indent="0" marL="0">
              <a:buNone/>
            </a:pPr>
            <a:r>
              <a:rPr lang="en-US" sz="1250" dirty="0">
                <a:solidFill>
                  <a:srgbClr val="A7B4C8"/>
                </a:solidFill>
                <a:latin typeface="Arial" pitchFamily="34" charset="0"/>
                <a:ea typeface="Arial" pitchFamily="34" charset="-122"/>
                <a:cs typeface="Arial" pitchFamily="34" charset="-120"/>
              </a:rPr>
              <a:t> differs    </a:t>
            </a:r>
            <a:pPr algn="l" indent="0" marL="0">
              <a:buNone/>
            </a:pPr>
            <a:r>
              <a:rPr lang="en-US" sz="1250" dirty="0">
                <a:solidFill>
                  <a:srgbClr val="F2C94C"/>
                </a:solidFill>
                <a:latin typeface="Arial" pitchFamily="34" charset="0"/>
                <a:ea typeface="Arial" pitchFamily="34" charset="-122"/>
                <a:cs typeface="Arial" pitchFamily="34" charset="-120"/>
              </a:rPr>
              <a:t>!</a:t>
            </a:r>
            <a:pPr algn="l" indent="0" marL="0">
              <a:buNone/>
            </a:pPr>
            <a:r>
              <a:rPr lang="en-US" sz="1250" dirty="0">
                <a:solidFill>
                  <a:srgbClr val="A7B4C8"/>
                </a:solidFill>
                <a:latin typeface="Arial" pitchFamily="34" charset="0"/>
                <a:ea typeface="Arial" pitchFamily="34" charset="-122"/>
                <a:cs typeface="Arial" pitchFamily="34" charset="-120"/>
              </a:rPr>
              <a:t> partial / unclear</a:t>
            </a:r>
            <a:endParaRPr lang="en-US" sz="1250" dirty="0"/>
          </a:p>
        </p:txBody>
      </p:sp>
      <p:sp>
        <p:nvSpPr>
          <p:cNvPr id="90" name="Text 88"/>
          <p:cNvSpPr txBox="1"/>
          <p:nvPr/>
        </p:nvSpPr>
        <p:spPr>
          <a:xfrm>
            <a:off x="548640" y="5815584"/>
            <a:ext cx="11094415" cy="256032"/>
          </a:xfrm>
          <a:prstGeom prst="rect">
            <a:avLst/>
          </a:prstGeom>
          <a:noFill/>
          <a:ln/>
        </p:spPr>
        <p:txBody>
          <a:bodyPr wrap="square" lIns="0" tIns="0" rIns="0" bIns="0" rtlCol="0" anchor="t"/>
          <a:lstStyle/>
          <a:p>
            <a:pPr algn="l" indent="0" marL="0">
              <a:buNone/>
            </a:pPr>
            <a:r>
              <a:rPr lang="en-US" sz="1200" dirty="0">
                <a:solidFill>
                  <a:srgbClr val="F2C94C"/>
                </a:solidFill>
                <a:latin typeface="Arial" pitchFamily="34" charset="0"/>
                <a:ea typeface="Arial" pitchFamily="34" charset="-122"/>
                <a:cs typeface="Arial" pitchFamily="34" charset="-120"/>
              </a:rPr>
              <a:t>!</a:t>
            </a:r>
            <a:pPr algn="l" indent="0" marL="0">
              <a:buNone/>
            </a:pPr>
            <a:r>
              <a:rPr lang="en-US" sz="1200" dirty="0">
                <a:solidFill>
                  <a:srgbClr val="A7B4C8"/>
                </a:solidFill>
                <a:latin typeface="Arial" pitchFamily="34" charset="0"/>
                <a:ea typeface="Arial" pitchFamily="34" charset="-122"/>
                <a:cs typeface="Arial" pitchFamily="34" charset="-120"/>
              </a:rPr>
              <a:t> miranda-v2 builder column = public </a:t>
            </a:r>
            <a:pPr algn="l" indent="0" marL="0">
              <a:buNone/>
            </a:pPr>
            <a:r>
              <a:rPr lang="en-US" sz="1100" dirty="0">
                <a:solidFill>
                  <a:srgbClr val="A7B4C8"/>
                </a:solidFill>
                <a:latin typeface="Courier New" pitchFamily="34" charset="0"/>
                <a:ea typeface="Courier New" pitchFamily="34" charset="-122"/>
                <a:cs typeface="Courier New" pitchFamily="34" charset="-120"/>
              </a:rPr>
              <a:t>for_subin</a:t>
            </a:r>
            <a:pPr algn="l" indent="0" marL="0">
              <a:buNone/>
            </a:pPr>
            <a:r>
              <a:rPr lang="en-US" sz="1200" dirty="0">
                <a:solidFill>
                  <a:srgbClr val="A7B4C8"/>
                </a:solidFill>
                <a:latin typeface="Arial" pitchFamily="34" charset="0"/>
                <a:ea typeface="Arial" pitchFamily="34" charset="-122"/>
                <a:cs typeface="Arial" pitchFamily="34" charset="-120"/>
              </a:rPr>
              <a:t> builder (29059a5); the 2026-04-13 builder that wrote the NPZ actually used is not public.</a:t>
            </a:r>
            <a:endParaRPr lang="en-US" sz="1200" dirty="0"/>
          </a:p>
        </p:txBody>
      </p:sp>
      <p:sp>
        <p:nvSpPr>
          <p:cNvPr id="91" name="Text 89"/>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 1A/1B (D1–D3), 4B §3, 5B §2, 6C §4 · paper Sec. 3.2, App. A.8–A.9, Table 14</a:t>
            </a:r>
            <a:endParaRPr lang="en-US" sz="1000" dirty="0"/>
          </a:p>
        </p:txBody>
      </p:sp>
      <p:sp>
        <p:nvSpPr>
          <p:cNvPr id="92" name="Text 90"/>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93" name="Text 91"/>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15 / 21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CROSS-TASK VALIDATION · PHASE 7A</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Does the KS3 pattern generalize?</a:t>
            </a:r>
            <a:endParaRPr lang="en-US" sz="3000" dirty="0"/>
          </a:p>
        </p:txBody>
      </p:sp>
      <p:sp>
        <p:nvSpPr>
          <p:cNvPr id="4" name="Shape 2"/>
          <p:cNvSpPr/>
          <p:nvPr/>
        </p:nvSpPr>
        <p:spPr>
          <a:xfrm>
            <a:off x="8808415" y="566928"/>
            <a:ext cx="2834640" cy="310896"/>
          </a:xfrm>
          <a:prstGeom prst="roundRect">
            <a:avLst>
              <a:gd name="adj" fmla="val 50000"/>
            </a:avLst>
          </a:prstGeom>
          <a:solidFill>
            <a:srgbClr val="131E33"/>
          </a:solidFill>
          <a:ln w="12700">
            <a:solidFill>
              <a:srgbClr val="4CC38A"/>
            </a:solidFill>
            <a:prstDash val="solid"/>
          </a:ln>
        </p:spPr>
      </p:sp>
      <p:sp>
        <p:nvSpPr>
          <p:cNvPr id="5" name="Text 3"/>
          <p:cNvSpPr txBox="1"/>
          <p:nvPr/>
        </p:nvSpPr>
        <p:spPr>
          <a:xfrm>
            <a:off x="8808415" y="566928"/>
            <a:ext cx="2834640" cy="310896"/>
          </a:xfrm>
          <a:prstGeom prst="rect">
            <a:avLst/>
          </a:prstGeom>
          <a:noFill/>
          <a:ln/>
        </p:spPr>
        <p:txBody>
          <a:bodyPr wrap="square" lIns="0" tIns="0" rIns="0" bIns="0" rtlCol="0" anchor="ctr"/>
          <a:lstStyle/>
          <a:p>
            <a:pPr algn="ctr" indent="0" marL="0">
              <a:buNone/>
            </a:pPr>
            <a:r>
              <a:rPr lang="en-US" sz="1200" b="1" spc="100" kern="0" dirty="0">
                <a:solidFill>
                  <a:srgbClr val="4CC38A"/>
                </a:solidFill>
                <a:latin typeface="Arial" pitchFamily="34" charset="0"/>
                <a:ea typeface="Arial" pitchFamily="34" charset="-122"/>
                <a:cs typeface="Arial" pitchFamily="34" charset="-120"/>
              </a:rPr>
              <a:t>COMPLETE · 810 episodes</a:t>
            </a:r>
            <a:endParaRPr lang="en-US" sz="1200" dirty="0"/>
          </a:p>
        </p:txBody>
      </p:sp>
      <p:sp>
        <p:nvSpPr>
          <p:cNvPr id="6" name="Shape 4"/>
          <p:cNvSpPr/>
          <p:nvPr/>
        </p:nvSpPr>
        <p:spPr>
          <a:xfrm>
            <a:off x="548640" y="1325880"/>
            <a:ext cx="3886200" cy="4526280"/>
          </a:xfrm>
          <a:prstGeom prst="roundRect">
            <a:avLst>
              <a:gd name="adj" fmla="val 1882"/>
            </a:avLst>
          </a:prstGeom>
          <a:solidFill>
            <a:srgbClr val="131E33"/>
          </a:solidFill>
          <a:ln/>
        </p:spPr>
      </p:sp>
      <p:sp>
        <p:nvSpPr>
          <p:cNvPr id="7" name="Text 5"/>
          <p:cNvSpPr txBox="1"/>
          <p:nvPr/>
        </p:nvSpPr>
        <p:spPr>
          <a:xfrm>
            <a:off x="749808" y="1444752"/>
            <a:ext cx="3520440" cy="640080"/>
          </a:xfrm>
          <a:prstGeom prst="rect">
            <a:avLst/>
          </a:prstGeom>
          <a:noFill/>
          <a:ln/>
        </p:spPr>
        <p:txBody>
          <a:bodyPr wrap="square" lIns="0" tIns="0" rIns="0" bIns="0" rtlCol="0" anchor="t"/>
          <a:lstStyle/>
          <a:p>
            <a:pPr algn="l" indent="0" marL="0">
              <a:buNone/>
            </a:pPr>
            <a:r>
              <a:rPr lang="en-US" sz="1500" b="1" dirty="0">
                <a:solidFill>
                  <a:srgbClr val="F1F5F9"/>
                </a:solidFill>
                <a:latin typeface="Arial" pitchFamily="34" charset="0"/>
                <a:ea typeface="Arial" pitchFamily="34" charset="-122"/>
                <a:cs typeface="Arial" pitchFamily="34" charset="-120"/>
              </a:rPr>
              <a:t>Task selection · paper values only</a:t>
            </a:r>
            <a:endParaRPr lang="en-US" sz="1500" dirty="0"/>
          </a:p>
          <a:p>
            <a:pPr algn="l" indent="0" marL="0">
              <a:buNone/>
            </a:pPr>
            <a:r>
              <a:rPr lang="en-US" sz="1500" dirty="0">
                <a:solidFill>
                  <a:srgbClr val="6B7A93"/>
                </a:solidFill>
                <a:latin typeface="Arial" pitchFamily="34" charset="0"/>
                <a:ea typeface="Arial" pitchFamily="34" charset="-122"/>
                <a:cs typeface="Arial" pitchFamily="34" charset="-120"/>
              </a:rPr>
              <a:t>Eligible: Table 21 S ≥ 3 and F ≥ 3; KS3 excluded</a:t>
            </a:r>
            <a:endParaRPr lang="en-US" sz="1500" dirty="0"/>
          </a:p>
        </p:txBody>
      </p:sp>
      <p:sp>
        <p:nvSpPr>
          <p:cNvPr id="8" name="Shape 6"/>
          <p:cNvSpPr/>
          <p:nvPr/>
        </p:nvSpPr>
        <p:spPr>
          <a:xfrm>
            <a:off x="731520" y="2331720"/>
            <a:ext cx="3520440" cy="1024128"/>
          </a:xfrm>
          <a:prstGeom prst="roundRect">
            <a:avLst>
              <a:gd name="adj" fmla="val 7143"/>
            </a:avLst>
          </a:prstGeom>
          <a:solidFill>
            <a:srgbClr val="1A2842"/>
          </a:solidFill>
          <a:ln/>
        </p:spPr>
      </p:sp>
      <p:sp>
        <p:nvSpPr>
          <p:cNvPr id="9" name="Text 7"/>
          <p:cNvSpPr txBox="1"/>
          <p:nvPr/>
        </p:nvSpPr>
        <p:spPr>
          <a:xfrm>
            <a:off x="822960" y="2423160"/>
            <a:ext cx="411480" cy="411480"/>
          </a:xfrm>
          <a:prstGeom prst="rect">
            <a:avLst/>
          </a:prstGeom>
          <a:noFill/>
          <a:ln/>
        </p:spPr>
        <p:txBody>
          <a:bodyPr wrap="square" lIns="0" tIns="0" rIns="0" bIns="0" rtlCol="0" anchor="t"/>
          <a:lstStyle/>
          <a:p>
            <a:pPr algn="l" indent="0" marL="0">
              <a:buNone/>
            </a:pPr>
            <a:r>
              <a:rPr lang="en-US" sz="2200" b="1" dirty="0">
                <a:solidFill>
                  <a:srgbClr val="38BDF8"/>
                </a:solidFill>
                <a:latin typeface="Arial" pitchFamily="34" charset="0"/>
                <a:ea typeface="Arial" pitchFamily="34" charset="-122"/>
                <a:cs typeface="Arial" pitchFamily="34" charset="-120"/>
              </a:rPr>
              <a:t>A</a:t>
            </a:r>
            <a:endParaRPr lang="en-US" sz="2200" dirty="0"/>
          </a:p>
        </p:txBody>
      </p:sp>
      <p:sp>
        <p:nvSpPr>
          <p:cNvPr id="10" name="Text 8"/>
          <p:cNvSpPr txBox="1"/>
          <p:nvPr/>
        </p:nvSpPr>
        <p:spPr>
          <a:xfrm>
            <a:off x="1280160" y="2404872"/>
            <a:ext cx="2880360" cy="914400"/>
          </a:xfrm>
          <a:prstGeom prst="rect">
            <a:avLst/>
          </a:prstGeom>
          <a:noFill/>
          <a:ln/>
        </p:spPr>
        <p:txBody>
          <a:bodyPr wrap="square" lIns="0" tIns="0" rIns="0" bIns="0" rtlCol="0" anchor="t"/>
          <a:lstStyle/>
          <a:p>
            <a:pPr algn="l" indent="0" marL="0">
              <a:buNone/>
            </a:pPr>
            <a:r>
              <a:rPr lang="en-US" sz="1400" b="1" dirty="0">
                <a:solidFill>
                  <a:srgbClr val="F1F5F9"/>
                </a:solidFill>
                <a:latin typeface="Arial" pitchFamily="34" charset="0"/>
                <a:ea typeface="Arial" pitchFamily="34" charset="-122"/>
                <a:cs typeface="Arial" pitchFamily="34" charset="-120"/>
              </a:rPr>
              <a:t>LR2a</a:t>
            </a:r>
            <a:pPr algn="l" indent="0" marL="0">
              <a:buNone/>
            </a:pPr>
            <a:r>
              <a:rPr lang="en-US" sz="1400" dirty="0">
                <a:solidFill>
                  <a:srgbClr val="F1F5F9"/>
                </a:solidFill>
                <a:latin typeface="Arial" pitchFamily="34" charset="0"/>
                <a:ea typeface="Arial" pitchFamily="34" charset="-122"/>
                <a:cs typeface="Arial" pitchFamily="34" charset="-120"/>
              </a:rPr>
              <a:t> </a:t>
            </a:r>
            <a:pPr algn="l" indent="0" marL="0">
              <a:buNone/>
            </a:pPr>
            <a:r>
              <a:rPr lang="en-US" sz="1400" dirty="0">
                <a:solidFill>
                  <a:srgbClr val="6B7A93"/>
                </a:solidFill>
                <a:latin typeface="Arial" pitchFamily="34" charset="0"/>
                <a:ea typeface="Arial" pitchFamily="34" charset="-122"/>
                <a:cs typeface="Arial" pitchFamily="34" charset="-120"/>
              </a:rPr>
              <a:t>· largest paper gain</a:t>
            </a:r>
            <a:endParaRPr lang="en-US" sz="1400" dirty="0"/>
          </a:p>
          <a:p>
            <a:pPr algn="l" indent="0" marL="0">
              <a:buNone/>
            </a:pPr>
            <a:r>
              <a:rPr lang="en-US" sz="1400" dirty="0">
                <a:solidFill>
                  <a:srgbClr val="F59E0B"/>
                </a:solidFill>
                <a:latin typeface="Arial" pitchFamily="34" charset="0"/>
                <a:ea typeface="Arial" pitchFamily="34" charset="-122"/>
                <a:cs typeface="Arial" pitchFamily="34" charset="-120"/>
              </a:rPr>
              <a:t>Paper Base 0.40 → Global 0.80</a:t>
            </a:r>
            <a:endParaRPr lang="en-US" sz="1400" dirty="0"/>
          </a:p>
          <a:p>
            <a:pPr algn="l" indent="0" marL="0">
              <a:buNone/>
            </a:pPr>
            <a:r>
              <a:rPr lang="en-US" sz="1400" dirty="0">
                <a:solidFill>
                  <a:srgbClr val="6B7A93"/>
                </a:solidFill>
                <a:latin typeface="Arial" pitchFamily="34" charset="0"/>
                <a:ea typeface="Arial" pitchFamily="34" charset="-122"/>
                <a:cs typeface="Arial" pitchFamily="34" charset="-120"/>
              </a:rPr>
              <a:t>L11 · α 0.5 · β 0.3</a:t>
            </a:r>
            <a:endParaRPr lang="en-US" sz="1400" dirty="0"/>
          </a:p>
        </p:txBody>
      </p:sp>
      <p:sp>
        <p:nvSpPr>
          <p:cNvPr id="11" name="Shape 9"/>
          <p:cNvSpPr/>
          <p:nvPr/>
        </p:nvSpPr>
        <p:spPr>
          <a:xfrm>
            <a:off x="731520" y="3474720"/>
            <a:ext cx="3520440" cy="1024128"/>
          </a:xfrm>
          <a:prstGeom prst="roundRect">
            <a:avLst>
              <a:gd name="adj" fmla="val 7143"/>
            </a:avLst>
          </a:prstGeom>
          <a:solidFill>
            <a:srgbClr val="1A2842"/>
          </a:solidFill>
          <a:ln/>
        </p:spPr>
      </p:sp>
      <p:sp>
        <p:nvSpPr>
          <p:cNvPr id="12" name="Text 10"/>
          <p:cNvSpPr txBox="1"/>
          <p:nvPr/>
        </p:nvSpPr>
        <p:spPr>
          <a:xfrm>
            <a:off x="822960" y="3566160"/>
            <a:ext cx="411480" cy="411480"/>
          </a:xfrm>
          <a:prstGeom prst="rect">
            <a:avLst/>
          </a:prstGeom>
          <a:noFill/>
          <a:ln/>
        </p:spPr>
        <p:txBody>
          <a:bodyPr wrap="square" lIns="0" tIns="0" rIns="0" bIns="0" rtlCol="0" anchor="t"/>
          <a:lstStyle/>
          <a:p>
            <a:pPr algn="l" indent="0" marL="0">
              <a:buNone/>
            </a:pPr>
            <a:r>
              <a:rPr lang="en-US" sz="2200" b="1" dirty="0">
                <a:solidFill>
                  <a:srgbClr val="38BDF8"/>
                </a:solidFill>
                <a:latin typeface="Arial" pitchFamily="34" charset="0"/>
                <a:ea typeface="Arial" pitchFamily="34" charset="-122"/>
                <a:cs typeface="Arial" pitchFamily="34" charset="-120"/>
              </a:rPr>
              <a:t>B</a:t>
            </a:r>
            <a:endParaRPr lang="en-US" sz="2200" dirty="0"/>
          </a:p>
        </p:txBody>
      </p:sp>
      <p:sp>
        <p:nvSpPr>
          <p:cNvPr id="13" name="Text 11"/>
          <p:cNvSpPr txBox="1"/>
          <p:nvPr/>
        </p:nvSpPr>
        <p:spPr>
          <a:xfrm>
            <a:off x="1280160" y="3547872"/>
            <a:ext cx="2880360" cy="914400"/>
          </a:xfrm>
          <a:prstGeom prst="rect">
            <a:avLst/>
          </a:prstGeom>
          <a:noFill/>
          <a:ln/>
        </p:spPr>
        <p:txBody>
          <a:bodyPr wrap="square" lIns="0" tIns="0" rIns="0" bIns="0" rtlCol="0" anchor="t"/>
          <a:lstStyle/>
          <a:p>
            <a:pPr algn="l" indent="0" marL="0">
              <a:buNone/>
            </a:pPr>
            <a:r>
              <a:rPr lang="en-US" sz="1400" b="1" dirty="0">
                <a:solidFill>
                  <a:srgbClr val="F1F5F9"/>
                </a:solidFill>
                <a:latin typeface="Arial" pitchFamily="34" charset="0"/>
                <a:ea typeface="Arial" pitchFamily="34" charset="-122"/>
                <a:cs typeface="Arial" pitchFamily="34" charset="-120"/>
              </a:rPr>
              <a:t>KS4</a:t>
            </a:r>
            <a:pPr algn="l" indent="0" marL="0">
              <a:buNone/>
            </a:pPr>
            <a:r>
              <a:rPr lang="en-US" sz="1400" dirty="0">
                <a:solidFill>
                  <a:srgbClr val="F1F5F9"/>
                </a:solidFill>
                <a:latin typeface="Arial" pitchFamily="34" charset="0"/>
                <a:ea typeface="Arial" pitchFamily="34" charset="-122"/>
                <a:cs typeface="Arial" pitchFamily="34" charset="-120"/>
              </a:rPr>
              <a:t> </a:t>
            </a:r>
            <a:pPr algn="l" indent="0" marL="0">
              <a:buNone/>
            </a:pPr>
            <a:r>
              <a:rPr lang="en-US" sz="1400" dirty="0">
                <a:solidFill>
                  <a:srgbClr val="6B7A93"/>
                </a:solidFill>
                <a:latin typeface="Arial" pitchFamily="34" charset="0"/>
                <a:ea typeface="Arial" pitchFamily="34" charset="-122"/>
                <a:cs typeface="Arial" pitchFamily="34" charset="-120"/>
              </a:rPr>
              <a:t>· median paper gain</a:t>
            </a:r>
            <a:endParaRPr lang="en-US" sz="1400" dirty="0"/>
          </a:p>
          <a:p>
            <a:pPr algn="l" indent="0" marL="0">
              <a:buNone/>
            </a:pPr>
            <a:r>
              <a:rPr lang="en-US" sz="1400" dirty="0">
                <a:solidFill>
                  <a:srgbClr val="F59E0B"/>
                </a:solidFill>
                <a:latin typeface="Arial" pitchFamily="34" charset="0"/>
                <a:ea typeface="Arial" pitchFamily="34" charset="-122"/>
                <a:cs typeface="Arial" pitchFamily="34" charset="-120"/>
              </a:rPr>
              <a:t>Paper Base 0.40 → Global 0.73</a:t>
            </a:r>
            <a:endParaRPr lang="en-US" sz="1400" dirty="0"/>
          </a:p>
          <a:p>
            <a:pPr algn="l" indent="0" marL="0">
              <a:buNone/>
            </a:pPr>
            <a:r>
              <a:rPr lang="en-US" sz="1400" dirty="0">
                <a:solidFill>
                  <a:srgbClr val="6B7A93"/>
                </a:solidFill>
                <a:latin typeface="Arial" pitchFamily="34" charset="0"/>
                <a:ea typeface="Arial" pitchFamily="34" charset="-122"/>
                <a:cs typeface="Arial" pitchFamily="34" charset="-120"/>
              </a:rPr>
              <a:t>L5 · α 1.0 · β 0.1</a:t>
            </a:r>
            <a:endParaRPr lang="en-US" sz="1400" dirty="0"/>
          </a:p>
        </p:txBody>
      </p:sp>
      <p:sp>
        <p:nvSpPr>
          <p:cNvPr id="14" name="Shape 12"/>
          <p:cNvSpPr/>
          <p:nvPr/>
        </p:nvSpPr>
        <p:spPr>
          <a:xfrm>
            <a:off x="731520" y="4617720"/>
            <a:ext cx="3520440" cy="1024128"/>
          </a:xfrm>
          <a:prstGeom prst="roundRect">
            <a:avLst>
              <a:gd name="adj" fmla="val 7143"/>
            </a:avLst>
          </a:prstGeom>
          <a:solidFill>
            <a:srgbClr val="1A2842"/>
          </a:solidFill>
          <a:ln/>
        </p:spPr>
      </p:sp>
      <p:sp>
        <p:nvSpPr>
          <p:cNvPr id="15" name="Text 13"/>
          <p:cNvSpPr txBox="1"/>
          <p:nvPr/>
        </p:nvSpPr>
        <p:spPr>
          <a:xfrm>
            <a:off x="822960" y="4709160"/>
            <a:ext cx="411480" cy="411480"/>
          </a:xfrm>
          <a:prstGeom prst="rect">
            <a:avLst/>
          </a:prstGeom>
          <a:noFill/>
          <a:ln/>
        </p:spPr>
        <p:txBody>
          <a:bodyPr wrap="square" lIns="0" tIns="0" rIns="0" bIns="0" rtlCol="0" anchor="t"/>
          <a:lstStyle/>
          <a:p>
            <a:pPr algn="l" indent="0" marL="0">
              <a:buNone/>
            </a:pPr>
            <a:r>
              <a:rPr lang="en-US" sz="2200" b="1" dirty="0">
                <a:solidFill>
                  <a:srgbClr val="38BDF8"/>
                </a:solidFill>
                <a:latin typeface="Arial" pitchFamily="34" charset="0"/>
                <a:ea typeface="Arial" pitchFamily="34" charset="-122"/>
                <a:cs typeface="Arial" pitchFamily="34" charset="-120"/>
              </a:rPr>
              <a:t>C</a:t>
            </a:r>
            <a:endParaRPr lang="en-US" sz="2200" dirty="0"/>
          </a:p>
        </p:txBody>
      </p:sp>
      <p:sp>
        <p:nvSpPr>
          <p:cNvPr id="16" name="Text 14"/>
          <p:cNvSpPr txBox="1"/>
          <p:nvPr/>
        </p:nvSpPr>
        <p:spPr>
          <a:xfrm>
            <a:off x="1280160" y="4690872"/>
            <a:ext cx="2880360" cy="914400"/>
          </a:xfrm>
          <a:prstGeom prst="rect">
            <a:avLst/>
          </a:prstGeom>
          <a:noFill/>
          <a:ln/>
        </p:spPr>
        <p:txBody>
          <a:bodyPr wrap="square" lIns="0" tIns="0" rIns="0" bIns="0" rtlCol="0" anchor="t"/>
          <a:lstStyle/>
          <a:p>
            <a:pPr algn="l" indent="0" marL="0">
              <a:buNone/>
            </a:pPr>
            <a:r>
              <a:rPr lang="en-US" sz="1400" b="1" dirty="0">
                <a:solidFill>
                  <a:srgbClr val="F1F5F9"/>
                </a:solidFill>
                <a:latin typeface="Arial" pitchFamily="34" charset="0"/>
                <a:ea typeface="Arial" pitchFamily="34" charset="-122"/>
                <a:cs typeface="Arial" pitchFamily="34" charset="-120"/>
              </a:rPr>
              <a:t>LR1</a:t>
            </a:r>
            <a:pPr algn="l" indent="0" marL="0">
              <a:buNone/>
            </a:pPr>
            <a:r>
              <a:rPr lang="en-US" sz="1400" dirty="0">
                <a:solidFill>
                  <a:srgbClr val="F1F5F9"/>
                </a:solidFill>
                <a:latin typeface="Arial" pitchFamily="34" charset="0"/>
                <a:ea typeface="Arial" pitchFamily="34" charset="-122"/>
                <a:cs typeface="Arial" pitchFamily="34" charset="-120"/>
              </a:rPr>
              <a:t> </a:t>
            </a:r>
            <a:pPr algn="l" indent="0" marL="0">
              <a:buNone/>
            </a:pPr>
            <a:r>
              <a:rPr lang="en-US" sz="1400" dirty="0">
                <a:solidFill>
                  <a:srgbClr val="6B7A93"/>
                </a:solidFill>
                <a:latin typeface="Arial" pitchFamily="34" charset="0"/>
                <a:ea typeface="Arial" pitchFamily="34" charset="-122"/>
                <a:cs typeface="Arial" pitchFamily="34" charset="-120"/>
              </a:rPr>
              <a:t>· smallest paper gain</a:t>
            </a:r>
            <a:endParaRPr lang="en-US" sz="1400" dirty="0"/>
          </a:p>
          <a:p>
            <a:pPr algn="l" indent="0" marL="0">
              <a:buNone/>
            </a:pPr>
            <a:r>
              <a:rPr lang="en-US" sz="1400" dirty="0">
                <a:solidFill>
                  <a:srgbClr val="F59E0B"/>
                </a:solidFill>
                <a:latin typeface="Arial" pitchFamily="34" charset="0"/>
                <a:ea typeface="Arial" pitchFamily="34" charset="-122"/>
                <a:cs typeface="Arial" pitchFamily="34" charset="-120"/>
              </a:rPr>
              <a:t>Paper Base 0.80 → Global 0.93</a:t>
            </a:r>
            <a:endParaRPr lang="en-US" sz="1400" dirty="0"/>
          </a:p>
          <a:p>
            <a:pPr algn="l" indent="0" marL="0">
              <a:buNone/>
            </a:pPr>
            <a:r>
              <a:rPr lang="en-US" sz="1400" dirty="0">
                <a:solidFill>
                  <a:srgbClr val="6B7A93"/>
                </a:solidFill>
                <a:latin typeface="Arial" pitchFamily="34" charset="0"/>
                <a:ea typeface="Arial" pitchFamily="34" charset="-122"/>
                <a:cs typeface="Arial" pitchFamily="34" charset="-120"/>
              </a:rPr>
              <a:t>L11 · α 0.5 · β 0.3</a:t>
            </a:r>
            <a:endParaRPr lang="en-US" sz="1400" dirty="0"/>
          </a:p>
        </p:txBody>
      </p:sp>
      <p:sp>
        <p:nvSpPr>
          <p:cNvPr id="17" name="Shape 15"/>
          <p:cNvSpPr/>
          <p:nvPr/>
        </p:nvSpPr>
        <p:spPr>
          <a:xfrm>
            <a:off x="4617720" y="1325880"/>
            <a:ext cx="3520440" cy="4526280"/>
          </a:xfrm>
          <a:prstGeom prst="roundRect">
            <a:avLst>
              <a:gd name="adj" fmla="val 2078"/>
            </a:avLst>
          </a:prstGeom>
          <a:solidFill>
            <a:srgbClr val="131E33"/>
          </a:solidFill>
          <a:ln/>
        </p:spPr>
      </p:sp>
      <p:sp>
        <p:nvSpPr>
          <p:cNvPr id="18" name="Text 16"/>
          <p:cNvSpPr txBox="1"/>
          <p:nvPr/>
        </p:nvSpPr>
        <p:spPr>
          <a:xfrm>
            <a:off x="4818888" y="1444752"/>
            <a:ext cx="3154680" cy="329184"/>
          </a:xfrm>
          <a:prstGeom prst="rect">
            <a:avLst/>
          </a:prstGeom>
          <a:noFill/>
          <a:ln/>
        </p:spPr>
        <p:txBody>
          <a:bodyPr wrap="square" lIns="0" tIns="0" rIns="0" bIns="0" rtlCol="0" anchor="t"/>
          <a:lstStyle/>
          <a:p>
            <a:pPr algn="l" indent="0" marL="0">
              <a:buNone/>
            </a:pPr>
            <a:r>
              <a:rPr lang="en-US" sz="1500" b="1" dirty="0">
                <a:solidFill>
                  <a:srgbClr val="F1F5F9"/>
                </a:solidFill>
                <a:latin typeface="Arial" pitchFamily="34" charset="0"/>
                <a:ea typeface="Arial" pitchFamily="34" charset="-122"/>
                <a:cs typeface="Arial" pitchFamily="34" charset="-120"/>
              </a:rPr>
              <a:t>Two arms, one conceptor</a:t>
            </a:r>
            <a:endParaRPr lang="en-US" sz="1500" dirty="0"/>
          </a:p>
        </p:txBody>
      </p:sp>
      <p:sp>
        <p:nvSpPr>
          <p:cNvPr id="19" name="Shape 17"/>
          <p:cNvSpPr/>
          <p:nvPr/>
        </p:nvSpPr>
        <p:spPr>
          <a:xfrm>
            <a:off x="4800600" y="1874520"/>
            <a:ext cx="3154680" cy="896112"/>
          </a:xfrm>
          <a:prstGeom prst="roundRect">
            <a:avLst>
              <a:gd name="adj" fmla="val 8163"/>
            </a:avLst>
          </a:prstGeom>
          <a:solidFill>
            <a:srgbClr val="1A2842"/>
          </a:solidFill>
          <a:ln w="12700">
            <a:solidFill>
              <a:srgbClr val="F1F5F9"/>
            </a:solidFill>
            <a:prstDash val="solid"/>
          </a:ln>
        </p:spPr>
      </p:sp>
      <p:sp>
        <p:nvSpPr>
          <p:cNvPr id="20" name="Text 18"/>
          <p:cNvSpPr txBox="1"/>
          <p:nvPr/>
        </p:nvSpPr>
        <p:spPr>
          <a:xfrm>
            <a:off x="4937760" y="1920240"/>
            <a:ext cx="2880360" cy="822960"/>
          </a:xfrm>
          <a:prstGeom prst="rect">
            <a:avLst/>
          </a:prstGeom>
          <a:noFill/>
          <a:ln/>
        </p:spPr>
        <p:txBody>
          <a:bodyPr wrap="square" lIns="0" tIns="0" rIns="0" bIns="0" rtlCol="0" anchor="t"/>
          <a:lstStyle/>
          <a:p>
            <a:pPr algn="l" indent="0" marL="0">
              <a:buNone/>
            </a:pPr>
            <a:r>
              <a:rPr lang="en-US" sz="1400" b="1" dirty="0">
                <a:solidFill>
                  <a:srgbClr val="F1F5F9"/>
                </a:solidFill>
                <a:latin typeface="Arial" pitchFamily="34" charset="0"/>
                <a:ea typeface="Arial" pitchFamily="34" charset="-122"/>
                <a:cs typeface="Arial" pitchFamily="34" charset="-120"/>
              </a:rPr>
              <a:t>Arm H · historical</a:t>
            </a:r>
            <a:endParaRPr lang="en-US" sz="1400" dirty="0"/>
          </a:p>
          <a:p>
            <a:pPr algn="l" indent="0" marL="0">
              <a:buNone/>
            </a:pPr>
            <a:r>
              <a:rPr lang="en-US" sz="1400" dirty="0">
                <a:solidFill>
                  <a:srgbClr val="F1F5F9"/>
                </a:solidFill>
                <a:latin typeface="Arial" pitchFamily="34" charset="0"/>
                <a:ea typeface="Arial" pitchFamily="34" charset="-122"/>
                <a:cs typeface="Arial" pitchFamily="34" charset="-120"/>
              </a:rPr>
              <a:t>states 0–14 · 15 episodes</a:t>
            </a:r>
            <a:endParaRPr lang="en-US" sz="1400" dirty="0"/>
          </a:p>
          <a:p>
            <a:pPr algn="l" indent="0" marL="0">
              <a:buNone/>
            </a:pPr>
            <a:r>
              <a:rPr lang="en-US" sz="1400" dirty="0">
                <a:solidFill>
                  <a:srgbClr val="6B7A93"/>
                </a:solidFill>
                <a:latin typeface="Arial" pitchFamily="34" charset="0"/>
                <a:ea typeface="Arial" pitchFamily="34" charset="-122"/>
                <a:cs typeface="Arial" pitchFamily="34" charset="-120"/>
              </a:rPr>
              <a:t>= the fit states</a:t>
            </a:r>
            <a:endParaRPr lang="en-US" sz="1400" dirty="0"/>
          </a:p>
        </p:txBody>
      </p:sp>
      <p:sp>
        <p:nvSpPr>
          <p:cNvPr id="21" name="Shape 19"/>
          <p:cNvSpPr/>
          <p:nvPr/>
        </p:nvSpPr>
        <p:spPr>
          <a:xfrm>
            <a:off x="4800600" y="2880360"/>
            <a:ext cx="3154680" cy="896112"/>
          </a:xfrm>
          <a:prstGeom prst="roundRect">
            <a:avLst>
              <a:gd name="adj" fmla="val 8163"/>
            </a:avLst>
          </a:prstGeom>
          <a:solidFill>
            <a:srgbClr val="1A2842"/>
          </a:solidFill>
          <a:ln w="12700">
            <a:solidFill>
              <a:srgbClr val="38BDF8"/>
            </a:solidFill>
            <a:prstDash val="solid"/>
          </a:ln>
        </p:spPr>
      </p:sp>
      <p:sp>
        <p:nvSpPr>
          <p:cNvPr id="22" name="Text 20"/>
          <p:cNvSpPr txBox="1"/>
          <p:nvPr/>
        </p:nvSpPr>
        <p:spPr>
          <a:xfrm>
            <a:off x="4937760" y="2926080"/>
            <a:ext cx="2880360" cy="822960"/>
          </a:xfrm>
          <a:prstGeom prst="rect">
            <a:avLst/>
          </a:prstGeom>
          <a:noFill/>
          <a:ln/>
        </p:spPr>
        <p:txBody>
          <a:bodyPr wrap="square" lIns="0" tIns="0" rIns="0" bIns="0" rtlCol="0" anchor="t"/>
          <a:lstStyle/>
          <a:p>
            <a:pPr algn="l" indent="0" marL="0">
              <a:buNone/>
            </a:pPr>
            <a:r>
              <a:rPr lang="en-US" sz="1400" b="1" dirty="0">
                <a:solidFill>
                  <a:srgbClr val="38BDF8"/>
                </a:solidFill>
                <a:latin typeface="Arial" pitchFamily="34" charset="0"/>
                <a:ea typeface="Arial" pitchFamily="34" charset="-122"/>
                <a:cs typeface="Arial" pitchFamily="34" charset="-120"/>
              </a:rPr>
              <a:t>Arm T · held-out</a:t>
            </a:r>
            <a:endParaRPr lang="en-US" sz="1400" dirty="0"/>
          </a:p>
          <a:p>
            <a:pPr algn="l" indent="0" marL="0">
              <a:buNone/>
            </a:pPr>
            <a:r>
              <a:rPr lang="en-US" sz="1400" dirty="0">
                <a:solidFill>
                  <a:srgbClr val="38BDF8"/>
                </a:solidFill>
                <a:latin typeface="Arial" pitchFamily="34" charset="0"/>
                <a:ea typeface="Arial" pitchFamily="34" charset="-122"/>
                <a:cs typeface="Arial" pitchFamily="34" charset="-120"/>
              </a:rPr>
              <a:t>states 15–44 · 30 episodes</a:t>
            </a:r>
            <a:endParaRPr lang="en-US" sz="1400" dirty="0"/>
          </a:p>
          <a:p>
            <a:pPr algn="l" indent="0" marL="0">
              <a:buNone/>
            </a:pPr>
            <a:r>
              <a:rPr lang="en-US" sz="1400" dirty="0">
                <a:solidFill>
                  <a:srgbClr val="6B7A93"/>
                </a:solidFill>
                <a:latin typeface="Arial" pitchFamily="34" charset="0"/>
                <a:ea typeface="Arial" pitchFamily="34" charset="-122"/>
                <a:cs typeface="Arial" pitchFamily="34" charset="-120"/>
              </a:rPr>
              <a:t>disjoint from the fit states</a:t>
            </a:r>
            <a:endParaRPr lang="en-US" sz="1400" dirty="0"/>
          </a:p>
        </p:txBody>
      </p:sp>
      <p:sp>
        <p:nvSpPr>
          <p:cNvPr id="23" name="Text 21"/>
          <p:cNvSpPr txBox="1"/>
          <p:nvPr/>
        </p:nvSpPr>
        <p:spPr>
          <a:xfrm>
            <a:off x="4818888" y="3931920"/>
            <a:ext cx="3154680" cy="274320"/>
          </a:xfrm>
          <a:prstGeom prst="rect">
            <a:avLst/>
          </a:prstGeom>
          <a:noFill/>
          <a:ln/>
        </p:spPr>
        <p:txBody>
          <a:bodyPr wrap="square" lIns="0" tIns="0" rIns="0" bIns="0" rtlCol="0" anchor="t"/>
          <a:lstStyle/>
          <a:p>
            <a:pPr algn="l" indent="0" marL="0">
              <a:buNone/>
            </a:pPr>
            <a:r>
              <a:rPr lang="en-US" sz="1400" b="1" dirty="0">
                <a:solidFill>
                  <a:srgbClr val="F1F5F9"/>
                </a:solidFill>
                <a:latin typeface="Arial" pitchFamily="34" charset="0"/>
                <a:ea typeface="Arial" pitchFamily="34" charset="-122"/>
                <a:cs typeface="Arial" pitchFamily="34" charset="-120"/>
              </a:rPr>
              <a:t>Conditions</a:t>
            </a:r>
            <a:endParaRPr lang="en-US" sz="1400" dirty="0"/>
          </a:p>
        </p:txBody>
      </p:sp>
      <p:sp>
        <p:nvSpPr>
          <p:cNvPr id="24" name="Shape 22"/>
          <p:cNvSpPr/>
          <p:nvPr/>
        </p:nvSpPr>
        <p:spPr>
          <a:xfrm>
            <a:off x="4823460" y="4274820"/>
            <a:ext cx="155448" cy="155448"/>
          </a:xfrm>
          <a:prstGeom prst="ellipse">
            <a:avLst/>
          </a:prstGeom>
          <a:solidFill>
            <a:srgbClr val="A3AEC2"/>
          </a:solidFill>
          <a:ln w="9525">
            <a:solidFill>
              <a:srgbClr val="A3AEC2"/>
            </a:solidFill>
            <a:prstDash val="solid"/>
          </a:ln>
        </p:spPr>
      </p:sp>
      <p:sp>
        <p:nvSpPr>
          <p:cNvPr id="25" name="Text 23"/>
          <p:cNvSpPr txBox="1"/>
          <p:nvPr/>
        </p:nvSpPr>
        <p:spPr>
          <a:xfrm>
            <a:off x="5074920" y="4224528"/>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Baseline (unsteered)</a:t>
            </a:r>
            <a:endParaRPr lang="en-US" sz="1300" dirty="0"/>
          </a:p>
        </p:txBody>
      </p:sp>
      <p:sp>
        <p:nvSpPr>
          <p:cNvPr id="26" name="Shape 24"/>
          <p:cNvSpPr/>
          <p:nvPr/>
        </p:nvSpPr>
        <p:spPr>
          <a:xfrm>
            <a:off x="4823460" y="4530852"/>
            <a:ext cx="155448" cy="155448"/>
          </a:xfrm>
          <a:prstGeom prst="ellipse">
            <a:avLst/>
          </a:prstGeom>
          <a:solidFill>
            <a:srgbClr val="38BDF8"/>
          </a:solidFill>
          <a:ln w="9525">
            <a:solidFill>
              <a:srgbClr val="38BDF8"/>
            </a:solidFill>
            <a:prstDash val="solid"/>
          </a:ln>
        </p:spPr>
      </p:sp>
      <p:sp>
        <p:nvSpPr>
          <p:cNvPr id="27" name="Text 25"/>
          <p:cNvSpPr txBox="1"/>
          <p:nvPr/>
        </p:nvSpPr>
        <p:spPr>
          <a:xfrm>
            <a:off x="5074920" y="448056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Paper Global (exact config)</a:t>
            </a:r>
            <a:endParaRPr lang="en-US" sz="1300" dirty="0"/>
          </a:p>
        </p:txBody>
      </p:sp>
      <p:sp>
        <p:nvSpPr>
          <p:cNvPr id="28" name="Shape 26"/>
          <p:cNvSpPr/>
          <p:nvPr/>
        </p:nvSpPr>
        <p:spPr>
          <a:xfrm>
            <a:off x="4823460" y="4786884"/>
            <a:ext cx="155448" cy="155448"/>
          </a:xfrm>
          <a:prstGeom prst="ellipse">
            <a:avLst/>
          </a:prstGeom>
          <a:solidFill>
            <a:srgbClr val="0B1220"/>
          </a:solidFill>
          <a:ln w="25400">
            <a:solidFill>
              <a:srgbClr val="7F8CA3"/>
            </a:solidFill>
            <a:prstDash val="solid"/>
          </a:ln>
        </p:spPr>
      </p:sp>
      <p:sp>
        <p:nvSpPr>
          <p:cNvPr id="29" name="Text 27"/>
          <p:cNvSpPr txBox="1"/>
          <p:nvPr/>
        </p:nvSpPr>
        <p:spPr>
          <a:xfrm>
            <a:off x="5074920" y="4736592"/>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Random control (candidate)*</a:t>
            </a:r>
            <a:endParaRPr lang="en-US" sz="1300" dirty="0"/>
          </a:p>
        </p:txBody>
      </p:sp>
      <p:sp>
        <p:nvSpPr>
          <p:cNvPr id="30" name="Text 28"/>
          <p:cNvSpPr txBox="1"/>
          <p:nvPr/>
        </p:nvSpPr>
        <p:spPr>
          <a:xfrm>
            <a:off x="4818888" y="5120640"/>
            <a:ext cx="3154680" cy="566928"/>
          </a:xfrm>
          <a:prstGeom prst="rect">
            <a:avLst/>
          </a:prstGeom>
          <a:noFill/>
          <a:ln/>
        </p:spPr>
        <p:txBody>
          <a:bodyPr wrap="square" lIns="0" tIns="0" rIns="0" bIns="0" rtlCol="0" anchor="t"/>
          <a:lstStyle/>
          <a:p>
            <a:pPr algn="l" indent="0" marL="0">
              <a:buNone/>
            </a:pPr>
            <a:r>
              <a:rPr lang="en-US" sz="1250" dirty="0">
                <a:solidFill>
                  <a:srgbClr val="6B7A93"/>
                </a:solidFill>
                <a:latin typeface="Arial" pitchFamily="34" charset="0"/>
                <a:ea typeface="Arial" pitchFamily="34" charset="-122"/>
                <a:cs typeface="Arial" pitchFamily="34" charset="-120"/>
              </a:rPr>
              <a:t>2 repeats · 810 episodes · unseeded</a:t>
            </a:r>
            <a:endParaRPr lang="en-US" sz="1250" dirty="0"/>
          </a:p>
          <a:p>
            <a:pPr algn="l" indent="0" marL="0">
              <a:buNone/>
            </a:pPr>
            <a:r>
              <a:rPr lang="en-US" sz="1250" dirty="0">
                <a:solidFill>
                  <a:srgbClr val="6B7A93"/>
                </a:solidFill>
                <a:latin typeface="Arial" pitchFamily="34" charset="0"/>
                <a:ea typeface="Arial" pitchFamily="34" charset="-122"/>
                <a:cs typeface="Arial" pitchFamily="34" charset="-120"/>
              </a:rPr>
              <a:t>* not spectrum-matched</a:t>
            </a:r>
            <a:endParaRPr lang="en-US" sz="1250" dirty="0"/>
          </a:p>
        </p:txBody>
      </p:sp>
      <p:sp>
        <p:nvSpPr>
          <p:cNvPr id="31" name="Shape 29"/>
          <p:cNvSpPr/>
          <p:nvPr/>
        </p:nvSpPr>
        <p:spPr>
          <a:xfrm>
            <a:off x="8321040" y="1325880"/>
            <a:ext cx="3322015" cy="4526280"/>
          </a:xfrm>
          <a:prstGeom prst="roundRect">
            <a:avLst>
              <a:gd name="adj" fmla="val 2202"/>
            </a:avLst>
          </a:prstGeom>
          <a:solidFill>
            <a:srgbClr val="0E4A66"/>
          </a:solidFill>
          <a:ln w="12700">
            <a:solidFill>
              <a:srgbClr val="38BDF8"/>
            </a:solidFill>
            <a:prstDash val="solid"/>
          </a:ln>
        </p:spPr>
      </p:sp>
      <p:sp>
        <p:nvSpPr>
          <p:cNvPr id="32" name="Text 30"/>
          <p:cNvSpPr txBox="1"/>
          <p:nvPr/>
        </p:nvSpPr>
        <p:spPr>
          <a:xfrm>
            <a:off x="8522208" y="1444752"/>
            <a:ext cx="2956255" cy="329184"/>
          </a:xfrm>
          <a:prstGeom prst="rect">
            <a:avLst/>
          </a:prstGeom>
          <a:noFill/>
          <a:ln/>
        </p:spPr>
        <p:txBody>
          <a:bodyPr wrap="square" lIns="0" tIns="0" rIns="0" bIns="0" rtlCol="0" anchor="t"/>
          <a:lstStyle/>
          <a:p>
            <a:pPr algn="l" indent="0" marL="0">
              <a:buNone/>
            </a:pPr>
            <a:r>
              <a:rPr lang="en-US" sz="1500" b="1" dirty="0">
                <a:solidFill>
                  <a:srgbClr val="F1F5F9"/>
                </a:solidFill>
                <a:latin typeface="Arial" pitchFamily="34" charset="0"/>
                <a:ea typeface="Arial" pitchFamily="34" charset="-122"/>
                <a:cs typeface="Arial" pitchFamily="34" charset="-120"/>
              </a:rPr>
              <a:t>Primary quantity</a:t>
            </a:r>
            <a:endParaRPr lang="en-US" sz="1500" dirty="0"/>
          </a:p>
        </p:txBody>
      </p:sp>
      <p:sp>
        <p:nvSpPr>
          <p:cNvPr id="33" name="Text 31"/>
          <p:cNvSpPr txBox="1"/>
          <p:nvPr/>
        </p:nvSpPr>
        <p:spPr>
          <a:xfrm>
            <a:off x="8522208" y="1874520"/>
            <a:ext cx="2956255" cy="1371600"/>
          </a:xfrm>
          <a:prstGeom prst="rect">
            <a:avLst/>
          </a:prstGeom>
          <a:noFill/>
          <a:ln/>
        </p:spPr>
        <p:txBody>
          <a:bodyPr wrap="square" lIns="0" tIns="0" rIns="0" bIns="0" rtlCol="0" anchor="t"/>
          <a:lstStyle/>
          <a:p>
            <a:pPr algn="l" indent="0" marL="0">
              <a:spcAft>
                <a:spcPts val="800"/>
              </a:spcAft>
              <a:buNone/>
            </a:pPr>
            <a:r>
              <a:rPr lang="en-US" sz="1600" dirty="0">
                <a:solidFill>
                  <a:srgbClr val="F1F5F9"/>
                </a:solidFill>
                <a:latin typeface="Cambria Math" pitchFamily="34" charset="0"/>
                <a:ea typeface="Cambria Math" pitchFamily="34" charset="-122"/>
                <a:cs typeface="Cambria Math" pitchFamily="34" charset="-120"/>
              </a:rPr>
              <a:t>G</a:t>
            </a:r>
            <a:pPr algn="l" indent="0" marL="0">
              <a:spcAft>
                <a:spcPts val="800"/>
              </a:spcAft>
              <a:buNone/>
            </a:pPr>
            <a:r>
              <a:rPr lang="en-US" sz="1600" baseline="-40000" dirty="0">
                <a:solidFill>
                  <a:srgbClr val="F1F5F9"/>
                </a:solidFill>
                <a:latin typeface="Cambria Math" pitchFamily="34" charset="0"/>
                <a:ea typeface="Cambria Math" pitchFamily="34" charset="-122"/>
                <a:cs typeface="Cambria Math" pitchFamily="34" charset="-120"/>
              </a:rPr>
              <a:t>H</a:t>
            </a:r>
            <a:pPr algn="l" indent="0" marL="0">
              <a:spcAft>
                <a:spcPts val="800"/>
              </a:spcAft>
              <a:buNone/>
            </a:pPr>
            <a:r>
              <a:rPr lang="en-US" sz="1600" dirty="0">
                <a:solidFill>
                  <a:srgbClr val="F1F5F9"/>
                </a:solidFill>
                <a:latin typeface="Cambria Math" pitchFamily="34" charset="0"/>
                <a:ea typeface="Cambria Math" pitchFamily="34" charset="-122"/>
                <a:cs typeface="Cambria Math" pitchFamily="34" charset="-120"/>
              </a:rPr>
              <a:t> = SR</a:t>
            </a:r>
            <a:pPr algn="l" indent="0" marL="0">
              <a:spcAft>
                <a:spcPts val="800"/>
              </a:spcAft>
              <a:buNone/>
            </a:pPr>
            <a:r>
              <a:rPr lang="en-US" sz="1600" baseline="-40000" dirty="0">
                <a:solidFill>
                  <a:srgbClr val="F1F5F9"/>
                </a:solidFill>
                <a:latin typeface="Cambria Math" pitchFamily="34" charset="0"/>
                <a:ea typeface="Cambria Math" pitchFamily="34" charset="-122"/>
                <a:cs typeface="Cambria Math" pitchFamily="34" charset="-120"/>
              </a:rPr>
              <a:t>COAST,H</a:t>
            </a:r>
            <a:pPr algn="l" indent="0" marL="0">
              <a:spcAft>
                <a:spcPts val="800"/>
              </a:spcAft>
              <a:buNone/>
            </a:pPr>
            <a:r>
              <a:rPr lang="en-US" sz="1600" dirty="0">
                <a:solidFill>
                  <a:srgbClr val="F1F5F9"/>
                </a:solidFill>
                <a:latin typeface="Cambria Math" pitchFamily="34" charset="0"/>
                <a:ea typeface="Cambria Math" pitchFamily="34" charset="-122"/>
                <a:cs typeface="Cambria Math" pitchFamily="34" charset="-120"/>
              </a:rPr>
              <a:t> − SR</a:t>
            </a:r>
            <a:pPr algn="l" indent="0" marL="0">
              <a:spcAft>
                <a:spcPts val="800"/>
              </a:spcAft>
              <a:buNone/>
            </a:pPr>
            <a:r>
              <a:rPr lang="en-US" sz="1600" baseline="-40000" dirty="0">
                <a:solidFill>
                  <a:srgbClr val="F1F5F9"/>
                </a:solidFill>
                <a:latin typeface="Cambria Math" pitchFamily="34" charset="0"/>
                <a:ea typeface="Cambria Math" pitchFamily="34" charset="-122"/>
                <a:cs typeface="Cambria Math" pitchFamily="34" charset="-120"/>
              </a:rPr>
              <a:t>BASE,H</a:t>
            </a:r>
            <a:endParaRPr lang="en-US" sz="1600" dirty="0"/>
          </a:p>
          <a:p>
            <a:pPr algn="l" indent="0" marL="0">
              <a:spcAft>
                <a:spcPts val="800"/>
              </a:spcAft>
              <a:buNone/>
            </a:pPr>
            <a:r>
              <a:rPr lang="en-US" sz="1600" dirty="0">
                <a:solidFill>
                  <a:srgbClr val="F1F5F9"/>
                </a:solidFill>
                <a:latin typeface="Cambria Math" pitchFamily="34" charset="0"/>
                <a:ea typeface="Cambria Math" pitchFamily="34" charset="-122"/>
                <a:cs typeface="Cambria Math" pitchFamily="34" charset="-120"/>
              </a:rPr>
              <a:t>G</a:t>
            </a:r>
            <a:pPr algn="l" indent="0" marL="0">
              <a:spcAft>
                <a:spcPts val="800"/>
              </a:spcAft>
              <a:buNone/>
            </a:pPr>
            <a:r>
              <a:rPr lang="en-US" sz="1600" baseline="-40000" dirty="0">
                <a:solidFill>
                  <a:srgbClr val="F1F5F9"/>
                </a:solidFill>
                <a:latin typeface="Cambria Math" pitchFamily="34" charset="0"/>
                <a:ea typeface="Cambria Math" pitchFamily="34" charset="-122"/>
                <a:cs typeface="Cambria Math" pitchFamily="34" charset="-120"/>
              </a:rPr>
              <a:t>T</a:t>
            </a:r>
            <a:pPr algn="l" indent="0" marL="0">
              <a:spcAft>
                <a:spcPts val="800"/>
              </a:spcAft>
              <a:buNone/>
            </a:pPr>
            <a:r>
              <a:rPr lang="en-US" sz="1600" dirty="0">
                <a:solidFill>
                  <a:srgbClr val="F1F5F9"/>
                </a:solidFill>
                <a:latin typeface="Cambria Math" pitchFamily="34" charset="0"/>
                <a:ea typeface="Cambria Math" pitchFamily="34" charset="-122"/>
                <a:cs typeface="Cambria Math" pitchFamily="34" charset="-120"/>
              </a:rPr>
              <a:t> = SR</a:t>
            </a:r>
            <a:pPr algn="l" indent="0" marL="0">
              <a:spcAft>
                <a:spcPts val="800"/>
              </a:spcAft>
              <a:buNone/>
            </a:pPr>
            <a:r>
              <a:rPr lang="en-US" sz="1600" baseline="-40000" dirty="0">
                <a:solidFill>
                  <a:srgbClr val="F1F5F9"/>
                </a:solidFill>
                <a:latin typeface="Cambria Math" pitchFamily="34" charset="0"/>
                <a:ea typeface="Cambria Math" pitchFamily="34" charset="-122"/>
                <a:cs typeface="Cambria Math" pitchFamily="34" charset="-120"/>
              </a:rPr>
              <a:t>COAST,T</a:t>
            </a:r>
            <a:pPr algn="l" indent="0" marL="0">
              <a:spcAft>
                <a:spcPts val="800"/>
              </a:spcAft>
              <a:buNone/>
            </a:pPr>
            <a:r>
              <a:rPr lang="en-US" sz="1600" dirty="0">
                <a:solidFill>
                  <a:srgbClr val="F1F5F9"/>
                </a:solidFill>
                <a:latin typeface="Cambria Math" pitchFamily="34" charset="0"/>
                <a:ea typeface="Cambria Math" pitchFamily="34" charset="-122"/>
                <a:cs typeface="Cambria Math" pitchFamily="34" charset="-120"/>
              </a:rPr>
              <a:t> − SR</a:t>
            </a:r>
            <a:pPr algn="l" indent="0" marL="0">
              <a:spcAft>
                <a:spcPts val="800"/>
              </a:spcAft>
              <a:buNone/>
            </a:pPr>
            <a:r>
              <a:rPr lang="en-US" sz="1600" baseline="-40000" dirty="0">
                <a:solidFill>
                  <a:srgbClr val="F1F5F9"/>
                </a:solidFill>
                <a:latin typeface="Cambria Math" pitchFamily="34" charset="0"/>
                <a:ea typeface="Cambria Math" pitchFamily="34" charset="-122"/>
                <a:cs typeface="Cambria Math" pitchFamily="34" charset="-120"/>
              </a:rPr>
              <a:t>BASE,T</a:t>
            </a:r>
            <a:endParaRPr lang="en-US" sz="1600" dirty="0"/>
          </a:p>
          <a:p>
            <a:pPr algn="l" indent="0" marL="0">
              <a:spcAft>
                <a:spcPts val="800"/>
              </a:spcAft>
              <a:buNone/>
            </a:pPr>
            <a:r>
              <a:rPr lang="en-US" sz="1600" b="1" dirty="0">
                <a:solidFill>
                  <a:srgbClr val="F1F5F9"/>
                </a:solidFill>
                <a:latin typeface="Cambria Math" pitchFamily="34" charset="0"/>
                <a:ea typeface="Cambria Math" pitchFamily="34" charset="-122"/>
                <a:cs typeface="Cambria Math" pitchFamily="34" charset="-120"/>
              </a:rPr>
              <a:t>PGG = G</a:t>
            </a:r>
            <a:pPr algn="l" indent="0" marL="0">
              <a:spcAft>
                <a:spcPts val="800"/>
              </a:spcAft>
              <a:buNone/>
            </a:pPr>
            <a:r>
              <a:rPr lang="en-US" sz="1600" b="1" baseline="-40000" dirty="0">
                <a:solidFill>
                  <a:srgbClr val="F1F5F9"/>
                </a:solidFill>
                <a:latin typeface="Cambria Math" pitchFamily="34" charset="0"/>
                <a:ea typeface="Cambria Math" pitchFamily="34" charset="-122"/>
                <a:cs typeface="Cambria Math" pitchFamily="34" charset="-120"/>
              </a:rPr>
              <a:t>H</a:t>
            </a:r>
            <a:pPr algn="l" indent="0" marL="0">
              <a:spcAft>
                <a:spcPts val="800"/>
              </a:spcAft>
              <a:buNone/>
            </a:pPr>
            <a:r>
              <a:rPr lang="en-US" sz="1600" b="1" dirty="0">
                <a:solidFill>
                  <a:srgbClr val="F1F5F9"/>
                </a:solidFill>
                <a:latin typeface="Cambria Math" pitchFamily="34" charset="0"/>
                <a:ea typeface="Cambria Math" pitchFamily="34" charset="-122"/>
                <a:cs typeface="Cambria Math" pitchFamily="34" charset="-120"/>
              </a:rPr>
              <a:t> − G</a:t>
            </a:r>
            <a:pPr algn="l" indent="0" marL="0">
              <a:spcAft>
                <a:spcPts val="800"/>
              </a:spcAft>
              <a:buNone/>
            </a:pPr>
            <a:r>
              <a:rPr lang="en-US" sz="1600" b="1" baseline="-40000" dirty="0">
                <a:solidFill>
                  <a:srgbClr val="F1F5F9"/>
                </a:solidFill>
                <a:latin typeface="Cambria Math" pitchFamily="34" charset="0"/>
                <a:ea typeface="Cambria Math" pitchFamily="34" charset="-122"/>
                <a:cs typeface="Cambria Math" pitchFamily="34" charset="-120"/>
              </a:rPr>
              <a:t>T</a:t>
            </a:r>
            <a:endParaRPr lang="en-US" sz="1600" dirty="0"/>
          </a:p>
        </p:txBody>
      </p:sp>
      <p:sp>
        <p:nvSpPr>
          <p:cNvPr id="34" name="Text 32"/>
          <p:cNvSpPr txBox="1"/>
          <p:nvPr/>
        </p:nvSpPr>
        <p:spPr>
          <a:xfrm>
            <a:off x="8522208" y="3246120"/>
            <a:ext cx="2956255" cy="914400"/>
          </a:xfrm>
          <a:prstGeom prst="rect">
            <a:avLst/>
          </a:prstGeom>
          <a:noFill/>
          <a:ln/>
        </p:spPr>
        <p:txBody>
          <a:bodyPr wrap="square" lIns="0" tIns="0" rIns="0" bIns="0" rtlCol="0" anchor="t"/>
          <a:lstStyle/>
          <a:p>
            <a:pPr algn="l" indent="0" marL="0">
              <a:buNone/>
            </a:pPr>
            <a:r>
              <a:rPr lang="en-US" sz="1400" dirty="0">
                <a:solidFill>
                  <a:srgbClr val="F1F5F9"/>
                </a:solidFill>
                <a:latin typeface="Arial" pitchFamily="34" charset="0"/>
                <a:ea typeface="Arial" pitchFamily="34" charset="-122"/>
                <a:cs typeface="Arial" pitchFamily="34" charset="-120"/>
              </a:rPr>
              <a:t>PGG &gt; 0: the apparent gain is larger under historical fit-state evaluation than under held-out evaluation.</a:t>
            </a:r>
            <a:endParaRPr lang="en-US" sz="1400" dirty="0"/>
          </a:p>
        </p:txBody>
      </p:sp>
      <p:sp>
        <p:nvSpPr>
          <p:cNvPr id="35" name="Text 33"/>
          <p:cNvSpPr txBox="1"/>
          <p:nvPr/>
        </p:nvSpPr>
        <p:spPr>
          <a:xfrm>
            <a:off x="8522208" y="4160520"/>
            <a:ext cx="2956255" cy="1645920"/>
          </a:xfrm>
          <a:prstGeom prst="rect">
            <a:avLst/>
          </a:prstGeom>
          <a:noFill/>
          <a:ln/>
        </p:spPr>
        <p:txBody>
          <a:bodyPr wrap="square" lIns="0" tIns="0" rIns="0" bIns="0" rtlCol="0" anchor="t"/>
          <a:lstStyle/>
          <a:p>
            <a:pPr algn="l" indent="0" marL="0">
              <a:spcAft>
                <a:spcPts val="300"/>
              </a:spcAft>
              <a:buNone/>
            </a:pPr>
            <a:r>
              <a:rPr lang="en-US" sz="1250" b="1" dirty="0">
                <a:solidFill>
                  <a:srgbClr val="A7B4C8"/>
                </a:solidFill>
                <a:latin typeface="Arial" pitchFamily="34" charset="0"/>
                <a:ea typeface="Arial" pitchFamily="34" charset="-122"/>
                <a:cs typeface="Arial" pitchFamily="34" charset="-120"/>
              </a:rPr>
              <a:t>Case rule (pre-registered)</a:t>
            </a:r>
            <a:endParaRPr lang="en-US" sz="1250" dirty="0"/>
          </a:p>
          <a:p>
            <a:pPr algn="l" indent="0" marL="0">
              <a:spcAft>
                <a:spcPts val="300"/>
              </a:spcAft>
              <a:buNone/>
            </a:pPr>
            <a:r>
              <a:rPr lang="en-US" sz="1250" dirty="0">
                <a:solidFill>
                  <a:srgbClr val="A7B4C8"/>
                </a:solidFill>
                <a:latin typeface="Arial" pitchFamily="34" charset="0"/>
                <a:ea typeface="Arial" pitchFamily="34" charset="-122"/>
                <a:cs typeface="Arial" pitchFamily="34" charset="-120"/>
              </a:rPr>
              <a:t>A: G</a:t>
            </a:r>
            <a:pPr algn="l" indent="0" marL="0">
              <a:spcAft>
                <a:spcPts val="300"/>
              </a:spcAft>
              <a:buNone/>
            </a:pPr>
            <a:r>
              <a:rPr lang="en-US" sz="1250" baseline="-40000" dirty="0">
                <a:solidFill>
                  <a:srgbClr val="A7B4C8"/>
                </a:solidFill>
                <a:latin typeface="Arial" pitchFamily="34" charset="0"/>
                <a:ea typeface="Arial" pitchFamily="34" charset="-122"/>
                <a:cs typeface="Arial" pitchFamily="34" charset="-120"/>
              </a:rPr>
              <a:t>H</a:t>
            </a:r>
            <a:pPr algn="l" indent="0" marL="0">
              <a:spcAft>
                <a:spcPts val="300"/>
              </a:spcAft>
              <a:buNone/>
            </a:pPr>
            <a:r>
              <a:rPr lang="en-US" sz="1250" dirty="0">
                <a:solidFill>
                  <a:srgbClr val="A7B4C8"/>
                </a:solidFill>
                <a:latin typeface="Arial" pitchFamily="34" charset="0"/>
                <a:ea typeface="Arial" pitchFamily="34" charset="-122"/>
                <a:cs typeface="Arial" pitchFamily="34" charset="-120"/>
              </a:rPr>
              <a:t> &gt; G</a:t>
            </a:r>
            <a:pPr algn="l" indent="0" marL="0">
              <a:spcAft>
                <a:spcPts val="300"/>
              </a:spcAft>
              <a:buNone/>
            </a:pPr>
            <a:r>
              <a:rPr lang="en-US" sz="1250" baseline="-40000" dirty="0">
                <a:solidFill>
                  <a:srgbClr val="A7B4C8"/>
                </a:solidFill>
                <a:latin typeface="Arial" pitchFamily="34" charset="0"/>
                <a:ea typeface="Arial" pitchFamily="34" charset="-122"/>
                <a:cs typeface="Arial" pitchFamily="34" charset="-120"/>
              </a:rPr>
              <a:t>T</a:t>
            </a:r>
            <a:pPr algn="l" indent="0" marL="0">
              <a:spcAft>
                <a:spcPts val="300"/>
              </a:spcAft>
              <a:buNone/>
            </a:pPr>
            <a:r>
              <a:rPr lang="en-US" sz="1250" dirty="0">
                <a:solidFill>
                  <a:srgbClr val="A7B4C8"/>
                </a:solidFill>
                <a:latin typeface="Arial" pitchFamily="34" charset="0"/>
                <a:ea typeface="Arial" pitchFamily="34" charset="-122"/>
                <a:cs typeface="Arial" pitchFamily="34" charset="-120"/>
              </a:rPr>
              <a:t> in most tasks, no clear held-out advantage</a:t>
            </a:r>
            <a:endParaRPr lang="en-US" sz="1250" dirty="0"/>
          </a:p>
          <a:p>
            <a:pPr algn="l" indent="0" marL="0">
              <a:spcAft>
                <a:spcPts val="300"/>
              </a:spcAft>
              <a:buNone/>
            </a:pPr>
            <a:r>
              <a:rPr lang="en-US" sz="1250" dirty="0">
                <a:solidFill>
                  <a:srgbClr val="A7B4C8"/>
                </a:solidFill>
                <a:latin typeface="Arial" pitchFamily="34" charset="0"/>
                <a:ea typeface="Arial" pitchFamily="34" charset="-122"/>
                <a:cs typeface="Arial" pitchFamily="34" charset="-120"/>
              </a:rPr>
              <a:t>B: mixed · C: COAST beats baseline and random on T</a:t>
            </a:r>
            <a:endParaRPr lang="en-US" sz="1250" dirty="0"/>
          </a:p>
          <a:p>
            <a:pPr algn="l" indent="0" marL="0">
              <a:spcAft>
                <a:spcPts val="300"/>
              </a:spcAft>
              <a:buNone/>
            </a:pPr>
            <a:r>
              <a:rPr lang="en-US" sz="1250" dirty="0">
                <a:solidFill>
                  <a:srgbClr val="6B7A93"/>
                </a:solidFill>
                <a:latin typeface="Arial" pitchFamily="34" charset="0"/>
                <a:ea typeface="Arial" pitchFamily="34" charset="-122"/>
                <a:cs typeface="Arial" pitchFamily="34" charset="-120"/>
              </a:rPr>
              <a:t>clear = pooled Fisher p &lt; 0.05 and same sign in both repeats</a:t>
            </a:r>
            <a:endParaRPr lang="en-US" sz="1250" dirty="0"/>
          </a:p>
        </p:txBody>
      </p:sp>
      <p:sp>
        <p:nvSpPr>
          <p:cNvPr id="36" name="Text 34"/>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phase7a_preregistration.md (sha256 08293552…, frozen before any rollout) · miranda-v2 @ 29059a5 unmodified · authors' fit activations</a:t>
            </a:r>
            <a:endParaRPr lang="en-US" sz="1000" dirty="0"/>
          </a:p>
        </p:txBody>
      </p:sp>
      <p:sp>
        <p:nvSpPr>
          <p:cNvPr id="37" name="Text 35"/>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38" name="Text 36"/>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16 / 21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CROSS-TASK VALIDATION · PHASE 7A</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Held-out: paper Global ≈ random control in every task</a:t>
            </a:r>
            <a:endParaRPr lang="en-US" sz="3000" dirty="0"/>
          </a:p>
        </p:txBody>
      </p:sp>
      <p:sp>
        <p:nvSpPr>
          <p:cNvPr id="4" name="Text 2"/>
          <p:cNvSpPr txBox="1"/>
          <p:nvPr/>
        </p:nvSpPr>
        <p:spPr>
          <a:xfrm>
            <a:off x="548640" y="1234440"/>
            <a:ext cx="5669280" cy="292608"/>
          </a:xfrm>
          <a:prstGeom prst="rect">
            <a:avLst/>
          </a:prstGeom>
          <a:noFill/>
          <a:ln/>
        </p:spPr>
        <p:txBody>
          <a:bodyPr wrap="square" lIns="0" tIns="0" rIns="0" bIns="0" rtlCol="0" anchor="t"/>
          <a:lstStyle/>
          <a:p>
            <a:pPr algn="l" indent="0" marL="0">
              <a:buNone/>
            </a:pPr>
            <a:r>
              <a:rPr lang="en-US" sz="1500" b="1" dirty="0">
                <a:solidFill>
                  <a:srgbClr val="F1F5F9"/>
                </a:solidFill>
                <a:latin typeface="Arial" pitchFamily="34" charset="0"/>
                <a:ea typeface="Arial" pitchFamily="34" charset="-122"/>
                <a:cs typeface="Arial" pitchFamily="34" charset="-120"/>
              </a:rPr>
              <a:t>Arm H · states 0–14 (fit states) · 2 × 15</a:t>
            </a:r>
            <a:endParaRPr lang="en-US" sz="1500" dirty="0"/>
          </a:p>
        </p:txBody>
      </p:sp>
      <p:sp>
        <p:nvSpPr>
          <p:cNvPr id="5" name="Text 3"/>
          <p:cNvSpPr txBox="1"/>
          <p:nvPr/>
        </p:nvSpPr>
        <p:spPr>
          <a:xfrm>
            <a:off x="5989320" y="1234440"/>
            <a:ext cx="1828800" cy="292608"/>
          </a:xfrm>
          <a:prstGeom prst="rect">
            <a:avLst/>
          </a:prstGeom>
          <a:noFill/>
          <a:ln/>
        </p:spPr>
        <p:txBody>
          <a:bodyPr wrap="square" lIns="0" tIns="0" rIns="0" bIns="0" rtlCol="0" anchor="t"/>
          <a:lstStyle/>
          <a:p>
            <a:pPr algn="l" indent="0" marL="0">
              <a:buNone/>
            </a:pPr>
            <a:r>
              <a:rPr lang="en-US" sz="1200" dirty="0">
                <a:solidFill>
                  <a:srgbClr val="6B7A93"/>
                </a:solidFill>
                <a:latin typeface="Arial" pitchFamily="34" charset="0"/>
                <a:ea typeface="Arial" pitchFamily="34" charset="-122"/>
                <a:cs typeface="Arial" pitchFamily="34" charset="-120"/>
              </a:rPr>
              <a:t>Base · Global · Random</a:t>
            </a:r>
            <a:endParaRPr lang="en-US" sz="1200" dirty="0"/>
          </a:p>
        </p:txBody>
      </p:sp>
      <p:sp>
        <p:nvSpPr>
          <p:cNvPr id="6" name="Text 4"/>
          <p:cNvSpPr txBox="1"/>
          <p:nvPr/>
        </p:nvSpPr>
        <p:spPr>
          <a:xfrm>
            <a:off x="548640" y="1591056"/>
            <a:ext cx="1188720" cy="292608"/>
          </a:xfrm>
          <a:prstGeom prst="rect">
            <a:avLst/>
          </a:prstGeom>
          <a:noFill/>
          <a:ln/>
        </p:spPr>
        <p:txBody>
          <a:bodyPr wrap="square" lIns="0" tIns="0" rIns="0" bIns="0" rtlCol="0" anchor="ctr"/>
          <a:lstStyle/>
          <a:p>
            <a:pPr algn="l" indent="0" marL="0">
              <a:buNone/>
            </a:pPr>
            <a:r>
              <a:rPr lang="en-US" sz="1500" dirty="0">
                <a:solidFill>
                  <a:srgbClr val="F1F5F9"/>
                </a:solidFill>
                <a:latin typeface="Arial" pitchFamily="34" charset="0"/>
                <a:ea typeface="Arial" pitchFamily="34" charset="-122"/>
                <a:cs typeface="Arial" pitchFamily="34" charset="-120"/>
              </a:rPr>
              <a:t>LR2a</a:t>
            </a:r>
            <a:endParaRPr lang="en-US" sz="1500" dirty="0"/>
          </a:p>
        </p:txBody>
      </p:sp>
      <p:sp>
        <p:nvSpPr>
          <p:cNvPr id="7" name="Shape 5"/>
          <p:cNvSpPr/>
          <p:nvPr/>
        </p:nvSpPr>
        <p:spPr>
          <a:xfrm>
            <a:off x="1828800" y="1737360"/>
            <a:ext cx="4023360" cy="0"/>
          </a:xfrm>
          <a:prstGeom prst="line">
            <a:avLst/>
          </a:prstGeom>
          <a:noFill/>
          <a:ln w="9525">
            <a:solidFill>
              <a:srgbClr val="22314A"/>
            </a:solidFill>
            <a:prstDash val="solid"/>
          </a:ln>
        </p:spPr>
      </p:sp>
      <p:sp>
        <p:nvSpPr>
          <p:cNvPr id="8" name="Shape 6"/>
          <p:cNvSpPr/>
          <p:nvPr/>
        </p:nvSpPr>
        <p:spPr>
          <a:xfrm>
            <a:off x="3169920" y="1737360"/>
            <a:ext cx="502920" cy="0"/>
          </a:xfrm>
          <a:prstGeom prst="line">
            <a:avLst/>
          </a:prstGeom>
          <a:noFill/>
          <a:ln w="38100">
            <a:solidFill>
              <a:srgbClr val="26354F"/>
            </a:solidFill>
            <a:prstDash val="solid"/>
          </a:ln>
        </p:spPr>
      </p:sp>
      <p:sp>
        <p:nvSpPr>
          <p:cNvPr id="9" name="Shape 7"/>
          <p:cNvSpPr/>
          <p:nvPr/>
        </p:nvSpPr>
        <p:spPr>
          <a:xfrm>
            <a:off x="3069336" y="1636776"/>
            <a:ext cx="201168" cy="201168"/>
          </a:xfrm>
          <a:prstGeom prst="ellipse">
            <a:avLst/>
          </a:prstGeom>
          <a:solidFill>
            <a:srgbClr val="A3AEC2"/>
          </a:solidFill>
          <a:ln w="9525">
            <a:solidFill>
              <a:srgbClr val="A3AEC2"/>
            </a:solidFill>
            <a:prstDash val="solid"/>
          </a:ln>
        </p:spPr>
      </p:sp>
      <p:sp>
        <p:nvSpPr>
          <p:cNvPr id="10" name="Shape 8"/>
          <p:cNvSpPr/>
          <p:nvPr/>
        </p:nvSpPr>
        <p:spPr>
          <a:xfrm>
            <a:off x="3404616" y="1636776"/>
            <a:ext cx="201168" cy="201168"/>
          </a:xfrm>
          <a:prstGeom prst="ellipse">
            <a:avLst/>
          </a:prstGeom>
          <a:solidFill>
            <a:srgbClr val="0B1220"/>
          </a:solidFill>
          <a:ln w="28575">
            <a:solidFill>
              <a:srgbClr val="7F8CA3"/>
            </a:solidFill>
            <a:prstDash val="solid"/>
          </a:ln>
        </p:spPr>
      </p:sp>
      <p:sp>
        <p:nvSpPr>
          <p:cNvPr id="11" name="Shape 9"/>
          <p:cNvSpPr/>
          <p:nvPr/>
        </p:nvSpPr>
        <p:spPr>
          <a:xfrm>
            <a:off x="3572256" y="1636776"/>
            <a:ext cx="201168" cy="201168"/>
          </a:xfrm>
          <a:prstGeom prst="ellipse">
            <a:avLst/>
          </a:prstGeom>
          <a:solidFill>
            <a:srgbClr val="38BDF8"/>
          </a:solidFill>
          <a:ln w="9525">
            <a:solidFill>
              <a:srgbClr val="38BDF8"/>
            </a:solidFill>
            <a:prstDash val="solid"/>
          </a:ln>
        </p:spPr>
      </p:sp>
      <p:sp>
        <p:nvSpPr>
          <p:cNvPr id="12" name="Shape 10"/>
          <p:cNvSpPr/>
          <p:nvPr/>
        </p:nvSpPr>
        <p:spPr>
          <a:xfrm>
            <a:off x="4846320" y="1581912"/>
            <a:ext cx="0" cy="310896"/>
          </a:xfrm>
          <a:prstGeom prst="line">
            <a:avLst/>
          </a:prstGeom>
          <a:noFill/>
          <a:ln w="38100">
            <a:solidFill>
              <a:srgbClr val="F59E0B"/>
            </a:solidFill>
            <a:prstDash val="solid"/>
          </a:ln>
        </p:spPr>
      </p:sp>
      <p:sp>
        <p:nvSpPr>
          <p:cNvPr id="13" name="Text 11"/>
          <p:cNvSpPr txBox="1"/>
          <p:nvPr/>
        </p:nvSpPr>
        <p:spPr>
          <a:xfrm>
            <a:off x="5989320" y="1591056"/>
            <a:ext cx="1828800" cy="292608"/>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14 · </a:t>
            </a:r>
            <a:pPr algn="l" indent="0" marL="0">
              <a:buNone/>
            </a:pPr>
            <a:r>
              <a:rPr lang="en-US" sz="1400" dirty="0">
                <a:solidFill>
                  <a:srgbClr val="38BDF8"/>
                </a:solidFill>
                <a:latin typeface="Arial" pitchFamily="34" charset="0"/>
                <a:ea typeface="Arial" pitchFamily="34" charset="-122"/>
                <a:cs typeface="Arial" pitchFamily="34" charset="-120"/>
              </a:rPr>
              <a:t>17</a:t>
            </a:r>
            <a:pPr algn="l" indent="0" marL="0">
              <a:buNone/>
            </a:pPr>
            <a:r>
              <a:rPr lang="en-US" sz="1400" dirty="0">
                <a:solidFill>
                  <a:srgbClr val="F1F5F9"/>
                </a:solidFill>
                <a:latin typeface="Arial" pitchFamily="34" charset="0"/>
                <a:ea typeface="Arial" pitchFamily="34" charset="-122"/>
                <a:cs typeface="Arial" pitchFamily="34" charset="-120"/>
              </a:rPr>
              <a:t> · 16 /30</a:t>
            </a:r>
            <a:endParaRPr lang="en-US" sz="1400" dirty="0"/>
          </a:p>
        </p:txBody>
      </p:sp>
      <p:sp>
        <p:nvSpPr>
          <p:cNvPr id="14" name="Text 12"/>
          <p:cNvSpPr txBox="1"/>
          <p:nvPr/>
        </p:nvSpPr>
        <p:spPr>
          <a:xfrm>
            <a:off x="548640" y="1993392"/>
            <a:ext cx="1188720" cy="292608"/>
          </a:xfrm>
          <a:prstGeom prst="rect">
            <a:avLst/>
          </a:prstGeom>
          <a:noFill/>
          <a:ln/>
        </p:spPr>
        <p:txBody>
          <a:bodyPr wrap="square" lIns="0" tIns="0" rIns="0" bIns="0" rtlCol="0" anchor="ctr"/>
          <a:lstStyle/>
          <a:p>
            <a:pPr algn="l" indent="0" marL="0">
              <a:buNone/>
            </a:pPr>
            <a:r>
              <a:rPr lang="en-US" sz="1500" dirty="0">
                <a:solidFill>
                  <a:srgbClr val="F1F5F9"/>
                </a:solidFill>
                <a:latin typeface="Arial" pitchFamily="34" charset="0"/>
                <a:ea typeface="Arial" pitchFamily="34" charset="-122"/>
                <a:cs typeface="Arial" pitchFamily="34" charset="-120"/>
              </a:rPr>
              <a:t>KS4</a:t>
            </a:r>
            <a:endParaRPr lang="en-US" sz="1500" dirty="0"/>
          </a:p>
        </p:txBody>
      </p:sp>
      <p:sp>
        <p:nvSpPr>
          <p:cNvPr id="15" name="Shape 13"/>
          <p:cNvSpPr/>
          <p:nvPr/>
        </p:nvSpPr>
        <p:spPr>
          <a:xfrm>
            <a:off x="1828800" y="2139696"/>
            <a:ext cx="4023360" cy="0"/>
          </a:xfrm>
          <a:prstGeom prst="line">
            <a:avLst/>
          </a:prstGeom>
          <a:noFill/>
          <a:ln w="9525">
            <a:solidFill>
              <a:srgbClr val="22314A"/>
            </a:solidFill>
            <a:prstDash val="solid"/>
          </a:ln>
        </p:spPr>
      </p:sp>
      <p:sp>
        <p:nvSpPr>
          <p:cNvPr id="16" name="Shape 14"/>
          <p:cNvSpPr/>
          <p:nvPr/>
        </p:nvSpPr>
        <p:spPr>
          <a:xfrm>
            <a:off x="3169920" y="2139696"/>
            <a:ext cx="502920" cy="0"/>
          </a:xfrm>
          <a:prstGeom prst="line">
            <a:avLst/>
          </a:prstGeom>
          <a:noFill/>
          <a:ln w="38100">
            <a:solidFill>
              <a:srgbClr val="26354F"/>
            </a:solidFill>
            <a:prstDash val="solid"/>
          </a:ln>
        </p:spPr>
      </p:sp>
      <p:sp>
        <p:nvSpPr>
          <p:cNvPr id="17" name="Shape 15"/>
          <p:cNvSpPr/>
          <p:nvPr/>
        </p:nvSpPr>
        <p:spPr>
          <a:xfrm>
            <a:off x="3404616" y="2039112"/>
            <a:ext cx="201168" cy="201168"/>
          </a:xfrm>
          <a:prstGeom prst="ellipse">
            <a:avLst/>
          </a:prstGeom>
          <a:solidFill>
            <a:srgbClr val="A3AEC2"/>
          </a:solidFill>
          <a:ln w="9525">
            <a:solidFill>
              <a:srgbClr val="A3AEC2"/>
            </a:solidFill>
            <a:prstDash val="solid"/>
          </a:ln>
        </p:spPr>
      </p:sp>
      <p:sp>
        <p:nvSpPr>
          <p:cNvPr id="18" name="Shape 16"/>
          <p:cNvSpPr/>
          <p:nvPr/>
        </p:nvSpPr>
        <p:spPr>
          <a:xfrm>
            <a:off x="3572256" y="2039112"/>
            <a:ext cx="201168" cy="201168"/>
          </a:xfrm>
          <a:prstGeom prst="ellipse">
            <a:avLst/>
          </a:prstGeom>
          <a:solidFill>
            <a:srgbClr val="0B1220"/>
          </a:solidFill>
          <a:ln w="28575">
            <a:solidFill>
              <a:srgbClr val="7F8CA3"/>
            </a:solidFill>
            <a:prstDash val="solid"/>
          </a:ln>
        </p:spPr>
      </p:sp>
      <p:sp>
        <p:nvSpPr>
          <p:cNvPr id="19" name="Shape 17"/>
          <p:cNvSpPr/>
          <p:nvPr/>
        </p:nvSpPr>
        <p:spPr>
          <a:xfrm>
            <a:off x="3069336" y="2039112"/>
            <a:ext cx="201168" cy="201168"/>
          </a:xfrm>
          <a:prstGeom prst="ellipse">
            <a:avLst/>
          </a:prstGeom>
          <a:solidFill>
            <a:srgbClr val="38BDF8"/>
          </a:solidFill>
          <a:ln w="9525">
            <a:solidFill>
              <a:srgbClr val="38BDF8"/>
            </a:solidFill>
            <a:prstDash val="solid"/>
          </a:ln>
        </p:spPr>
      </p:sp>
      <p:sp>
        <p:nvSpPr>
          <p:cNvPr id="20" name="Shape 18"/>
          <p:cNvSpPr/>
          <p:nvPr/>
        </p:nvSpPr>
        <p:spPr>
          <a:xfrm>
            <a:off x="4494276" y="1984248"/>
            <a:ext cx="0" cy="310896"/>
          </a:xfrm>
          <a:prstGeom prst="line">
            <a:avLst/>
          </a:prstGeom>
          <a:noFill/>
          <a:ln w="38100">
            <a:solidFill>
              <a:srgbClr val="F59E0B"/>
            </a:solidFill>
            <a:prstDash val="solid"/>
          </a:ln>
        </p:spPr>
      </p:sp>
      <p:sp>
        <p:nvSpPr>
          <p:cNvPr id="21" name="Text 19"/>
          <p:cNvSpPr txBox="1"/>
          <p:nvPr/>
        </p:nvSpPr>
        <p:spPr>
          <a:xfrm>
            <a:off x="5989320" y="1993392"/>
            <a:ext cx="1828800" cy="292608"/>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16 · </a:t>
            </a:r>
            <a:pPr algn="l" indent="0" marL="0">
              <a:buNone/>
            </a:pPr>
            <a:r>
              <a:rPr lang="en-US" sz="1400" dirty="0">
                <a:solidFill>
                  <a:srgbClr val="38BDF8"/>
                </a:solidFill>
                <a:latin typeface="Arial" pitchFamily="34" charset="0"/>
                <a:ea typeface="Arial" pitchFamily="34" charset="-122"/>
                <a:cs typeface="Arial" pitchFamily="34" charset="-120"/>
              </a:rPr>
              <a:t>14</a:t>
            </a:r>
            <a:pPr algn="l" indent="0" marL="0">
              <a:buNone/>
            </a:pPr>
            <a:r>
              <a:rPr lang="en-US" sz="1400" dirty="0">
                <a:solidFill>
                  <a:srgbClr val="F1F5F9"/>
                </a:solidFill>
                <a:latin typeface="Arial" pitchFamily="34" charset="0"/>
                <a:ea typeface="Arial" pitchFamily="34" charset="-122"/>
                <a:cs typeface="Arial" pitchFamily="34" charset="-120"/>
              </a:rPr>
              <a:t> · 17 /30</a:t>
            </a:r>
            <a:endParaRPr lang="en-US" sz="1400" dirty="0"/>
          </a:p>
        </p:txBody>
      </p:sp>
      <p:sp>
        <p:nvSpPr>
          <p:cNvPr id="22" name="Text 20"/>
          <p:cNvSpPr txBox="1"/>
          <p:nvPr/>
        </p:nvSpPr>
        <p:spPr>
          <a:xfrm>
            <a:off x="548640" y="2395728"/>
            <a:ext cx="1188720" cy="292608"/>
          </a:xfrm>
          <a:prstGeom prst="rect">
            <a:avLst/>
          </a:prstGeom>
          <a:noFill/>
          <a:ln/>
        </p:spPr>
        <p:txBody>
          <a:bodyPr wrap="square" lIns="0" tIns="0" rIns="0" bIns="0" rtlCol="0" anchor="ctr"/>
          <a:lstStyle/>
          <a:p>
            <a:pPr algn="l" indent="0" marL="0">
              <a:buNone/>
            </a:pPr>
            <a:r>
              <a:rPr lang="en-US" sz="1500" dirty="0">
                <a:solidFill>
                  <a:srgbClr val="F1F5F9"/>
                </a:solidFill>
                <a:latin typeface="Arial" pitchFamily="34" charset="0"/>
                <a:ea typeface="Arial" pitchFamily="34" charset="-122"/>
                <a:cs typeface="Arial" pitchFamily="34" charset="-120"/>
              </a:rPr>
              <a:t>LR1</a:t>
            </a:r>
            <a:endParaRPr lang="en-US" sz="1500" dirty="0"/>
          </a:p>
        </p:txBody>
      </p:sp>
      <p:sp>
        <p:nvSpPr>
          <p:cNvPr id="23" name="Shape 21"/>
          <p:cNvSpPr/>
          <p:nvPr/>
        </p:nvSpPr>
        <p:spPr>
          <a:xfrm>
            <a:off x="1828800" y="2542032"/>
            <a:ext cx="4023360" cy="0"/>
          </a:xfrm>
          <a:prstGeom prst="line">
            <a:avLst/>
          </a:prstGeom>
          <a:noFill/>
          <a:ln w="9525">
            <a:solidFill>
              <a:srgbClr val="22314A"/>
            </a:solidFill>
            <a:prstDash val="solid"/>
          </a:ln>
        </p:spPr>
      </p:sp>
      <p:sp>
        <p:nvSpPr>
          <p:cNvPr id="24" name="Shape 22"/>
          <p:cNvSpPr/>
          <p:nvPr/>
        </p:nvSpPr>
        <p:spPr>
          <a:xfrm>
            <a:off x="3337560" y="2542032"/>
            <a:ext cx="1341120" cy="0"/>
          </a:xfrm>
          <a:prstGeom prst="line">
            <a:avLst/>
          </a:prstGeom>
          <a:noFill/>
          <a:ln w="38100">
            <a:solidFill>
              <a:srgbClr val="26354F"/>
            </a:solidFill>
            <a:prstDash val="solid"/>
          </a:ln>
        </p:spPr>
      </p:sp>
      <p:sp>
        <p:nvSpPr>
          <p:cNvPr id="25" name="Shape 23"/>
          <p:cNvSpPr/>
          <p:nvPr/>
        </p:nvSpPr>
        <p:spPr>
          <a:xfrm>
            <a:off x="3236976" y="2441448"/>
            <a:ext cx="201168" cy="201168"/>
          </a:xfrm>
          <a:prstGeom prst="ellipse">
            <a:avLst/>
          </a:prstGeom>
          <a:solidFill>
            <a:srgbClr val="A3AEC2"/>
          </a:solidFill>
          <a:ln w="9525">
            <a:solidFill>
              <a:srgbClr val="A3AEC2"/>
            </a:solidFill>
            <a:prstDash val="solid"/>
          </a:ln>
        </p:spPr>
      </p:sp>
      <p:sp>
        <p:nvSpPr>
          <p:cNvPr id="26" name="Shape 24"/>
          <p:cNvSpPr/>
          <p:nvPr/>
        </p:nvSpPr>
        <p:spPr>
          <a:xfrm>
            <a:off x="3907536" y="2441448"/>
            <a:ext cx="201168" cy="201168"/>
          </a:xfrm>
          <a:prstGeom prst="ellipse">
            <a:avLst/>
          </a:prstGeom>
          <a:solidFill>
            <a:srgbClr val="0B1220"/>
          </a:solidFill>
          <a:ln w="28575">
            <a:solidFill>
              <a:srgbClr val="7F8CA3"/>
            </a:solidFill>
            <a:prstDash val="solid"/>
          </a:ln>
        </p:spPr>
      </p:sp>
      <p:sp>
        <p:nvSpPr>
          <p:cNvPr id="27" name="Shape 25"/>
          <p:cNvSpPr/>
          <p:nvPr/>
        </p:nvSpPr>
        <p:spPr>
          <a:xfrm>
            <a:off x="4578096" y="2441448"/>
            <a:ext cx="201168" cy="201168"/>
          </a:xfrm>
          <a:prstGeom prst="ellipse">
            <a:avLst/>
          </a:prstGeom>
          <a:solidFill>
            <a:srgbClr val="38BDF8"/>
          </a:solidFill>
          <a:ln w="9525">
            <a:solidFill>
              <a:srgbClr val="38BDF8"/>
            </a:solidFill>
            <a:prstDash val="solid"/>
          </a:ln>
        </p:spPr>
      </p:sp>
      <p:sp>
        <p:nvSpPr>
          <p:cNvPr id="28" name="Shape 26"/>
          <p:cNvSpPr/>
          <p:nvPr/>
        </p:nvSpPr>
        <p:spPr>
          <a:xfrm>
            <a:off x="5500116" y="2386584"/>
            <a:ext cx="0" cy="310896"/>
          </a:xfrm>
          <a:prstGeom prst="line">
            <a:avLst/>
          </a:prstGeom>
          <a:noFill/>
          <a:ln w="38100">
            <a:solidFill>
              <a:srgbClr val="F59E0B"/>
            </a:solidFill>
            <a:prstDash val="solid"/>
          </a:ln>
        </p:spPr>
      </p:sp>
      <p:sp>
        <p:nvSpPr>
          <p:cNvPr id="29" name="Text 27"/>
          <p:cNvSpPr txBox="1"/>
          <p:nvPr/>
        </p:nvSpPr>
        <p:spPr>
          <a:xfrm>
            <a:off x="5989320" y="2395728"/>
            <a:ext cx="1828800" cy="292608"/>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15 · </a:t>
            </a:r>
            <a:pPr algn="l" indent="0" marL="0">
              <a:buNone/>
            </a:pPr>
            <a:r>
              <a:rPr lang="en-US" sz="1400" dirty="0">
                <a:solidFill>
                  <a:srgbClr val="38BDF8"/>
                </a:solidFill>
                <a:latin typeface="Arial" pitchFamily="34" charset="0"/>
                <a:ea typeface="Arial" pitchFamily="34" charset="-122"/>
                <a:cs typeface="Arial" pitchFamily="34" charset="-120"/>
              </a:rPr>
              <a:t>23</a:t>
            </a:r>
            <a:pPr algn="l" indent="0" marL="0">
              <a:buNone/>
            </a:pPr>
            <a:r>
              <a:rPr lang="en-US" sz="1400" dirty="0">
                <a:solidFill>
                  <a:srgbClr val="F1F5F9"/>
                </a:solidFill>
                <a:latin typeface="Arial" pitchFamily="34" charset="0"/>
                <a:ea typeface="Arial" pitchFamily="34" charset="-122"/>
                <a:cs typeface="Arial" pitchFamily="34" charset="-120"/>
              </a:rPr>
              <a:t> · 19 /30</a:t>
            </a:r>
            <a:endParaRPr lang="en-US" sz="1400" dirty="0"/>
          </a:p>
        </p:txBody>
      </p:sp>
      <p:sp>
        <p:nvSpPr>
          <p:cNvPr id="30" name="Text 28"/>
          <p:cNvSpPr txBox="1"/>
          <p:nvPr/>
        </p:nvSpPr>
        <p:spPr>
          <a:xfrm>
            <a:off x="548640" y="2926080"/>
            <a:ext cx="5669280" cy="292608"/>
          </a:xfrm>
          <a:prstGeom prst="rect">
            <a:avLst/>
          </a:prstGeom>
          <a:noFill/>
          <a:ln/>
        </p:spPr>
        <p:txBody>
          <a:bodyPr wrap="square" lIns="0" tIns="0" rIns="0" bIns="0" rtlCol="0" anchor="t"/>
          <a:lstStyle/>
          <a:p>
            <a:pPr algn="l" indent="0" marL="0">
              <a:buNone/>
            </a:pPr>
            <a:r>
              <a:rPr lang="en-US" sz="1500" b="1" dirty="0">
                <a:solidFill>
                  <a:srgbClr val="F1F5F9"/>
                </a:solidFill>
                <a:latin typeface="Arial" pitchFamily="34" charset="0"/>
                <a:ea typeface="Arial" pitchFamily="34" charset="-122"/>
                <a:cs typeface="Arial" pitchFamily="34" charset="-120"/>
              </a:rPr>
              <a:t>Arm T · held-out states 15–44 · 2 × 30</a:t>
            </a:r>
            <a:endParaRPr lang="en-US" sz="1500" dirty="0"/>
          </a:p>
        </p:txBody>
      </p:sp>
      <p:sp>
        <p:nvSpPr>
          <p:cNvPr id="31" name="Text 29"/>
          <p:cNvSpPr txBox="1"/>
          <p:nvPr/>
        </p:nvSpPr>
        <p:spPr>
          <a:xfrm>
            <a:off x="5989320" y="2926080"/>
            <a:ext cx="1828800" cy="292608"/>
          </a:xfrm>
          <a:prstGeom prst="rect">
            <a:avLst/>
          </a:prstGeom>
          <a:noFill/>
          <a:ln/>
        </p:spPr>
        <p:txBody>
          <a:bodyPr wrap="square" lIns="0" tIns="0" rIns="0" bIns="0" rtlCol="0" anchor="t"/>
          <a:lstStyle/>
          <a:p>
            <a:pPr algn="l" indent="0" marL="0">
              <a:buNone/>
            </a:pPr>
            <a:r>
              <a:rPr lang="en-US" sz="1200" dirty="0">
                <a:solidFill>
                  <a:srgbClr val="6B7A93"/>
                </a:solidFill>
                <a:latin typeface="Arial" pitchFamily="34" charset="0"/>
                <a:ea typeface="Arial" pitchFamily="34" charset="-122"/>
                <a:cs typeface="Arial" pitchFamily="34" charset="-120"/>
              </a:rPr>
              <a:t>Base · Global · Random</a:t>
            </a:r>
            <a:endParaRPr lang="en-US" sz="1200" dirty="0"/>
          </a:p>
        </p:txBody>
      </p:sp>
      <p:sp>
        <p:nvSpPr>
          <p:cNvPr id="32" name="Text 30"/>
          <p:cNvSpPr txBox="1"/>
          <p:nvPr/>
        </p:nvSpPr>
        <p:spPr>
          <a:xfrm>
            <a:off x="548640" y="3282696"/>
            <a:ext cx="1188720" cy="292608"/>
          </a:xfrm>
          <a:prstGeom prst="rect">
            <a:avLst/>
          </a:prstGeom>
          <a:noFill/>
          <a:ln/>
        </p:spPr>
        <p:txBody>
          <a:bodyPr wrap="square" lIns="0" tIns="0" rIns="0" bIns="0" rtlCol="0" anchor="ctr"/>
          <a:lstStyle/>
          <a:p>
            <a:pPr algn="l" indent="0" marL="0">
              <a:buNone/>
            </a:pPr>
            <a:r>
              <a:rPr lang="en-US" sz="1500" dirty="0">
                <a:solidFill>
                  <a:srgbClr val="F1F5F9"/>
                </a:solidFill>
                <a:latin typeface="Arial" pitchFamily="34" charset="0"/>
                <a:ea typeface="Arial" pitchFamily="34" charset="-122"/>
                <a:cs typeface="Arial" pitchFamily="34" charset="-120"/>
              </a:rPr>
              <a:t>LR2a</a:t>
            </a:r>
            <a:endParaRPr lang="en-US" sz="1500" dirty="0"/>
          </a:p>
        </p:txBody>
      </p:sp>
      <p:sp>
        <p:nvSpPr>
          <p:cNvPr id="33" name="Shape 31"/>
          <p:cNvSpPr/>
          <p:nvPr/>
        </p:nvSpPr>
        <p:spPr>
          <a:xfrm>
            <a:off x="1828800" y="3429000"/>
            <a:ext cx="4023360" cy="0"/>
          </a:xfrm>
          <a:prstGeom prst="line">
            <a:avLst/>
          </a:prstGeom>
          <a:noFill/>
          <a:ln w="9525">
            <a:solidFill>
              <a:srgbClr val="22314A"/>
            </a:solidFill>
            <a:prstDash val="solid"/>
          </a:ln>
        </p:spPr>
      </p:sp>
      <p:sp>
        <p:nvSpPr>
          <p:cNvPr id="34" name="Shape 32"/>
          <p:cNvSpPr/>
          <p:nvPr/>
        </p:nvSpPr>
        <p:spPr>
          <a:xfrm>
            <a:off x="3421380" y="3429000"/>
            <a:ext cx="586740" cy="0"/>
          </a:xfrm>
          <a:prstGeom prst="line">
            <a:avLst/>
          </a:prstGeom>
          <a:noFill/>
          <a:ln w="38100">
            <a:solidFill>
              <a:srgbClr val="26354F"/>
            </a:solidFill>
            <a:prstDash val="solid"/>
          </a:ln>
        </p:spPr>
      </p:sp>
      <p:sp>
        <p:nvSpPr>
          <p:cNvPr id="35" name="Shape 33"/>
          <p:cNvSpPr/>
          <p:nvPr/>
        </p:nvSpPr>
        <p:spPr>
          <a:xfrm>
            <a:off x="3320796" y="3328416"/>
            <a:ext cx="201168" cy="201168"/>
          </a:xfrm>
          <a:prstGeom prst="ellipse">
            <a:avLst/>
          </a:prstGeom>
          <a:solidFill>
            <a:srgbClr val="A3AEC2"/>
          </a:solidFill>
          <a:ln w="9525">
            <a:solidFill>
              <a:srgbClr val="A3AEC2"/>
            </a:solidFill>
            <a:prstDash val="solid"/>
          </a:ln>
        </p:spPr>
      </p:sp>
      <p:sp>
        <p:nvSpPr>
          <p:cNvPr id="36" name="Shape 34"/>
          <p:cNvSpPr/>
          <p:nvPr/>
        </p:nvSpPr>
        <p:spPr>
          <a:xfrm>
            <a:off x="3907536" y="3328416"/>
            <a:ext cx="201168" cy="201168"/>
          </a:xfrm>
          <a:prstGeom prst="ellipse">
            <a:avLst/>
          </a:prstGeom>
          <a:solidFill>
            <a:srgbClr val="0B1220"/>
          </a:solidFill>
          <a:ln w="28575">
            <a:solidFill>
              <a:srgbClr val="7F8CA3"/>
            </a:solidFill>
            <a:prstDash val="solid"/>
          </a:ln>
        </p:spPr>
      </p:sp>
      <p:sp>
        <p:nvSpPr>
          <p:cNvPr id="37" name="Shape 35"/>
          <p:cNvSpPr/>
          <p:nvPr/>
        </p:nvSpPr>
        <p:spPr>
          <a:xfrm>
            <a:off x="3656076" y="3328416"/>
            <a:ext cx="201168" cy="201168"/>
          </a:xfrm>
          <a:prstGeom prst="ellipse">
            <a:avLst/>
          </a:prstGeom>
          <a:solidFill>
            <a:srgbClr val="38BDF8"/>
          </a:solidFill>
          <a:ln w="9525">
            <a:solidFill>
              <a:srgbClr val="38BDF8"/>
            </a:solidFill>
            <a:prstDash val="solid"/>
          </a:ln>
        </p:spPr>
      </p:sp>
      <p:sp>
        <p:nvSpPr>
          <p:cNvPr id="38" name="Text 36"/>
          <p:cNvSpPr txBox="1"/>
          <p:nvPr/>
        </p:nvSpPr>
        <p:spPr>
          <a:xfrm>
            <a:off x="5989320" y="3282696"/>
            <a:ext cx="1828800" cy="292608"/>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31 · </a:t>
            </a:r>
            <a:pPr algn="l" indent="0" marL="0">
              <a:buNone/>
            </a:pPr>
            <a:r>
              <a:rPr lang="en-US" sz="1400" dirty="0">
                <a:solidFill>
                  <a:srgbClr val="38BDF8"/>
                </a:solidFill>
                <a:latin typeface="Arial" pitchFamily="34" charset="0"/>
                <a:ea typeface="Arial" pitchFamily="34" charset="-122"/>
                <a:cs typeface="Arial" pitchFamily="34" charset="-120"/>
              </a:rPr>
              <a:t>35</a:t>
            </a:r>
            <a:pPr algn="l" indent="0" marL="0">
              <a:buNone/>
            </a:pPr>
            <a:r>
              <a:rPr lang="en-US" sz="1400" dirty="0">
                <a:solidFill>
                  <a:srgbClr val="F1F5F9"/>
                </a:solidFill>
                <a:latin typeface="Arial" pitchFamily="34" charset="0"/>
                <a:ea typeface="Arial" pitchFamily="34" charset="-122"/>
                <a:cs typeface="Arial" pitchFamily="34" charset="-120"/>
              </a:rPr>
              <a:t> · 38 /60</a:t>
            </a:r>
            <a:endParaRPr lang="en-US" sz="1400" dirty="0"/>
          </a:p>
        </p:txBody>
      </p:sp>
      <p:sp>
        <p:nvSpPr>
          <p:cNvPr id="39" name="Text 37"/>
          <p:cNvSpPr txBox="1"/>
          <p:nvPr/>
        </p:nvSpPr>
        <p:spPr>
          <a:xfrm>
            <a:off x="548640" y="3685032"/>
            <a:ext cx="1188720" cy="292608"/>
          </a:xfrm>
          <a:prstGeom prst="rect">
            <a:avLst/>
          </a:prstGeom>
          <a:noFill/>
          <a:ln/>
        </p:spPr>
        <p:txBody>
          <a:bodyPr wrap="square" lIns="0" tIns="0" rIns="0" bIns="0" rtlCol="0" anchor="ctr"/>
          <a:lstStyle/>
          <a:p>
            <a:pPr algn="l" indent="0" marL="0">
              <a:buNone/>
            </a:pPr>
            <a:r>
              <a:rPr lang="en-US" sz="1500" dirty="0">
                <a:solidFill>
                  <a:srgbClr val="F1F5F9"/>
                </a:solidFill>
                <a:latin typeface="Arial" pitchFamily="34" charset="0"/>
                <a:ea typeface="Arial" pitchFamily="34" charset="-122"/>
                <a:cs typeface="Arial" pitchFamily="34" charset="-120"/>
              </a:rPr>
              <a:t>KS4</a:t>
            </a:r>
            <a:endParaRPr lang="en-US" sz="1500" dirty="0"/>
          </a:p>
        </p:txBody>
      </p:sp>
      <p:sp>
        <p:nvSpPr>
          <p:cNvPr id="40" name="Shape 38"/>
          <p:cNvSpPr/>
          <p:nvPr/>
        </p:nvSpPr>
        <p:spPr>
          <a:xfrm>
            <a:off x="1828800" y="3831336"/>
            <a:ext cx="4023360" cy="0"/>
          </a:xfrm>
          <a:prstGeom prst="line">
            <a:avLst/>
          </a:prstGeom>
          <a:noFill/>
          <a:ln w="9525">
            <a:solidFill>
              <a:srgbClr val="22314A"/>
            </a:solidFill>
            <a:prstDash val="solid"/>
          </a:ln>
        </p:spPr>
      </p:sp>
      <p:sp>
        <p:nvSpPr>
          <p:cNvPr id="41" name="Shape 39"/>
          <p:cNvSpPr/>
          <p:nvPr/>
        </p:nvSpPr>
        <p:spPr>
          <a:xfrm>
            <a:off x="2834640" y="3831336"/>
            <a:ext cx="502920" cy="0"/>
          </a:xfrm>
          <a:prstGeom prst="line">
            <a:avLst/>
          </a:prstGeom>
          <a:noFill/>
          <a:ln w="38100">
            <a:solidFill>
              <a:srgbClr val="26354F"/>
            </a:solidFill>
            <a:prstDash val="solid"/>
          </a:ln>
        </p:spPr>
      </p:sp>
      <p:sp>
        <p:nvSpPr>
          <p:cNvPr id="42" name="Shape 40"/>
          <p:cNvSpPr/>
          <p:nvPr/>
        </p:nvSpPr>
        <p:spPr>
          <a:xfrm>
            <a:off x="2817876" y="3730752"/>
            <a:ext cx="201168" cy="201168"/>
          </a:xfrm>
          <a:prstGeom prst="ellipse">
            <a:avLst/>
          </a:prstGeom>
          <a:solidFill>
            <a:srgbClr val="A3AEC2"/>
          </a:solidFill>
          <a:ln w="9525">
            <a:solidFill>
              <a:srgbClr val="A3AEC2"/>
            </a:solidFill>
            <a:prstDash val="solid"/>
          </a:ln>
        </p:spPr>
      </p:sp>
      <p:sp>
        <p:nvSpPr>
          <p:cNvPr id="43" name="Shape 41"/>
          <p:cNvSpPr/>
          <p:nvPr/>
        </p:nvSpPr>
        <p:spPr>
          <a:xfrm>
            <a:off x="2734056" y="3730752"/>
            <a:ext cx="201168" cy="201168"/>
          </a:xfrm>
          <a:prstGeom prst="ellipse">
            <a:avLst/>
          </a:prstGeom>
          <a:solidFill>
            <a:srgbClr val="0B1220"/>
          </a:solidFill>
          <a:ln w="28575">
            <a:solidFill>
              <a:srgbClr val="7F8CA3"/>
            </a:solidFill>
            <a:prstDash val="solid"/>
          </a:ln>
        </p:spPr>
      </p:sp>
      <p:sp>
        <p:nvSpPr>
          <p:cNvPr id="44" name="Shape 42"/>
          <p:cNvSpPr/>
          <p:nvPr/>
        </p:nvSpPr>
        <p:spPr>
          <a:xfrm>
            <a:off x="3236976" y="3730752"/>
            <a:ext cx="201168" cy="201168"/>
          </a:xfrm>
          <a:prstGeom prst="ellipse">
            <a:avLst/>
          </a:prstGeom>
          <a:solidFill>
            <a:srgbClr val="38BDF8"/>
          </a:solidFill>
          <a:ln w="9525">
            <a:solidFill>
              <a:srgbClr val="38BDF8"/>
            </a:solidFill>
            <a:prstDash val="solid"/>
          </a:ln>
        </p:spPr>
      </p:sp>
      <p:sp>
        <p:nvSpPr>
          <p:cNvPr id="45" name="Text 43"/>
          <p:cNvSpPr txBox="1"/>
          <p:nvPr/>
        </p:nvSpPr>
        <p:spPr>
          <a:xfrm>
            <a:off x="5989320" y="3685032"/>
            <a:ext cx="1828800" cy="292608"/>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25 · </a:t>
            </a:r>
            <a:pPr algn="l" indent="0" marL="0">
              <a:buNone/>
            </a:pPr>
            <a:r>
              <a:rPr lang="en-US" sz="1400" dirty="0">
                <a:solidFill>
                  <a:srgbClr val="38BDF8"/>
                </a:solidFill>
                <a:latin typeface="Arial" pitchFamily="34" charset="0"/>
                <a:ea typeface="Arial" pitchFamily="34" charset="-122"/>
                <a:cs typeface="Arial" pitchFamily="34" charset="-120"/>
              </a:rPr>
              <a:t>30</a:t>
            </a:r>
            <a:pPr algn="l" indent="0" marL="0">
              <a:buNone/>
            </a:pPr>
            <a:r>
              <a:rPr lang="en-US" sz="1400" dirty="0">
                <a:solidFill>
                  <a:srgbClr val="F1F5F9"/>
                </a:solidFill>
                <a:latin typeface="Arial" pitchFamily="34" charset="0"/>
                <a:ea typeface="Arial" pitchFamily="34" charset="-122"/>
                <a:cs typeface="Arial" pitchFamily="34" charset="-120"/>
              </a:rPr>
              <a:t> · 24 /60</a:t>
            </a:r>
            <a:endParaRPr lang="en-US" sz="1400" dirty="0"/>
          </a:p>
        </p:txBody>
      </p:sp>
      <p:sp>
        <p:nvSpPr>
          <p:cNvPr id="46" name="Text 44"/>
          <p:cNvSpPr txBox="1"/>
          <p:nvPr/>
        </p:nvSpPr>
        <p:spPr>
          <a:xfrm>
            <a:off x="548640" y="4087368"/>
            <a:ext cx="1188720" cy="292608"/>
          </a:xfrm>
          <a:prstGeom prst="rect">
            <a:avLst/>
          </a:prstGeom>
          <a:noFill/>
          <a:ln/>
        </p:spPr>
        <p:txBody>
          <a:bodyPr wrap="square" lIns="0" tIns="0" rIns="0" bIns="0" rtlCol="0" anchor="ctr"/>
          <a:lstStyle/>
          <a:p>
            <a:pPr algn="l" indent="0" marL="0">
              <a:buNone/>
            </a:pPr>
            <a:r>
              <a:rPr lang="en-US" sz="1500" dirty="0">
                <a:solidFill>
                  <a:srgbClr val="F1F5F9"/>
                </a:solidFill>
                <a:latin typeface="Arial" pitchFamily="34" charset="0"/>
                <a:ea typeface="Arial" pitchFamily="34" charset="-122"/>
                <a:cs typeface="Arial" pitchFamily="34" charset="-120"/>
              </a:rPr>
              <a:t>LR1</a:t>
            </a:r>
            <a:endParaRPr lang="en-US" sz="1500" dirty="0"/>
          </a:p>
        </p:txBody>
      </p:sp>
      <p:sp>
        <p:nvSpPr>
          <p:cNvPr id="47" name="Shape 45"/>
          <p:cNvSpPr/>
          <p:nvPr/>
        </p:nvSpPr>
        <p:spPr>
          <a:xfrm>
            <a:off x="1828800" y="4233672"/>
            <a:ext cx="4023360" cy="0"/>
          </a:xfrm>
          <a:prstGeom prst="line">
            <a:avLst/>
          </a:prstGeom>
          <a:noFill/>
          <a:ln w="9525">
            <a:solidFill>
              <a:srgbClr val="22314A"/>
            </a:solidFill>
            <a:prstDash val="solid"/>
          </a:ln>
        </p:spPr>
      </p:sp>
      <p:sp>
        <p:nvSpPr>
          <p:cNvPr id="48" name="Shape 46"/>
          <p:cNvSpPr/>
          <p:nvPr/>
        </p:nvSpPr>
        <p:spPr>
          <a:xfrm>
            <a:off x="3840480" y="4233672"/>
            <a:ext cx="922020" cy="0"/>
          </a:xfrm>
          <a:prstGeom prst="line">
            <a:avLst/>
          </a:prstGeom>
          <a:noFill/>
          <a:ln w="38100">
            <a:solidFill>
              <a:srgbClr val="26354F"/>
            </a:solidFill>
            <a:prstDash val="solid"/>
          </a:ln>
        </p:spPr>
      </p:sp>
      <p:sp>
        <p:nvSpPr>
          <p:cNvPr id="49" name="Shape 47"/>
          <p:cNvSpPr/>
          <p:nvPr/>
        </p:nvSpPr>
        <p:spPr>
          <a:xfrm>
            <a:off x="3739896" y="4133088"/>
            <a:ext cx="201168" cy="201168"/>
          </a:xfrm>
          <a:prstGeom prst="ellipse">
            <a:avLst/>
          </a:prstGeom>
          <a:solidFill>
            <a:srgbClr val="A3AEC2"/>
          </a:solidFill>
          <a:ln w="9525">
            <a:solidFill>
              <a:srgbClr val="A3AEC2"/>
            </a:solidFill>
            <a:prstDash val="solid"/>
          </a:ln>
        </p:spPr>
      </p:sp>
      <p:sp>
        <p:nvSpPr>
          <p:cNvPr id="50" name="Shape 48"/>
          <p:cNvSpPr/>
          <p:nvPr/>
        </p:nvSpPr>
        <p:spPr>
          <a:xfrm>
            <a:off x="4661916" y="4133088"/>
            <a:ext cx="201168" cy="201168"/>
          </a:xfrm>
          <a:prstGeom prst="ellipse">
            <a:avLst/>
          </a:prstGeom>
          <a:solidFill>
            <a:srgbClr val="0B1220"/>
          </a:solidFill>
          <a:ln w="28575">
            <a:solidFill>
              <a:srgbClr val="7F8CA3"/>
            </a:solidFill>
            <a:prstDash val="solid"/>
          </a:ln>
        </p:spPr>
      </p:sp>
      <p:sp>
        <p:nvSpPr>
          <p:cNvPr id="51" name="Shape 49"/>
          <p:cNvSpPr/>
          <p:nvPr/>
        </p:nvSpPr>
        <p:spPr>
          <a:xfrm>
            <a:off x="4410456" y="4133088"/>
            <a:ext cx="201168" cy="201168"/>
          </a:xfrm>
          <a:prstGeom prst="ellipse">
            <a:avLst/>
          </a:prstGeom>
          <a:solidFill>
            <a:srgbClr val="38BDF8"/>
          </a:solidFill>
          <a:ln w="9525">
            <a:solidFill>
              <a:srgbClr val="38BDF8"/>
            </a:solidFill>
            <a:prstDash val="solid"/>
          </a:ln>
        </p:spPr>
      </p:sp>
      <p:sp>
        <p:nvSpPr>
          <p:cNvPr id="52" name="Text 50"/>
          <p:cNvSpPr txBox="1"/>
          <p:nvPr/>
        </p:nvSpPr>
        <p:spPr>
          <a:xfrm>
            <a:off x="5989320" y="4087368"/>
            <a:ext cx="1828800" cy="292608"/>
          </a:xfrm>
          <a:prstGeom prst="rect">
            <a:avLst/>
          </a:prstGeom>
          <a:noFill/>
          <a:ln/>
        </p:spPr>
        <p:txBody>
          <a:bodyPr wrap="square" lIns="0" tIns="0" rIns="0" bIns="0" rtlCol="0" anchor="ctr"/>
          <a:lstStyle/>
          <a:p>
            <a:pPr algn="l" indent="0" marL="0">
              <a:buNone/>
            </a:pPr>
            <a:r>
              <a:rPr lang="en-US" sz="1400" dirty="0">
                <a:solidFill>
                  <a:srgbClr val="F1F5F9"/>
                </a:solidFill>
                <a:latin typeface="Arial" pitchFamily="34" charset="0"/>
                <a:ea typeface="Arial" pitchFamily="34" charset="-122"/>
                <a:cs typeface="Arial" pitchFamily="34" charset="-120"/>
              </a:rPr>
              <a:t>36 · </a:t>
            </a:r>
            <a:pPr algn="l" indent="0" marL="0">
              <a:buNone/>
            </a:pPr>
            <a:r>
              <a:rPr lang="en-US" sz="1400" dirty="0">
                <a:solidFill>
                  <a:srgbClr val="38BDF8"/>
                </a:solidFill>
                <a:latin typeface="Arial" pitchFamily="34" charset="0"/>
                <a:ea typeface="Arial" pitchFamily="34" charset="-122"/>
                <a:cs typeface="Arial" pitchFamily="34" charset="-120"/>
              </a:rPr>
              <a:t>44</a:t>
            </a:r>
            <a:pPr algn="l" indent="0" marL="0">
              <a:buNone/>
            </a:pPr>
            <a:r>
              <a:rPr lang="en-US" sz="1400" dirty="0">
                <a:solidFill>
                  <a:srgbClr val="F1F5F9"/>
                </a:solidFill>
                <a:latin typeface="Arial" pitchFamily="34" charset="0"/>
                <a:ea typeface="Arial" pitchFamily="34" charset="-122"/>
                <a:cs typeface="Arial" pitchFamily="34" charset="-120"/>
              </a:rPr>
              <a:t> · 47 /60</a:t>
            </a:r>
            <a:endParaRPr lang="en-US" sz="1400" dirty="0"/>
          </a:p>
        </p:txBody>
      </p:sp>
      <p:sp>
        <p:nvSpPr>
          <p:cNvPr id="53" name="Text 51"/>
          <p:cNvSpPr txBox="1"/>
          <p:nvPr/>
        </p:nvSpPr>
        <p:spPr>
          <a:xfrm>
            <a:off x="548640" y="4489704"/>
            <a:ext cx="1188720" cy="292608"/>
          </a:xfrm>
          <a:prstGeom prst="rect">
            <a:avLst/>
          </a:prstGeom>
          <a:noFill/>
          <a:ln/>
        </p:spPr>
        <p:txBody>
          <a:bodyPr wrap="square" lIns="0" tIns="0" rIns="0" bIns="0" rtlCol="0" anchor="ctr"/>
          <a:lstStyle/>
          <a:p>
            <a:pPr algn="l" indent="0" marL="0">
              <a:buNone/>
            </a:pPr>
            <a:r>
              <a:rPr lang="en-US" sz="1500" b="1" dirty="0">
                <a:solidFill>
                  <a:srgbClr val="F1F5F9"/>
                </a:solidFill>
                <a:latin typeface="Arial" pitchFamily="34" charset="0"/>
                <a:ea typeface="Arial" pitchFamily="34" charset="-122"/>
                <a:cs typeface="Arial" pitchFamily="34" charset="-120"/>
              </a:rPr>
              <a:t>Pooled</a:t>
            </a:r>
            <a:endParaRPr lang="en-US" sz="1500" dirty="0"/>
          </a:p>
        </p:txBody>
      </p:sp>
      <p:sp>
        <p:nvSpPr>
          <p:cNvPr id="54" name="Shape 52"/>
          <p:cNvSpPr/>
          <p:nvPr/>
        </p:nvSpPr>
        <p:spPr>
          <a:xfrm>
            <a:off x="1828800" y="4636008"/>
            <a:ext cx="4023360" cy="0"/>
          </a:xfrm>
          <a:prstGeom prst="line">
            <a:avLst/>
          </a:prstGeom>
          <a:noFill/>
          <a:ln w="9525">
            <a:solidFill>
              <a:srgbClr val="22314A"/>
            </a:solidFill>
            <a:prstDash val="solid"/>
          </a:ln>
        </p:spPr>
      </p:sp>
      <p:sp>
        <p:nvSpPr>
          <p:cNvPr id="55" name="Shape 53"/>
          <p:cNvSpPr/>
          <p:nvPr/>
        </p:nvSpPr>
        <p:spPr>
          <a:xfrm>
            <a:off x="3393440" y="4636008"/>
            <a:ext cx="474980" cy="0"/>
          </a:xfrm>
          <a:prstGeom prst="line">
            <a:avLst/>
          </a:prstGeom>
          <a:noFill/>
          <a:ln w="38100">
            <a:solidFill>
              <a:srgbClr val="26354F"/>
            </a:solidFill>
            <a:prstDash val="solid"/>
          </a:ln>
        </p:spPr>
      </p:sp>
      <p:sp>
        <p:nvSpPr>
          <p:cNvPr id="56" name="Shape 54"/>
          <p:cNvSpPr/>
          <p:nvPr/>
        </p:nvSpPr>
        <p:spPr>
          <a:xfrm>
            <a:off x="3292856" y="4535424"/>
            <a:ext cx="201168" cy="201168"/>
          </a:xfrm>
          <a:prstGeom prst="ellipse">
            <a:avLst/>
          </a:prstGeom>
          <a:solidFill>
            <a:srgbClr val="A3AEC2"/>
          </a:solidFill>
          <a:ln w="9525">
            <a:solidFill>
              <a:srgbClr val="A3AEC2"/>
            </a:solidFill>
            <a:prstDash val="solid"/>
          </a:ln>
        </p:spPr>
      </p:sp>
      <p:sp>
        <p:nvSpPr>
          <p:cNvPr id="57" name="Shape 55"/>
          <p:cNvSpPr/>
          <p:nvPr/>
        </p:nvSpPr>
        <p:spPr>
          <a:xfrm>
            <a:off x="3767836" y="4535424"/>
            <a:ext cx="201168" cy="201168"/>
          </a:xfrm>
          <a:prstGeom prst="ellipse">
            <a:avLst/>
          </a:prstGeom>
          <a:solidFill>
            <a:srgbClr val="0B1220"/>
          </a:solidFill>
          <a:ln w="28575">
            <a:solidFill>
              <a:srgbClr val="7F8CA3"/>
            </a:solidFill>
            <a:prstDash val="solid"/>
          </a:ln>
        </p:spPr>
      </p:sp>
      <p:sp>
        <p:nvSpPr>
          <p:cNvPr id="58" name="Shape 56"/>
          <p:cNvSpPr/>
          <p:nvPr/>
        </p:nvSpPr>
        <p:spPr>
          <a:xfrm>
            <a:off x="3767836" y="4535424"/>
            <a:ext cx="201168" cy="201168"/>
          </a:xfrm>
          <a:prstGeom prst="ellipse">
            <a:avLst/>
          </a:prstGeom>
          <a:solidFill>
            <a:srgbClr val="38BDF8"/>
          </a:solidFill>
          <a:ln w="9525">
            <a:solidFill>
              <a:srgbClr val="38BDF8"/>
            </a:solidFill>
            <a:prstDash val="solid"/>
          </a:ln>
        </p:spPr>
      </p:sp>
      <p:sp>
        <p:nvSpPr>
          <p:cNvPr id="59" name="Text 57"/>
          <p:cNvSpPr txBox="1"/>
          <p:nvPr/>
        </p:nvSpPr>
        <p:spPr>
          <a:xfrm>
            <a:off x="5989320" y="4489704"/>
            <a:ext cx="1828800" cy="292608"/>
          </a:xfrm>
          <a:prstGeom prst="rect">
            <a:avLst/>
          </a:prstGeom>
          <a:noFill/>
          <a:ln/>
        </p:spPr>
        <p:txBody>
          <a:bodyPr wrap="square" lIns="0" tIns="0" rIns="0" bIns="0" rtlCol="0" anchor="ctr"/>
          <a:lstStyle/>
          <a:p>
            <a:pPr algn="l" indent="0" marL="0">
              <a:buNone/>
            </a:pPr>
            <a:r>
              <a:rPr lang="en-US" sz="1400" b="1" dirty="0">
                <a:solidFill>
                  <a:srgbClr val="F1F5F9"/>
                </a:solidFill>
                <a:latin typeface="Arial" pitchFamily="34" charset="0"/>
                <a:ea typeface="Arial" pitchFamily="34" charset="-122"/>
                <a:cs typeface="Arial" pitchFamily="34" charset="-120"/>
              </a:rPr>
              <a:t>92 · </a:t>
            </a:r>
            <a:pPr algn="l" indent="0" marL="0">
              <a:buNone/>
            </a:pPr>
            <a:r>
              <a:rPr lang="en-US" sz="1400" b="1" dirty="0">
                <a:solidFill>
                  <a:srgbClr val="38BDF8"/>
                </a:solidFill>
                <a:latin typeface="Arial" pitchFamily="34" charset="0"/>
                <a:ea typeface="Arial" pitchFamily="34" charset="-122"/>
                <a:cs typeface="Arial" pitchFamily="34" charset="-120"/>
              </a:rPr>
              <a:t>109</a:t>
            </a:r>
            <a:pPr algn="l" indent="0" marL="0">
              <a:buNone/>
            </a:pPr>
            <a:r>
              <a:rPr lang="en-US" sz="1400" b="1" dirty="0">
                <a:solidFill>
                  <a:srgbClr val="F1F5F9"/>
                </a:solidFill>
                <a:latin typeface="Arial" pitchFamily="34" charset="0"/>
                <a:ea typeface="Arial" pitchFamily="34" charset="-122"/>
                <a:cs typeface="Arial" pitchFamily="34" charset="-120"/>
              </a:rPr>
              <a:t> · 109 /180</a:t>
            </a:r>
            <a:endParaRPr lang="en-US" sz="1400" dirty="0"/>
          </a:p>
        </p:txBody>
      </p:sp>
      <p:sp>
        <p:nvSpPr>
          <p:cNvPr id="60" name="Shape 58"/>
          <p:cNvSpPr/>
          <p:nvPr/>
        </p:nvSpPr>
        <p:spPr>
          <a:xfrm>
            <a:off x="1828800" y="4892040"/>
            <a:ext cx="0" cy="54864"/>
          </a:xfrm>
          <a:prstGeom prst="line">
            <a:avLst/>
          </a:prstGeom>
          <a:noFill/>
          <a:ln w="9525">
            <a:solidFill>
              <a:srgbClr val="6B7A93"/>
            </a:solidFill>
            <a:prstDash val="solid"/>
          </a:ln>
        </p:spPr>
      </p:sp>
      <p:sp>
        <p:nvSpPr>
          <p:cNvPr id="61" name="Text 59"/>
          <p:cNvSpPr txBox="1"/>
          <p:nvPr/>
        </p:nvSpPr>
        <p:spPr>
          <a:xfrm>
            <a:off x="1554480" y="4965192"/>
            <a:ext cx="548640" cy="219456"/>
          </a:xfrm>
          <a:prstGeom prst="rect">
            <a:avLst/>
          </a:prstGeom>
          <a:noFill/>
          <a:ln/>
        </p:spPr>
        <p:txBody>
          <a:bodyPr wrap="square" lIns="0" tIns="0" rIns="0" bIns="0" rtlCol="0" anchor="t"/>
          <a:lstStyle/>
          <a:p>
            <a:pPr algn="ctr" indent="0" marL="0">
              <a:buNone/>
            </a:pPr>
            <a:r>
              <a:rPr lang="en-US" sz="1200" dirty="0">
                <a:solidFill>
                  <a:srgbClr val="6B7A93"/>
                </a:solidFill>
                <a:latin typeface="Arial" pitchFamily="34" charset="0"/>
                <a:ea typeface="Arial" pitchFamily="34" charset="-122"/>
                <a:cs typeface="Arial" pitchFamily="34" charset="-120"/>
              </a:rPr>
              <a:t>0.2</a:t>
            </a:r>
            <a:endParaRPr lang="en-US" sz="1200" dirty="0"/>
          </a:p>
        </p:txBody>
      </p:sp>
      <p:sp>
        <p:nvSpPr>
          <p:cNvPr id="62" name="Shape 60"/>
          <p:cNvSpPr/>
          <p:nvPr/>
        </p:nvSpPr>
        <p:spPr>
          <a:xfrm>
            <a:off x="2834640" y="4892040"/>
            <a:ext cx="0" cy="54864"/>
          </a:xfrm>
          <a:prstGeom prst="line">
            <a:avLst/>
          </a:prstGeom>
          <a:noFill/>
          <a:ln w="9525">
            <a:solidFill>
              <a:srgbClr val="6B7A93"/>
            </a:solidFill>
            <a:prstDash val="solid"/>
          </a:ln>
        </p:spPr>
      </p:sp>
      <p:sp>
        <p:nvSpPr>
          <p:cNvPr id="63" name="Text 61"/>
          <p:cNvSpPr txBox="1"/>
          <p:nvPr/>
        </p:nvSpPr>
        <p:spPr>
          <a:xfrm>
            <a:off x="2560320" y="4965192"/>
            <a:ext cx="548640" cy="219456"/>
          </a:xfrm>
          <a:prstGeom prst="rect">
            <a:avLst/>
          </a:prstGeom>
          <a:noFill/>
          <a:ln/>
        </p:spPr>
        <p:txBody>
          <a:bodyPr wrap="square" lIns="0" tIns="0" rIns="0" bIns="0" rtlCol="0" anchor="t"/>
          <a:lstStyle/>
          <a:p>
            <a:pPr algn="ctr" indent="0" marL="0">
              <a:buNone/>
            </a:pPr>
            <a:r>
              <a:rPr lang="en-US" sz="1200" dirty="0">
                <a:solidFill>
                  <a:srgbClr val="6B7A93"/>
                </a:solidFill>
                <a:latin typeface="Arial" pitchFamily="34" charset="0"/>
                <a:ea typeface="Arial" pitchFamily="34" charset="-122"/>
                <a:cs typeface="Arial" pitchFamily="34" charset="-120"/>
              </a:rPr>
              <a:t>0.4</a:t>
            </a:r>
            <a:endParaRPr lang="en-US" sz="1200" dirty="0"/>
          </a:p>
        </p:txBody>
      </p:sp>
      <p:sp>
        <p:nvSpPr>
          <p:cNvPr id="64" name="Shape 62"/>
          <p:cNvSpPr/>
          <p:nvPr/>
        </p:nvSpPr>
        <p:spPr>
          <a:xfrm>
            <a:off x="3840480" y="4892040"/>
            <a:ext cx="0" cy="54864"/>
          </a:xfrm>
          <a:prstGeom prst="line">
            <a:avLst/>
          </a:prstGeom>
          <a:noFill/>
          <a:ln w="9525">
            <a:solidFill>
              <a:srgbClr val="6B7A93"/>
            </a:solidFill>
            <a:prstDash val="solid"/>
          </a:ln>
        </p:spPr>
      </p:sp>
      <p:sp>
        <p:nvSpPr>
          <p:cNvPr id="65" name="Text 63"/>
          <p:cNvSpPr txBox="1"/>
          <p:nvPr/>
        </p:nvSpPr>
        <p:spPr>
          <a:xfrm>
            <a:off x="3566160" y="4965192"/>
            <a:ext cx="548640" cy="219456"/>
          </a:xfrm>
          <a:prstGeom prst="rect">
            <a:avLst/>
          </a:prstGeom>
          <a:noFill/>
          <a:ln/>
        </p:spPr>
        <p:txBody>
          <a:bodyPr wrap="square" lIns="0" tIns="0" rIns="0" bIns="0" rtlCol="0" anchor="t"/>
          <a:lstStyle/>
          <a:p>
            <a:pPr algn="ctr" indent="0" marL="0">
              <a:buNone/>
            </a:pPr>
            <a:r>
              <a:rPr lang="en-US" sz="1200" dirty="0">
                <a:solidFill>
                  <a:srgbClr val="6B7A93"/>
                </a:solidFill>
                <a:latin typeface="Arial" pitchFamily="34" charset="0"/>
                <a:ea typeface="Arial" pitchFamily="34" charset="-122"/>
                <a:cs typeface="Arial" pitchFamily="34" charset="-120"/>
              </a:rPr>
              <a:t>0.6</a:t>
            </a:r>
            <a:endParaRPr lang="en-US" sz="1200" dirty="0"/>
          </a:p>
        </p:txBody>
      </p:sp>
      <p:sp>
        <p:nvSpPr>
          <p:cNvPr id="66" name="Shape 64"/>
          <p:cNvSpPr/>
          <p:nvPr/>
        </p:nvSpPr>
        <p:spPr>
          <a:xfrm>
            <a:off x="4846320" y="4892040"/>
            <a:ext cx="0" cy="54864"/>
          </a:xfrm>
          <a:prstGeom prst="line">
            <a:avLst/>
          </a:prstGeom>
          <a:noFill/>
          <a:ln w="9525">
            <a:solidFill>
              <a:srgbClr val="6B7A93"/>
            </a:solidFill>
            <a:prstDash val="solid"/>
          </a:ln>
        </p:spPr>
      </p:sp>
      <p:sp>
        <p:nvSpPr>
          <p:cNvPr id="67" name="Text 65"/>
          <p:cNvSpPr txBox="1"/>
          <p:nvPr/>
        </p:nvSpPr>
        <p:spPr>
          <a:xfrm>
            <a:off x="4572000" y="4965192"/>
            <a:ext cx="548640" cy="219456"/>
          </a:xfrm>
          <a:prstGeom prst="rect">
            <a:avLst/>
          </a:prstGeom>
          <a:noFill/>
          <a:ln/>
        </p:spPr>
        <p:txBody>
          <a:bodyPr wrap="square" lIns="0" tIns="0" rIns="0" bIns="0" rtlCol="0" anchor="t"/>
          <a:lstStyle/>
          <a:p>
            <a:pPr algn="ctr" indent="0" marL="0">
              <a:buNone/>
            </a:pPr>
            <a:r>
              <a:rPr lang="en-US" sz="1200" dirty="0">
                <a:solidFill>
                  <a:srgbClr val="6B7A93"/>
                </a:solidFill>
                <a:latin typeface="Arial" pitchFamily="34" charset="0"/>
                <a:ea typeface="Arial" pitchFamily="34" charset="-122"/>
                <a:cs typeface="Arial" pitchFamily="34" charset="-120"/>
              </a:rPr>
              <a:t>0.8</a:t>
            </a:r>
            <a:endParaRPr lang="en-US" sz="1200" dirty="0"/>
          </a:p>
        </p:txBody>
      </p:sp>
      <p:sp>
        <p:nvSpPr>
          <p:cNvPr id="68" name="Shape 66"/>
          <p:cNvSpPr/>
          <p:nvPr/>
        </p:nvSpPr>
        <p:spPr>
          <a:xfrm>
            <a:off x="5852160" y="4892040"/>
            <a:ext cx="0" cy="54864"/>
          </a:xfrm>
          <a:prstGeom prst="line">
            <a:avLst/>
          </a:prstGeom>
          <a:noFill/>
          <a:ln w="9525">
            <a:solidFill>
              <a:srgbClr val="6B7A93"/>
            </a:solidFill>
            <a:prstDash val="solid"/>
          </a:ln>
        </p:spPr>
      </p:sp>
      <p:sp>
        <p:nvSpPr>
          <p:cNvPr id="69" name="Text 67"/>
          <p:cNvSpPr txBox="1"/>
          <p:nvPr/>
        </p:nvSpPr>
        <p:spPr>
          <a:xfrm>
            <a:off x="5577840" y="4965192"/>
            <a:ext cx="548640" cy="219456"/>
          </a:xfrm>
          <a:prstGeom prst="rect">
            <a:avLst/>
          </a:prstGeom>
          <a:noFill/>
          <a:ln/>
        </p:spPr>
        <p:txBody>
          <a:bodyPr wrap="square" lIns="0" tIns="0" rIns="0" bIns="0" rtlCol="0" anchor="t"/>
          <a:lstStyle/>
          <a:p>
            <a:pPr algn="ctr" indent="0" marL="0">
              <a:buNone/>
            </a:pPr>
            <a:r>
              <a:rPr lang="en-US" sz="1200" dirty="0">
                <a:solidFill>
                  <a:srgbClr val="6B7A93"/>
                </a:solidFill>
                <a:latin typeface="Arial" pitchFamily="34" charset="0"/>
                <a:ea typeface="Arial" pitchFamily="34" charset="-122"/>
                <a:cs typeface="Arial" pitchFamily="34" charset="-120"/>
              </a:rPr>
              <a:t>1.0</a:t>
            </a:r>
            <a:endParaRPr lang="en-US" sz="1200" dirty="0"/>
          </a:p>
        </p:txBody>
      </p:sp>
      <p:sp>
        <p:nvSpPr>
          <p:cNvPr id="70" name="Text 68"/>
          <p:cNvSpPr txBox="1"/>
          <p:nvPr/>
        </p:nvSpPr>
        <p:spPr>
          <a:xfrm>
            <a:off x="1828800" y="5184648"/>
            <a:ext cx="4023360" cy="237744"/>
          </a:xfrm>
          <a:prstGeom prst="rect">
            <a:avLst/>
          </a:prstGeom>
          <a:noFill/>
          <a:ln/>
        </p:spPr>
        <p:txBody>
          <a:bodyPr wrap="square" lIns="0" tIns="0" rIns="0" bIns="0" rtlCol="0" anchor="t"/>
          <a:lstStyle/>
          <a:p>
            <a:pPr algn="ctr" indent="0" marL="0">
              <a:buNone/>
            </a:pPr>
            <a:r>
              <a:rPr lang="en-US" sz="1200" dirty="0">
                <a:solidFill>
                  <a:srgbClr val="6B7A93"/>
                </a:solidFill>
                <a:latin typeface="Arial" pitchFamily="34" charset="0"/>
                <a:ea typeface="Arial" pitchFamily="34" charset="-122"/>
                <a:cs typeface="Arial" pitchFamily="34" charset="-120"/>
              </a:rPr>
              <a:t>success rate (pooled over repeats)</a:t>
            </a:r>
            <a:endParaRPr lang="en-US" sz="1200" dirty="0"/>
          </a:p>
        </p:txBody>
      </p:sp>
      <p:sp>
        <p:nvSpPr>
          <p:cNvPr id="71" name="Shape 69"/>
          <p:cNvSpPr/>
          <p:nvPr/>
        </p:nvSpPr>
        <p:spPr>
          <a:xfrm>
            <a:off x="553212" y="5628132"/>
            <a:ext cx="155448" cy="155448"/>
          </a:xfrm>
          <a:prstGeom prst="ellipse">
            <a:avLst/>
          </a:prstGeom>
          <a:solidFill>
            <a:srgbClr val="A3AEC2"/>
          </a:solidFill>
          <a:ln w="9525">
            <a:solidFill>
              <a:srgbClr val="A3AEC2"/>
            </a:solidFill>
            <a:prstDash val="solid"/>
          </a:ln>
        </p:spPr>
      </p:sp>
      <p:sp>
        <p:nvSpPr>
          <p:cNvPr id="72" name="Text 70"/>
          <p:cNvSpPr txBox="1"/>
          <p:nvPr/>
        </p:nvSpPr>
        <p:spPr>
          <a:xfrm>
            <a:off x="804672" y="557784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Baseline</a:t>
            </a:r>
            <a:endParaRPr lang="en-US" sz="1300" dirty="0"/>
          </a:p>
        </p:txBody>
      </p:sp>
      <p:sp>
        <p:nvSpPr>
          <p:cNvPr id="73" name="Shape 71"/>
          <p:cNvSpPr/>
          <p:nvPr/>
        </p:nvSpPr>
        <p:spPr>
          <a:xfrm>
            <a:off x="1787652" y="5628132"/>
            <a:ext cx="155448" cy="155448"/>
          </a:xfrm>
          <a:prstGeom prst="ellipse">
            <a:avLst/>
          </a:prstGeom>
          <a:solidFill>
            <a:srgbClr val="38BDF8"/>
          </a:solidFill>
          <a:ln w="9525">
            <a:solidFill>
              <a:srgbClr val="38BDF8"/>
            </a:solidFill>
            <a:prstDash val="solid"/>
          </a:ln>
        </p:spPr>
      </p:sp>
      <p:sp>
        <p:nvSpPr>
          <p:cNvPr id="74" name="Text 72"/>
          <p:cNvSpPr txBox="1"/>
          <p:nvPr/>
        </p:nvSpPr>
        <p:spPr>
          <a:xfrm>
            <a:off x="2039112" y="557784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Paper Global</a:t>
            </a:r>
            <a:endParaRPr lang="en-US" sz="1300" dirty="0"/>
          </a:p>
        </p:txBody>
      </p:sp>
      <p:sp>
        <p:nvSpPr>
          <p:cNvPr id="75" name="Shape 73"/>
          <p:cNvSpPr/>
          <p:nvPr/>
        </p:nvSpPr>
        <p:spPr>
          <a:xfrm>
            <a:off x="3296412" y="5628132"/>
            <a:ext cx="155448" cy="155448"/>
          </a:xfrm>
          <a:prstGeom prst="ellipse">
            <a:avLst/>
          </a:prstGeom>
          <a:solidFill>
            <a:srgbClr val="0B1220"/>
          </a:solidFill>
          <a:ln w="25400">
            <a:solidFill>
              <a:srgbClr val="7F8CA3"/>
            </a:solidFill>
            <a:prstDash val="solid"/>
          </a:ln>
        </p:spPr>
      </p:sp>
      <p:sp>
        <p:nvSpPr>
          <p:cNvPr id="76" name="Text 74"/>
          <p:cNvSpPr txBox="1"/>
          <p:nvPr/>
        </p:nvSpPr>
        <p:spPr>
          <a:xfrm>
            <a:off x="3547872" y="5577840"/>
            <a:ext cx="310896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Random control</a:t>
            </a:r>
            <a:endParaRPr lang="en-US" sz="1300" dirty="0"/>
          </a:p>
        </p:txBody>
      </p:sp>
      <p:sp>
        <p:nvSpPr>
          <p:cNvPr id="77" name="Shape 75"/>
          <p:cNvSpPr/>
          <p:nvPr/>
        </p:nvSpPr>
        <p:spPr>
          <a:xfrm>
            <a:off x="4983480" y="5596128"/>
            <a:ext cx="0" cy="237744"/>
          </a:xfrm>
          <a:prstGeom prst="line">
            <a:avLst/>
          </a:prstGeom>
          <a:noFill/>
          <a:ln w="38100">
            <a:solidFill>
              <a:srgbClr val="F59E0B"/>
            </a:solidFill>
            <a:prstDash val="solid"/>
          </a:ln>
        </p:spPr>
      </p:sp>
      <p:sp>
        <p:nvSpPr>
          <p:cNvPr id="78" name="Text 76"/>
          <p:cNvSpPr txBox="1"/>
          <p:nvPr/>
        </p:nvSpPr>
        <p:spPr>
          <a:xfrm>
            <a:off x="5093208" y="5577840"/>
            <a:ext cx="2011680" cy="256032"/>
          </a:xfrm>
          <a:prstGeom prst="rect">
            <a:avLst/>
          </a:prstGeom>
          <a:noFill/>
          <a:ln/>
        </p:spPr>
        <p:txBody>
          <a:bodyPr wrap="square" lIns="0" tIns="0" rIns="0" bIns="0" rtlCol="0" anchor="ctr"/>
          <a:lstStyle/>
          <a:p>
            <a:pPr algn="l" indent="0" marL="0">
              <a:buNone/>
            </a:pPr>
            <a:r>
              <a:rPr lang="en-US" sz="1300" dirty="0">
                <a:solidFill>
                  <a:srgbClr val="A7B4C8"/>
                </a:solidFill>
                <a:latin typeface="Arial" pitchFamily="34" charset="0"/>
                <a:ea typeface="Arial" pitchFamily="34" charset="-122"/>
                <a:cs typeface="Arial" pitchFamily="34" charset="-120"/>
              </a:rPr>
              <a:t>Paper Global (as /15)</a:t>
            </a:r>
            <a:endParaRPr lang="en-US" sz="1300" dirty="0"/>
          </a:p>
        </p:txBody>
      </p:sp>
      <p:sp>
        <p:nvSpPr>
          <p:cNvPr id="79" name="Text 77"/>
          <p:cNvSpPr txBox="1"/>
          <p:nvPr/>
        </p:nvSpPr>
        <p:spPr>
          <a:xfrm>
            <a:off x="8092440" y="1234440"/>
            <a:ext cx="3550615" cy="292608"/>
          </a:xfrm>
          <a:prstGeom prst="rect">
            <a:avLst/>
          </a:prstGeom>
          <a:noFill/>
          <a:ln/>
        </p:spPr>
        <p:txBody>
          <a:bodyPr wrap="square" lIns="0" tIns="0" rIns="0" bIns="0" rtlCol="0" anchor="t"/>
          <a:lstStyle/>
          <a:p>
            <a:pPr algn="l" indent="0" marL="0">
              <a:buNone/>
            </a:pPr>
            <a:r>
              <a:rPr lang="en-US" sz="1500" b="1" dirty="0">
                <a:solidFill>
                  <a:srgbClr val="F1F5F9"/>
                </a:solidFill>
                <a:latin typeface="Cambria Math" pitchFamily="34" charset="0"/>
                <a:ea typeface="Cambria Math" pitchFamily="34" charset="-122"/>
                <a:cs typeface="Cambria Math" pitchFamily="34" charset="-120"/>
              </a:rPr>
              <a:t>PGG = G</a:t>
            </a:r>
            <a:pPr algn="l" indent="0" marL="0">
              <a:buNone/>
            </a:pPr>
            <a:r>
              <a:rPr lang="en-US" sz="1500" b="1" baseline="-40000" dirty="0">
                <a:solidFill>
                  <a:srgbClr val="F1F5F9"/>
                </a:solidFill>
                <a:latin typeface="Cambria Math" pitchFamily="34" charset="0"/>
                <a:ea typeface="Cambria Math" pitchFamily="34" charset="-122"/>
                <a:cs typeface="Cambria Math" pitchFamily="34" charset="-120"/>
              </a:rPr>
              <a:t>H</a:t>
            </a:r>
            <a:pPr algn="l" indent="0" marL="0">
              <a:buNone/>
            </a:pPr>
            <a:r>
              <a:rPr lang="en-US" sz="1500" b="1" dirty="0">
                <a:solidFill>
                  <a:srgbClr val="F1F5F9"/>
                </a:solidFill>
                <a:latin typeface="Cambria Math" pitchFamily="34" charset="0"/>
                <a:ea typeface="Cambria Math" pitchFamily="34" charset="-122"/>
                <a:cs typeface="Cambria Math" pitchFamily="34" charset="-120"/>
              </a:rPr>
              <a:t> − G</a:t>
            </a:r>
            <a:pPr algn="l" indent="0" marL="0">
              <a:buNone/>
            </a:pPr>
            <a:r>
              <a:rPr lang="en-US" sz="1500" b="1" baseline="-40000" dirty="0">
                <a:solidFill>
                  <a:srgbClr val="F1F5F9"/>
                </a:solidFill>
                <a:latin typeface="Cambria Math" pitchFamily="34" charset="0"/>
                <a:ea typeface="Cambria Math" pitchFamily="34" charset="-122"/>
                <a:cs typeface="Cambria Math" pitchFamily="34" charset="-120"/>
              </a:rPr>
              <a:t>T</a:t>
            </a:r>
            <a:endParaRPr lang="en-US" sz="1500" dirty="0"/>
          </a:p>
        </p:txBody>
      </p:sp>
      <p:sp>
        <p:nvSpPr>
          <p:cNvPr id="80" name="Shape 78"/>
          <p:cNvSpPr/>
          <p:nvPr/>
        </p:nvSpPr>
        <p:spPr>
          <a:xfrm>
            <a:off x="9867748" y="1645920"/>
            <a:ext cx="0" cy="1325880"/>
          </a:xfrm>
          <a:prstGeom prst="line">
            <a:avLst/>
          </a:prstGeom>
          <a:noFill/>
          <a:ln w="12700">
            <a:solidFill>
              <a:srgbClr val="6B7A93"/>
            </a:solidFill>
            <a:prstDash val="solid"/>
          </a:ln>
        </p:spPr>
      </p:sp>
      <p:sp>
        <p:nvSpPr>
          <p:cNvPr id="81" name="Shape 79"/>
          <p:cNvSpPr/>
          <p:nvPr/>
        </p:nvSpPr>
        <p:spPr>
          <a:xfrm>
            <a:off x="9867748" y="1691640"/>
            <a:ext cx="242302" cy="292608"/>
          </a:xfrm>
          <a:prstGeom prst="rect">
            <a:avLst/>
          </a:prstGeom>
          <a:solidFill>
            <a:srgbClr val="38BDF8"/>
          </a:solidFill>
          <a:ln/>
        </p:spPr>
      </p:sp>
      <p:sp>
        <p:nvSpPr>
          <p:cNvPr id="82" name="Text 80"/>
          <p:cNvSpPr txBox="1"/>
          <p:nvPr/>
        </p:nvSpPr>
        <p:spPr>
          <a:xfrm>
            <a:off x="8267548" y="1691640"/>
            <a:ext cx="1508760" cy="292608"/>
          </a:xfrm>
          <a:prstGeom prst="rect">
            <a:avLst/>
          </a:prstGeom>
          <a:noFill/>
          <a:ln/>
        </p:spPr>
        <p:txBody>
          <a:bodyPr wrap="square" lIns="0" tIns="0" rIns="0" bIns="0" rtlCol="0" anchor="ctr"/>
          <a:lstStyle/>
          <a:p>
            <a:pPr algn="r" indent="0" marL="0">
              <a:buNone/>
            </a:pPr>
            <a:r>
              <a:rPr lang="en-US" sz="1300" dirty="0">
                <a:solidFill>
                  <a:srgbClr val="F1F5F9"/>
                </a:solidFill>
                <a:latin typeface="Arial" pitchFamily="34" charset="0"/>
                <a:ea typeface="Arial" pitchFamily="34" charset="-122"/>
                <a:cs typeface="Arial" pitchFamily="34" charset="-120"/>
              </a:rPr>
              <a:t>LR2a +0.03</a:t>
            </a:r>
            <a:endParaRPr lang="en-US" sz="1300" dirty="0"/>
          </a:p>
        </p:txBody>
      </p:sp>
      <p:sp>
        <p:nvSpPr>
          <p:cNvPr id="83" name="Shape 81"/>
          <p:cNvSpPr/>
          <p:nvPr/>
        </p:nvSpPr>
        <p:spPr>
          <a:xfrm>
            <a:off x="8776297" y="2112264"/>
            <a:ext cx="1091451" cy="292608"/>
          </a:xfrm>
          <a:prstGeom prst="rect">
            <a:avLst/>
          </a:prstGeom>
          <a:solidFill>
            <a:srgbClr val="7F8CA3"/>
          </a:solidFill>
          <a:ln/>
        </p:spPr>
      </p:sp>
      <p:sp>
        <p:nvSpPr>
          <p:cNvPr id="84" name="Text 82"/>
          <p:cNvSpPr txBox="1"/>
          <p:nvPr/>
        </p:nvSpPr>
        <p:spPr>
          <a:xfrm>
            <a:off x="9940900" y="2112264"/>
            <a:ext cx="1508760" cy="292608"/>
          </a:xfrm>
          <a:prstGeom prst="rect">
            <a:avLst/>
          </a:prstGeom>
          <a:noFill/>
          <a:ln/>
        </p:spPr>
        <p:txBody>
          <a:bodyPr wrap="square" lIns="0" tIns="0" rIns="0" bIns="0" rtlCol="0" anchor="ctr"/>
          <a:lstStyle/>
          <a:p>
            <a:pPr algn="l" indent="0" marL="0">
              <a:buNone/>
            </a:pPr>
            <a:r>
              <a:rPr lang="en-US" sz="1300" dirty="0">
                <a:solidFill>
                  <a:srgbClr val="F1F5F9"/>
                </a:solidFill>
                <a:latin typeface="Arial" pitchFamily="34" charset="0"/>
                <a:ea typeface="Arial" pitchFamily="34" charset="-122"/>
                <a:cs typeface="Arial" pitchFamily="34" charset="-120"/>
              </a:rPr>
              <a:t>KS4 −0.15</a:t>
            </a:r>
            <a:endParaRPr lang="en-US" sz="1300" dirty="0"/>
          </a:p>
        </p:txBody>
      </p:sp>
      <p:sp>
        <p:nvSpPr>
          <p:cNvPr id="85" name="Shape 83"/>
          <p:cNvSpPr/>
          <p:nvPr/>
        </p:nvSpPr>
        <p:spPr>
          <a:xfrm>
            <a:off x="9867748" y="2532888"/>
            <a:ext cx="970663" cy="292608"/>
          </a:xfrm>
          <a:prstGeom prst="rect">
            <a:avLst/>
          </a:prstGeom>
          <a:solidFill>
            <a:srgbClr val="38BDF8"/>
          </a:solidFill>
          <a:ln/>
        </p:spPr>
      </p:sp>
      <p:sp>
        <p:nvSpPr>
          <p:cNvPr id="86" name="Text 84"/>
          <p:cNvSpPr txBox="1"/>
          <p:nvPr/>
        </p:nvSpPr>
        <p:spPr>
          <a:xfrm>
            <a:off x="8267548" y="2532888"/>
            <a:ext cx="1508760" cy="292608"/>
          </a:xfrm>
          <a:prstGeom prst="rect">
            <a:avLst/>
          </a:prstGeom>
          <a:noFill/>
          <a:ln/>
        </p:spPr>
        <p:txBody>
          <a:bodyPr wrap="square" lIns="0" tIns="0" rIns="0" bIns="0" rtlCol="0" anchor="ctr"/>
          <a:lstStyle/>
          <a:p>
            <a:pPr algn="r" indent="0" marL="0">
              <a:buNone/>
            </a:pPr>
            <a:r>
              <a:rPr lang="en-US" sz="1300" dirty="0">
                <a:solidFill>
                  <a:srgbClr val="F1F5F9"/>
                </a:solidFill>
                <a:latin typeface="Arial" pitchFamily="34" charset="0"/>
                <a:ea typeface="Arial" pitchFamily="34" charset="-122"/>
                <a:cs typeface="Arial" pitchFamily="34" charset="-120"/>
              </a:rPr>
              <a:t>LR1 +0.13</a:t>
            </a:r>
            <a:endParaRPr lang="en-US" sz="1300" dirty="0"/>
          </a:p>
        </p:txBody>
      </p:sp>
      <p:sp>
        <p:nvSpPr>
          <p:cNvPr id="87" name="Text 85"/>
          <p:cNvSpPr txBox="1"/>
          <p:nvPr/>
        </p:nvSpPr>
        <p:spPr>
          <a:xfrm>
            <a:off x="8092440" y="3154680"/>
            <a:ext cx="3550615" cy="2651760"/>
          </a:xfrm>
          <a:prstGeom prst="rect">
            <a:avLst/>
          </a:prstGeom>
          <a:noFill/>
          <a:ln/>
        </p:spPr>
        <p:txBody>
          <a:bodyPr wrap="square" lIns="0" tIns="0" rIns="0" bIns="0" rtlCol="0" anchor="t"/>
          <a:lstStyle/>
          <a:p>
            <a:pPr algn="l" marL="152400" indent="-152400">
              <a:spcAft>
                <a:spcPts val="700"/>
              </a:spcAft>
              <a:buSzPct val="100000"/>
              <a:buChar char="•"/>
            </a:pPr>
            <a:r>
              <a:rPr lang="en-US" sz="1400" dirty="0">
                <a:solidFill>
                  <a:srgbClr val="A7B4C8"/>
                </a:solidFill>
                <a:latin typeface="Arial" pitchFamily="34" charset="0"/>
                <a:ea typeface="Arial" pitchFamily="34" charset="-122"/>
                <a:cs typeface="Arial" pitchFamily="34" charset="-120"/>
              </a:rPr>
              <a:t>Pooled held-out: Global </a:t>
            </a:r>
            <a:pPr algn="l" marL="152400" indent="-152400">
              <a:spcAft>
                <a:spcPts val="700"/>
              </a:spcAft>
              <a:buSzPct val="100000"/>
              <a:buChar char="•"/>
            </a:pPr>
            <a:r>
              <a:rPr lang="en-US" sz="1400" b="1" dirty="0">
                <a:solidFill>
                  <a:srgbClr val="A7B4C8"/>
                </a:solidFill>
                <a:latin typeface="Arial" pitchFamily="34" charset="0"/>
                <a:ea typeface="Arial" pitchFamily="34" charset="-122"/>
                <a:cs typeface="Arial" pitchFamily="34" charset="-120"/>
              </a:rPr>
              <a:t>109/180</a:t>
            </a:r>
            <a:pPr algn="l" marL="152400" indent="-152400">
              <a:spcAft>
                <a:spcPts val="700"/>
              </a:spcAft>
              <a:buSzPct val="100000"/>
              <a:buChar char="•"/>
            </a:pPr>
            <a:r>
              <a:rPr lang="en-US" sz="1400" dirty="0">
                <a:solidFill>
                  <a:srgbClr val="A7B4C8"/>
                </a:solidFill>
                <a:latin typeface="Arial" pitchFamily="34" charset="0"/>
                <a:ea typeface="Arial" pitchFamily="34" charset="-122"/>
                <a:cs typeface="Arial" pitchFamily="34" charset="-120"/>
              </a:rPr>
              <a:t> = Random </a:t>
            </a:r>
            <a:pPr algn="l" marL="152400" indent="-152400">
              <a:spcAft>
                <a:spcPts val="700"/>
              </a:spcAft>
              <a:buSzPct val="100000"/>
              <a:buChar char="•"/>
            </a:pPr>
            <a:r>
              <a:rPr lang="en-US" sz="1400" b="1" dirty="0">
                <a:solidFill>
                  <a:srgbClr val="A7B4C8"/>
                </a:solidFill>
                <a:latin typeface="Arial" pitchFamily="34" charset="0"/>
                <a:ea typeface="Arial" pitchFamily="34" charset="-122"/>
                <a:cs typeface="Arial" pitchFamily="34" charset="-120"/>
              </a:rPr>
              <a:t>109/180</a:t>
            </a:r>
            <a:pPr algn="l" marL="152400" indent="-152400">
              <a:spcAft>
                <a:spcPts val="700"/>
              </a:spcAft>
              <a:buSzPct val="100000"/>
              <a:buChar char="•"/>
            </a:pPr>
            <a:r>
              <a:rPr lang="en-US" sz="1400" dirty="0">
                <a:solidFill>
                  <a:srgbClr val="A7B4C8"/>
                </a:solidFill>
                <a:latin typeface="Arial" pitchFamily="34" charset="0"/>
                <a:ea typeface="Arial" pitchFamily="34" charset="-122"/>
                <a:cs typeface="Arial" pitchFamily="34" charset="-120"/>
              </a:rPr>
              <a:t>; baseline 92/180 (CMH p = 0.086)</a:t>
            </a:r>
            <a:endParaRPr lang="en-US" sz="1400" dirty="0"/>
          </a:p>
          <a:p>
            <a:pPr algn="l" marL="152400" indent="-152400">
              <a:spcAft>
                <a:spcPts val="700"/>
              </a:spcAft>
              <a:buSzPct val="100000"/>
              <a:buChar char="•"/>
            </a:pPr>
            <a:r>
              <a:rPr lang="en-US" sz="1400" dirty="0">
                <a:solidFill>
                  <a:srgbClr val="A7B4C8"/>
                </a:solidFill>
                <a:latin typeface="Arial" pitchFamily="34" charset="0"/>
                <a:ea typeface="Arial" pitchFamily="34" charset="-122"/>
                <a:cs typeface="Arial" pitchFamily="34" charset="-120"/>
              </a:rPr>
              <a:t>No task met “clearly better” (pooled p &lt; 0.05 and same sign in both repeats)</a:t>
            </a:r>
            <a:endParaRPr lang="en-US" sz="1400" dirty="0"/>
          </a:p>
          <a:p>
            <a:pPr algn="l" marL="152400" indent="-152400">
              <a:spcAft>
                <a:spcPts val="700"/>
              </a:spcAft>
              <a:buSzPct val="100000"/>
              <a:buChar char="•"/>
            </a:pPr>
            <a:r>
              <a:rPr lang="en-US" sz="1400" dirty="0">
                <a:solidFill>
                  <a:srgbClr val="A7B4C8"/>
                </a:solidFill>
                <a:latin typeface="Arial" pitchFamily="34" charset="0"/>
                <a:ea typeface="Arial" pitchFamily="34" charset="-122"/>
                <a:cs typeface="Arial" pitchFamily="34" charset="-120"/>
              </a:rPr>
              <a:t>PGG not consistent: mean 0.006 → no systematic fit-to-held-out drop</a:t>
            </a:r>
            <a:endParaRPr lang="en-US" sz="1400" dirty="0"/>
          </a:p>
          <a:p>
            <a:pPr algn="l" marL="152400" indent="-152400">
              <a:spcAft>
                <a:spcPts val="700"/>
              </a:spcAft>
              <a:buSzPct val="100000"/>
              <a:buChar char="•"/>
            </a:pPr>
            <a:r>
              <a:rPr lang="en-US" sz="1400" dirty="0">
                <a:solidFill>
                  <a:srgbClr val="A7B4C8"/>
                </a:solidFill>
                <a:latin typeface="Arial" pitchFamily="34" charset="0"/>
                <a:ea typeface="Arial" pitchFamily="34" charset="-122"/>
                <a:cs typeface="Arial" pitchFamily="34" charset="-120"/>
              </a:rPr>
              <a:t>Pre-registered classification: </a:t>
            </a:r>
            <a:pPr algn="l" marL="152400" indent="-152400">
              <a:spcAft>
                <a:spcPts val="700"/>
              </a:spcAft>
              <a:buSzPct val="100000"/>
              <a:buChar char="•"/>
            </a:pPr>
            <a:r>
              <a:rPr lang="en-US" sz="1400" b="1" dirty="0">
                <a:solidFill>
                  <a:srgbClr val="A7B4C8"/>
                </a:solidFill>
                <a:latin typeface="Arial" pitchFamily="34" charset="0"/>
                <a:ea typeface="Arial" pitchFamily="34" charset="-122"/>
                <a:cs typeface="Arial" pitchFamily="34" charset="-120"/>
              </a:rPr>
              <a:t>Case A</a:t>
            </a:r>
            <a:endParaRPr lang="en-US" sz="1400" dirty="0"/>
          </a:p>
        </p:txBody>
      </p:sp>
      <p:sp>
        <p:nvSpPr>
          <p:cNvPr id="88" name="Text 86"/>
          <p:cNvSpPr txBox="1"/>
          <p:nvPr/>
        </p:nvSpPr>
        <p:spPr>
          <a:xfrm>
            <a:off x="8092440" y="5669280"/>
            <a:ext cx="3550615" cy="457200"/>
          </a:xfrm>
          <a:prstGeom prst="rect">
            <a:avLst/>
          </a:prstGeom>
          <a:noFill/>
          <a:ln/>
        </p:spPr>
        <p:txBody>
          <a:bodyPr wrap="square" lIns="0" tIns="0" rIns="0" bIns="0" rtlCol="0" anchor="t"/>
          <a:lstStyle/>
          <a:p>
            <a:pPr algn="l" indent="0" marL="0">
              <a:buNone/>
            </a:pPr>
            <a:r>
              <a:rPr lang="en-US" sz="1050" dirty="0">
                <a:solidFill>
                  <a:srgbClr val="6B7A93"/>
                </a:solidFill>
                <a:latin typeface="Arial" pitchFamily="34" charset="0"/>
                <a:ea typeface="Arial" pitchFamily="34" charset="-122"/>
                <a:cs typeface="Arial" pitchFamily="34" charset="-120"/>
              </a:rPr>
              <a:t>Repeats share init states → pooled counts are not independent · candidate random conceptor is not spectrum-matched (quota ≈ 0.18)</a:t>
            </a:r>
            <a:endParaRPr lang="en-US" sz="1050" dirty="0"/>
          </a:p>
        </p:txBody>
      </p:sp>
      <p:sp>
        <p:nvSpPr>
          <p:cNvPr id="89" name="Text 87"/>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phase7a_summary.csv · phase7a_analysis.json · phase7a_cross_task_validation.yaml</a:t>
            </a:r>
            <a:endParaRPr lang="en-US" sz="1000" dirty="0"/>
          </a:p>
        </p:txBody>
      </p:sp>
      <p:sp>
        <p:nvSpPr>
          <p:cNvPr id="90" name="Text 88"/>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91" name="Text 89"/>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17 / 21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CURRENT SCIENTIFIC POSITION</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What we can and cannot conclude</a:t>
            </a:r>
            <a:endParaRPr lang="en-US" sz="3000" dirty="0"/>
          </a:p>
        </p:txBody>
      </p:sp>
      <p:sp>
        <p:nvSpPr>
          <p:cNvPr id="4" name="Shape 2"/>
          <p:cNvSpPr/>
          <p:nvPr/>
        </p:nvSpPr>
        <p:spPr>
          <a:xfrm>
            <a:off x="548640" y="1280160"/>
            <a:ext cx="4846320" cy="4572000"/>
          </a:xfrm>
          <a:prstGeom prst="roundRect">
            <a:avLst>
              <a:gd name="adj" fmla="val 1600"/>
            </a:avLst>
          </a:prstGeom>
          <a:solidFill>
            <a:srgbClr val="131E33"/>
          </a:solidFill>
          <a:ln w="12700">
            <a:solidFill>
              <a:srgbClr val="4CC38A"/>
            </a:solidFill>
            <a:prstDash val="solid"/>
          </a:ln>
        </p:spPr>
      </p:sp>
      <p:sp>
        <p:nvSpPr>
          <p:cNvPr id="5" name="Shape 3"/>
          <p:cNvSpPr/>
          <p:nvPr/>
        </p:nvSpPr>
        <p:spPr>
          <a:xfrm>
            <a:off x="548640" y="1280160"/>
            <a:ext cx="4846320" cy="457200"/>
          </a:xfrm>
          <a:prstGeom prst="roundRect">
            <a:avLst>
              <a:gd name="adj" fmla="val 16000"/>
            </a:avLst>
          </a:prstGeom>
          <a:solidFill>
            <a:srgbClr val="123A2A"/>
          </a:solidFill>
          <a:ln w="12700">
            <a:solidFill>
              <a:srgbClr val="4CC38A"/>
            </a:solidFill>
            <a:prstDash val="solid"/>
          </a:ln>
        </p:spPr>
      </p:sp>
      <p:sp>
        <p:nvSpPr>
          <p:cNvPr id="6" name="Text 4"/>
          <p:cNvSpPr txBox="1"/>
          <p:nvPr/>
        </p:nvSpPr>
        <p:spPr>
          <a:xfrm>
            <a:off x="731520" y="1280160"/>
            <a:ext cx="4480560" cy="457200"/>
          </a:xfrm>
          <a:prstGeom prst="rect">
            <a:avLst/>
          </a:prstGeom>
          <a:noFill/>
          <a:ln/>
        </p:spPr>
        <p:txBody>
          <a:bodyPr wrap="square" lIns="0" tIns="0" rIns="0" bIns="0" rtlCol="0" anchor="ctr"/>
          <a:lstStyle/>
          <a:p>
            <a:pPr algn="l" indent="0" marL="0">
              <a:buNone/>
            </a:pPr>
            <a:r>
              <a:rPr lang="en-US" sz="1500" b="1" spc="200" kern="0" dirty="0">
                <a:solidFill>
                  <a:srgbClr val="4CC38A"/>
                </a:solidFill>
                <a:latin typeface="Arial" pitchFamily="34" charset="0"/>
                <a:ea typeface="Arial" pitchFamily="34" charset="-122"/>
                <a:cs typeface="Arial" pitchFamily="34" charset="-120"/>
              </a:rPr>
              <a:t>SUPPORTED</a:t>
            </a:r>
            <a:endParaRPr lang="en-US" sz="1500" dirty="0"/>
          </a:p>
        </p:txBody>
      </p:sp>
      <p:sp>
        <p:nvSpPr>
          <p:cNvPr id="7" name="Text 5"/>
          <p:cNvSpPr txBox="1"/>
          <p:nvPr/>
        </p:nvSpPr>
        <p:spPr>
          <a:xfrm>
            <a:off x="749808" y="1874520"/>
            <a:ext cx="4462272" cy="3886200"/>
          </a:xfrm>
          <a:prstGeom prst="rect">
            <a:avLst/>
          </a:prstGeom>
          <a:noFill/>
          <a:ln/>
        </p:spPr>
        <p:txBody>
          <a:bodyPr wrap="square" lIns="0" tIns="0" rIns="0" bIns="0" rtlCol="0" anchor="t"/>
          <a:lstStyle/>
          <a:p>
            <a:pPr algn="l" indent="0" marL="0">
              <a:spcAft>
                <a:spcPts val="1000"/>
              </a:spcAft>
              <a:buNone/>
            </a:pPr>
            <a:r>
              <a:rPr lang="en-US" sz="1500" b="1" dirty="0">
                <a:solidFill>
                  <a:srgbClr val="F1F5F9"/>
                </a:solidFill>
                <a:latin typeface="Arial" pitchFamily="34" charset="0"/>
                <a:ea typeface="Arial" pitchFamily="34" charset="-122"/>
                <a:cs typeface="Arial" pitchFamily="34" charset="-120"/>
              </a:rPr>
              <a:t>1.</a:t>
            </a:r>
            <a:pPr algn="l" indent="0" marL="0">
              <a:spcAft>
                <a:spcPts val="1000"/>
              </a:spcAft>
              <a:buNone/>
            </a:pPr>
            <a:r>
              <a:rPr lang="en-US" sz="1500" dirty="0">
                <a:solidFill>
                  <a:srgbClr val="F1F5F9"/>
                </a:solidFill>
                <a:latin typeface="Arial" pitchFamily="34" charset="0"/>
                <a:ea typeface="Arial" pitchFamily="34" charset="-122"/>
                <a:cs typeface="Arial" pitchFamily="34" charset="-120"/>
              </a:rPr>
              <a:t> Released main does not reproduce the reported KS3 Global value under our held-out protocol (19–21/30 vs 28/30).</a:t>
            </a:r>
            <a:endParaRPr lang="en-US" sz="1500" dirty="0"/>
          </a:p>
          <a:p>
            <a:pPr algn="l" indent="0" marL="0">
              <a:spcAft>
                <a:spcPts val="1000"/>
              </a:spcAft>
              <a:buNone/>
            </a:pPr>
            <a:r>
              <a:rPr lang="en-US" sz="1500" b="1" dirty="0">
                <a:solidFill>
                  <a:srgbClr val="F1F5F9"/>
                </a:solidFill>
                <a:latin typeface="Arial" pitchFamily="34" charset="0"/>
                <a:ea typeface="Arial" pitchFamily="34" charset="-122"/>
                <a:cs typeface="Arial" pitchFamily="34" charset="-120"/>
              </a:rPr>
              <a:t>2.</a:t>
            </a:r>
            <a:pPr algn="l" indent="0" marL="0">
              <a:spcAft>
                <a:spcPts val="1000"/>
              </a:spcAft>
              <a:buNone/>
            </a:pPr>
            <a:r>
              <a:rPr lang="en-US" sz="1500" dirty="0">
                <a:solidFill>
                  <a:srgbClr val="F1F5F9"/>
                </a:solidFill>
                <a:latin typeface="Arial" pitchFamily="34" charset="0"/>
                <a:ea typeface="Arial" pitchFamily="34" charset="-122"/>
                <a:cs typeface="Arial" pitchFamily="34" charset="-120"/>
              </a:rPr>
              <a:t> miranda-v2 approximately reproduces the KS3 Global number under its native 15-fit-state semantics (12–13 vs 14/15) — with controls in the same range; not reached for LR2a / KS4 (7A).</a:t>
            </a:r>
            <a:endParaRPr lang="en-US" sz="1500" dirty="0"/>
          </a:p>
          <a:p>
            <a:pPr algn="l" indent="0" marL="0">
              <a:spcAft>
                <a:spcPts val="1000"/>
              </a:spcAft>
              <a:buNone/>
            </a:pPr>
            <a:r>
              <a:rPr lang="en-US" sz="1500" b="1" dirty="0">
                <a:solidFill>
                  <a:srgbClr val="F1F5F9"/>
                </a:solidFill>
                <a:latin typeface="Arial" pitchFamily="34" charset="0"/>
                <a:ea typeface="Arial" pitchFamily="34" charset="-122"/>
                <a:cs typeface="Arial" pitchFamily="34" charset="-120"/>
              </a:rPr>
              <a:t>3.</a:t>
            </a:r>
            <a:pPr algn="l" indent="0" marL="0">
              <a:spcAft>
                <a:spcPts val="1000"/>
              </a:spcAft>
              <a:buNone/>
            </a:pPr>
            <a:r>
              <a:rPr lang="en-US" sz="1500" dirty="0">
                <a:solidFill>
                  <a:srgbClr val="F1F5F9"/>
                </a:solidFill>
                <a:latin typeface="Arial" pitchFamily="34" charset="0"/>
                <a:ea typeface="Arial" pitchFamily="34" charset="-122"/>
                <a:cs typeface="Arial" pitchFamily="34" charset="-120"/>
              </a:rPr>
              <a:t> No public implementation matches the full paper-described protocol.</a:t>
            </a:r>
            <a:endParaRPr lang="en-US" sz="1500" dirty="0"/>
          </a:p>
          <a:p>
            <a:pPr algn="l" indent="0" marL="0">
              <a:spcAft>
                <a:spcPts val="1000"/>
              </a:spcAft>
              <a:buNone/>
            </a:pPr>
            <a:r>
              <a:rPr lang="en-US" sz="1500" b="1" dirty="0">
                <a:solidFill>
                  <a:srgbClr val="F1F5F9"/>
                </a:solidFill>
                <a:latin typeface="Arial" pitchFamily="34" charset="0"/>
                <a:ea typeface="Arial" pitchFamily="34" charset="-122"/>
                <a:cs typeface="Arial" pitchFamily="34" charset="-120"/>
              </a:rPr>
              <a:t>4.</a:t>
            </a:r>
            <a:pPr algn="l" indent="0" marL="0">
              <a:spcAft>
                <a:spcPts val="1000"/>
              </a:spcAft>
              <a:buNone/>
            </a:pPr>
            <a:r>
              <a:rPr lang="en-US" sz="1500" dirty="0">
                <a:solidFill>
                  <a:srgbClr val="F1F5F9"/>
                </a:solidFill>
                <a:latin typeface="Arial" pitchFamily="34" charset="0"/>
                <a:ea typeface="Arial" pitchFamily="34" charset="-122"/>
                <a:cs typeface="Arial" pitchFamily="34" charset="-120"/>
              </a:rPr>
              <a:t> In 4/4 tasks the paper Global configuration shows no held-out advantage over a random conceptor.</a:t>
            </a:r>
            <a:endParaRPr lang="en-US" sz="1500" dirty="0"/>
          </a:p>
        </p:txBody>
      </p:sp>
      <p:sp>
        <p:nvSpPr>
          <p:cNvPr id="8" name="Shape 6"/>
          <p:cNvSpPr/>
          <p:nvPr/>
        </p:nvSpPr>
        <p:spPr>
          <a:xfrm>
            <a:off x="5568696" y="1280160"/>
            <a:ext cx="3337560" cy="4572000"/>
          </a:xfrm>
          <a:prstGeom prst="roundRect">
            <a:avLst>
              <a:gd name="adj" fmla="val 2192"/>
            </a:avLst>
          </a:prstGeom>
          <a:solidFill>
            <a:srgbClr val="131E33"/>
          </a:solidFill>
          <a:ln w="12700">
            <a:solidFill>
              <a:srgbClr val="F2C94C"/>
            </a:solidFill>
            <a:prstDash val="solid"/>
          </a:ln>
        </p:spPr>
      </p:sp>
      <p:sp>
        <p:nvSpPr>
          <p:cNvPr id="9" name="Shape 7"/>
          <p:cNvSpPr/>
          <p:nvPr/>
        </p:nvSpPr>
        <p:spPr>
          <a:xfrm>
            <a:off x="5568696" y="1280160"/>
            <a:ext cx="3337560" cy="457200"/>
          </a:xfrm>
          <a:prstGeom prst="roundRect">
            <a:avLst>
              <a:gd name="adj" fmla="val 16000"/>
            </a:avLst>
          </a:prstGeom>
          <a:solidFill>
            <a:srgbClr val="3D3314"/>
          </a:solidFill>
          <a:ln w="12700">
            <a:solidFill>
              <a:srgbClr val="F2C94C"/>
            </a:solidFill>
            <a:prstDash val="solid"/>
          </a:ln>
        </p:spPr>
      </p:sp>
      <p:sp>
        <p:nvSpPr>
          <p:cNvPr id="10" name="Text 8"/>
          <p:cNvSpPr txBox="1"/>
          <p:nvPr/>
        </p:nvSpPr>
        <p:spPr>
          <a:xfrm>
            <a:off x="5751576" y="1280160"/>
            <a:ext cx="2971800" cy="457200"/>
          </a:xfrm>
          <a:prstGeom prst="rect">
            <a:avLst/>
          </a:prstGeom>
          <a:noFill/>
          <a:ln/>
        </p:spPr>
        <p:txBody>
          <a:bodyPr wrap="square" lIns="0" tIns="0" rIns="0" bIns="0" rtlCol="0" anchor="ctr"/>
          <a:lstStyle/>
          <a:p>
            <a:pPr algn="l" indent="0" marL="0">
              <a:buNone/>
            </a:pPr>
            <a:r>
              <a:rPr lang="en-US" sz="1500" b="1" spc="200" kern="0" dirty="0">
                <a:solidFill>
                  <a:srgbClr val="F2C94C"/>
                </a:solidFill>
                <a:latin typeface="Arial" pitchFamily="34" charset="0"/>
                <a:ea typeface="Arial" pitchFamily="34" charset="-122"/>
                <a:cs typeface="Arial" pitchFamily="34" charset="-120"/>
              </a:rPr>
              <a:t>OPEN</a:t>
            </a:r>
            <a:endParaRPr lang="en-US" sz="1500" dirty="0"/>
          </a:p>
        </p:txBody>
      </p:sp>
      <p:sp>
        <p:nvSpPr>
          <p:cNvPr id="11" name="Text 9"/>
          <p:cNvSpPr txBox="1"/>
          <p:nvPr/>
        </p:nvSpPr>
        <p:spPr>
          <a:xfrm>
            <a:off x="5769864" y="1874520"/>
            <a:ext cx="2953512" cy="3886200"/>
          </a:xfrm>
          <a:prstGeom prst="rect">
            <a:avLst/>
          </a:prstGeom>
          <a:noFill/>
          <a:ln/>
        </p:spPr>
        <p:txBody>
          <a:bodyPr wrap="square" lIns="0" tIns="0" rIns="0" bIns="0" rtlCol="0" anchor="t"/>
          <a:lstStyle/>
          <a:p>
            <a:pPr algn="l" marL="152400" indent="-152400">
              <a:spcAft>
                <a:spcPts val="800"/>
              </a:spcAft>
              <a:buSzPct val="100000"/>
              <a:buChar char="•"/>
            </a:pPr>
            <a:r>
              <a:rPr lang="en-US" sz="1400" dirty="0">
                <a:solidFill>
                  <a:srgbClr val="A7B4C8"/>
                </a:solidFill>
                <a:latin typeface="Arial" pitchFamily="34" charset="0"/>
                <a:ea typeface="Arial" pitchFamily="34" charset="-122"/>
                <a:cs typeface="Arial" pitchFamily="34" charset="-120"/>
              </a:rPr>
              <a:t>Original conceptor NPZ (HF repo returns HTTP 401)</a:t>
            </a:r>
            <a:endParaRPr lang="en-US" sz="1400" dirty="0"/>
          </a:p>
          <a:p>
            <a:pPr algn="l" marL="152400" indent="-152400">
              <a:spcAft>
                <a:spcPts val="800"/>
              </a:spcAft>
              <a:buSzPct val="100000"/>
              <a:buChar char="•"/>
            </a:pPr>
            <a:r>
              <a:rPr lang="en-US" sz="1400" dirty="0">
                <a:solidFill>
                  <a:srgbClr val="A7B4C8"/>
                </a:solidFill>
                <a:latin typeface="Arial" pitchFamily="34" charset="0"/>
                <a:ea typeface="Arial" pitchFamily="34" charset="-122"/>
                <a:cs typeface="Arial" pitchFamily="34" charset="-120"/>
              </a:rPr>
              <a:t>Exact 2026-04-13 conceptor builder</a:t>
            </a:r>
            <a:endParaRPr lang="en-US" sz="1400" dirty="0"/>
          </a:p>
          <a:p>
            <a:pPr algn="l" marL="152400" indent="-152400">
              <a:spcAft>
                <a:spcPts val="800"/>
              </a:spcAft>
              <a:buSzPct val="100000"/>
              <a:buChar char="•"/>
            </a:pPr>
            <a:r>
              <a:rPr lang="en-US" sz="1400" dirty="0">
                <a:solidFill>
                  <a:srgbClr val="A7B4C8"/>
                </a:solidFill>
                <a:latin typeface="Arial" pitchFamily="34" charset="0"/>
                <a:ea typeface="Arial" pitchFamily="34" charset="-122"/>
                <a:cs typeface="Arial" pitchFamily="34" charset="-120"/>
              </a:rPr>
              <a:t>Original per-condition summary.json files</a:t>
            </a:r>
            <a:endParaRPr lang="en-US" sz="1400" dirty="0"/>
          </a:p>
          <a:p>
            <a:pPr algn="l" marL="152400" indent="-152400">
              <a:spcAft>
                <a:spcPts val="800"/>
              </a:spcAft>
              <a:buSzPct val="100000"/>
              <a:buChar char="•"/>
            </a:pPr>
            <a:r>
              <a:rPr lang="en-US" sz="1400" dirty="0">
                <a:solidFill>
                  <a:srgbClr val="A7B4C8"/>
                </a:solidFill>
                <a:latin typeface="Arial" pitchFamily="34" charset="0"/>
                <a:ea typeface="Arial" pitchFamily="34" charset="-122"/>
                <a:cs typeface="Arial" pitchFamily="34" charset="-120"/>
              </a:rPr>
              <a:t>45-episode rerun outputs</a:t>
            </a:r>
            <a:endParaRPr lang="en-US" sz="1400" dirty="0"/>
          </a:p>
          <a:p>
            <a:pPr algn="l" marL="152400" indent="-152400">
              <a:spcAft>
                <a:spcPts val="800"/>
              </a:spcAft>
              <a:buSzPct val="100000"/>
              <a:buChar char="•"/>
            </a:pPr>
            <a:r>
              <a:rPr lang="en-US" sz="1400" dirty="0">
                <a:solidFill>
                  <a:srgbClr val="A7B4C8"/>
                </a:solidFill>
                <a:latin typeface="Arial" pitchFamily="34" charset="0"/>
                <a:ea typeface="Arial" pitchFamily="34" charset="-122"/>
                <a:cs typeface="Arial" pitchFamily="34" charset="-120"/>
              </a:rPr>
              <a:t>Checkpoint identity (training run vs released HF weights)</a:t>
            </a:r>
            <a:endParaRPr lang="en-US" sz="1400" dirty="0"/>
          </a:p>
          <a:p>
            <a:pPr algn="l" marL="152400" indent="-152400">
              <a:spcAft>
                <a:spcPts val="800"/>
              </a:spcAft>
              <a:buSzPct val="100000"/>
              <a:buChar char="•"/>
            </a:pPr>
            <a:r>
              <a:rPr lang="en-US" sz="1400" dirty="0">
                <a:solidFill>
                  <a:srgbClr val="A7B4C8"/>
                </a:solidFill>
                <a:latin typeface="Arial" pitchFamily="34" charset="0"/>
                <a:ea typeface="Arial" pitchFamily="34" charset="-122"/>
                <a:cs typeface="Arial" pitchFamily="34" charset="-120"/>
              </a:rPr>
              <a:t>Policy-noise seeding and runs per table cell</a:t>
            </a:r>
            <a:endParaRPr lang="en-US" sz="1400" dirty="0"/>
          </a:p>
        </p:txBody>
      </p:sp>
      <p:sp>
        <p:nvSpPr>
          <p:cNvPr id="12" name="Shape 10"/>
          <p:cNvSpPr/>
          <p:nvPr/>
        </p:nvSpPr>
        <p:spPr>
          <a:xfrm>
            <a:off x="9079992" y="1280160"/>
            <a:ext cx="2560320" cy="4572000"/>
          </a:xfrm>
          <a:prstGeom prst="roundRect">
            <a:avLst>
              <a:gd name="adj" fmla="val 2857"/>
            </a:avLst>
          </a:prstGeom>
          <a:solidFill>
            <a:srgbClr val="131E33"/>
          </a:solidFill>
          <a:ln w="12700">
            <a:solidFill>
              <a:srgbClr val="EF6B6B"/>
            </a:solidFill>
            <a:prstDash val="solid"/>
          </a:ln>
        </p:spPr>
      </p:sp>
      <p:sp>
        <p:nvSpPr>
          <p:cNvPr id="13" name="Shape 11"/>
          <p:cNvSpPr/>
          <p:nvPr/>
        </p:nvSpPr>
        <p:spPr>
          <a:xfrm>
            <a:off x="9079992" y="1280160"/>
            <a:ext cx="2560320" cy="457200"/>
          </a:xfrm>
          <a:prstGeom prst="roundRect">
            <a:avLst>
              <a:gd name="adj" fmla="val 16000"/>
            </a:avLst>
          </a:prstGeom>
          <a:solidFill>
            <a:srgbClr val="421B20"/>
          </a:solidFill>
          <a:ln w="12700">
            <a:solidFill>
              <a:srgbClr val="EF6B6B"/>
            </a:solidFill>
            <a:prstDash val="solid"/>
          </a:ln>
        </p:spPr>
      </p:sp>
      <p:sp>
        <p:nvSpPr>
          <p:cNvPr id="14" name="Text 12"/>
          <p:cNvSpPr txBox="1"/>
          <p:nvPr/>
        </p:nvSpPr>
        <p:spPr>
          <a:xfrm>
            <a:off x="9262872" y="1280160"/>
            <a:ext cx="2194560" cy="457200"/>
          </a:xfrm>
          <a:prstGeom prst="rect">
            <a:avLst/>
          </a:prstGeom>
          <a:noFill/>
          <a:ln/>
        </p:spPr>
        <p:txBody>
          <a:bodyPr wrap="square" lIns="0" tIns="0" rIns="0" bIns="0" rtlCol="0" anchor="ctr"/>
          <a:lstStyle/>
          <a:p>
            <a:pPr algn="l" indent="0" marL="0">
              <a:buNone/>
            </a:pPr>
            <a:r>
              <a:rPr lang="en-US" sz="1500" b="1" spc="200" kern="0" dirty="0">
                <a:solidFill>
                  <a:srgbClr val="EF6B6B"/>
                </a:solidFill>
                <a:latin typeface="Arial" pitchFamily="34" charset="0"/>
                <a:ea typeface="Arial" pitchFamily="34" charset="-122"/>
                <a:cs typeface="Arial" pitchFamily="34" charset="-120"/>
              </a:rPr>
              <a:t>NOT CLAIMED</a:t>
            </a:r>
            <a:endParaRPr lang="en-US" sz="1500" dirty="0"/>
          </a:p>
        </p:txBody>
      </p:sp>
      <p:sp>
        <p:nvSpPr>
          <p:cNvPr id="15" name="Text 13"/>
          <p:cNvSpPr txBox="1"/>
          <p:nvPr/>
        </p:nvSpPr>
        <p:spPr>
          <a:xfrm>
            <a:off x="9281160" y="1874520"/>
            <a:ext cx="2176272" cy="3886200"/>
          </a:xfrm>
          <a:prstGeom prst="rect">
            <a:avLst/>
          </a:prstGeom>
          <a:noFill/>
          <a:ln/>
        </p:spPr>
        <p:txBody>
          <a:bodyPr wrap="square" lIns="0" tIns="0" rIns="0" bIns="0" rtlCol="0" anchor="t"/>
          <a:lstStyle/>
          <a:p>
            <a:pPr algn="l" marL="152400" indent="-152400">
              <a:spcAft>
                <a:spcPts val="800"/>
              </a:spcAft>
              <a:buSzPct val="100000"/>
              <a:buChar char="•"/>
            </a:pPr>
            <a:r>
              <a:rPr lang="en-US" sz="1600" dirty="0">
                <a:solidFill>
                  <a:srgbClr val="A7B4C8"/>
                </a:solidFill>
                <a:latin typeface="Arial" pitchFamily="34" charset="0"/>
                <a:ea typeface="Arial" pitchFamily="34" charset="-122"/>
                <a:cs typeface="Arial" pitchFamily="34" charset="-120"/>
              </a:rPr>
              <a:t>That the paper is invalid</a:t>
            </a:r>
            <a:endParaRPr lang="en-US" sz="1600" dirty="0"/>
          </a:p>
          <a:p>
            <a:pPr algn="l" marL="152400" indent="-152400">
              <a:spcAft>
                <a:spcPts val="800"/>
              </a:spcAft>
              <a:buSzPct val="100000"/>
              <a:buChar char="•"/>
            </a:pPr>
            <a:r>
              <a:rPr lang="en-US" sz="1600" dirty="0">
                <a:solidFill>
                  <a:srgbClr val="A7B4C8"/>
                </a:solidFill>
                <a:latin typeface="Arial" pitchFamily="34" charset="0"/>
                <a:ea typeface="Arial" pitchFamily="34" charset="-122"/>
                <a:cs typeface="Arial" pitchFamily="34" charset="-120"/>
              </a:rPr>
              <a:t>That results were fabricated</a:t>
            </a:r>
            <a:endParaRPr lang="en-US" sz="1600" dirty="0"/>
          </a:p>
          <a:p>
            <a:pPr algn="l" marL="152400" indent="-152400">
              <a:spcAft>
                <a:spcPts val="800"/>
              </a:spcAft>
              <a:buSzPct val="100000"/>
              <a:buChar char="•"/>
            </a:pPr>
            <a:r>
              <a:rPr lang="en-US" sz="1600" dirty="0">
                <a:solidFill>
                  <a:srgbClr val="A7B4C8"/>
                </a:solidFill>
                <a:latin typeface="Arial" pitchFamily="34" charset="0"/>
                <a:ea typeface="Arial" pitchFamily="34" charset="-122"/>
                <a:cs typeface="Arial" pitchFamily="34" charset="-120"/>
              </a:rPr>
              <a:t>That COAST universally fails</a:t>
            </a:r>
            <a:endParaRPr lang="en-US" sz="1600" dirty="0"/>
          </a:p>
        </p:txBody>
      </p:sp>
      <p:sp>
        <p:nvSpPr>
          <p:cNvPr id="16" name="Text 14"/>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Phases 5A–5C, 6C, 7A</a:t>
            </a:r>
            <a:endParaRPr lang="en-US" sz="1000" dirty="0"/>
          </a:p>
        </p:txBody>
      </p:sp>
      <p:sp>
        <p:nvSpPr>
          <p:cNvPr id="17" name="Text 15"/>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18" name="Text 16"/>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18 / 21</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AUTHOR CLARIFICATION</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What we asked the author</a:t>
            </a:r>
            <a:endParaRPr lang="en-US" sz="3000" dirty="0"/>
          </a:p>
        </p:txBody>
      </p:sp>
      <p:sp>
        <p:nvSpPr>
          <p:cNvPr id="4" name="Shape 2"/>
          <p:cNvSpPr/>
          <p:nvPr/>
        </p:nvSpPr>
        <p:spPr>
          <a:xfrm>
            <a:off x="548640" y="1188720"/>
            <a:ext cx="3052592" cy="310896"/>
          </a:xfrm>
          <a:prstGeom prst="roundRect">
            <a:avLst>
              <a:gd name="adj" fmla="val 50000"/>
            </a:avLst>
          </a:prstGeom>
          <a:solidFill>
            <a:srgbClr val="131E33"/>
          </a:solidFill>
          <a:ln w="12700">
            <a:solidFill>
              <a:srgbClr val="F2C94C"/>
            </a:solidFill>
            <a:prstDash val="solid"/>
          </a:ln>
        </p:spPr>
      </p:sp>
      <p:sp>
        <p:nvSpPr>
          <p:cNvPr id="5" name="Text 3"/>
          <p:cNvSpPr txBox="1"/>
          <p:nvPr/>
        </p:nvSpPr>
        <p:spPr>
          <a:xfrm>
            <a:off x="548640" y="1188720"/>
            <a:ext cx="3052592" cy="310896"/>
          </a:xfrm>
          <a:prstGeom prst="rect">
            <a:avLst/>
          </a:prstGeom>
          <a:noFill/>
          <a:ln/>
        </p:spPr>
        <p:txBody>
          <a:bodyPr wrap="square" lIns="0" tIns="0" rIns="0" bIns="0" rtlCol="0" anchor="ctr"/>
          <a:lstStyle/>
          <a:p>
            <a:pPr algn="ctr" indent="0" marL="0">
              <a:buNone/>
            </a:pPr>
            <a:r>
              <a:rPr lang="en-US" sz="1200" b="1" spc="100" kern="0" dirty="0">
                <a:solidFill>
                  <a:srgbClr val="F2C94C"/>
                </a:solidFill>
                <a:latin typeface="Arial" pitchFamily="34" charset="0"/>
                <a:ea typeface="Arial" pitchFamily="34" charset="-122"/>
                <a:cs typeface="Arial" pitchFamily="34" charset="-120"/>
              </a:rPr>
              <a:t>STATUS · REPLY PENDING</a:t>
            </a:r>
            <a:endParaRPr lang="en-US" sz="1200" dirty="0"/>
          </a:p>
        </p:txBody>
      </p:sp>
      <p:sp>
        <p:nvSpPr>
          <p:cNvPr id="6" name="Shape 4"/>
          <p:cNvSpPr/>
          <p:nvPr/>
        </p:nvSpPr>
        <p:spPr>
          <a:xfrm>
            <a:off x="548640" y="1691640"/>
            <a:ext cx="5446624" cy="1691640"/>
          </a:xfrm>
          <a:prstGeom prst="roundRect">
            <a:avLst>
              <a:gd name="adj" fmla="val 4324"/>
            </a:avLst>
          </a:prstGeom>
          <a:solidFill>
            <a:srgbClr val="131E33"/>
          </a:solidFill>
          <a:ln/>
        </p:spPr>
      </p:sp>
      <p:sp>
        <p:nvSpPr>
          <p:cNvPr id="7" name="Text 5"/>
          <p:cNvSpPr txBox="1"/>
          <p:nvPr/>
        </p:nvSpPr>
        <p:spPr>
          <a:xfrm>
            <a:off x="749808" y="1874520"/>
            <a:ext cx="457200" cy="457200"/>
          </a:xfrm>
          <a:prstGeom prst="rect">
            <a:avLst/>
          </a:prstGeom>
          <a:noFill/>
          <a:ln/>
        </p:spPr>
        <p:txBody>
          <a:bodyPr wrap="square" lIns="0" tIns="0" rIns="0" bIns="0" rtlCol="0" anchor="t"/>
          <a:lstStyle/>
          <a:p>
            <a:pPr algn="l" indent="0" marL="0">
              <a:buNone/>
            </a:pPr>
            <a:r>
              <a:rPr lang="en-US" sz="2600" b="1" dirty="0">
                <a:solidFill>
                  <a:srgbClr val="38BDF8"/>
                </a:solidFill>
                <a:latin typeface="Arial" pitchFamily="34" charset="0"/>
                <a:ea typeface="Arial" pitchFamily="34" charset="-122"/>
                <a:cs typeface="Arial" pitchFamily="34" charset="-120"/>
              </a:rPr>
              <a:t>1</a:t>
            </a:r>
            <a:endParaRPr lang="en-US" sz="2600" dirty="0"/>
          </a:p>
        </p:txBody>
      </p:sp>
      <p:sp>
        <p:nvSpPr>
          <p:cNvPr id="8" name="Text 6"/>
          <p:cNvSpPr txBox="1"/>
          <p:nvPr/>
        </p:nvSpPr>
        <p:spPr>
          <a:xfrm>
            <a:off x="1280160" y="1892808"/>
            <a:ext cx="4532224" cy="365760"/>
          </a:xfrm>
          <a:prstGeom prst="rect">
            <a:avLst/>
          </a:prstGeom>
          <a:noFill/>
          <a:ln/>
        </p:spPr>
        <p:txBody>
          <a:bodyPr wrap="square" lIns="0" tIns="0" rIns="0" bIns="0" rtlCol="0" anchor="t"/>
          <a:lstStyle/>
          <a:p>
            <a:pPr algn="l" indent="0" marL="0">
              <a:buNone/>
            </a:pPr>
            <a:r>
              <a:rPr lang="en-US" sz="1800" b="1" dirty="0">
                <a:solidFill>
                  <a:srgbClr val="F1F5F9"/>
                </a:solidFill>
                <a:latin typeface="Arial" pitchFamily="34" charset="0"/>
                <a:ea typeface="Arial" pitchFamily="34" charset="-122"/>
                <a:cs typeface="Arial" pitchFamily="34" charset="-120"/>
              </a:rPr>
              <a:t>Table source</a:t>
            </a:r>
            <a:endParaRPr lang="en-US" sz="1800" dirty="0"/>
          </a:p>
        </p:txBody>
      </p:sp>
      <p:sp>
        <p:nvSpPr>
          <p:cNvPr id="9" name="Text 7"/>
          <p:cNvSpPr txBox="1"/>
          <p:nvPr/>
        </p:nvSpPr>
        <p:spPr>
          <a:xfrm>
            <a:off x="1280160" y="2331720"/>
            <a:ext cx="4532224" cy="960120"/>
          </a:xfrm>
          <a:prstGeom prst="rect">
            <a:avLst/>
          </a:prstGeom>
          <a:noFill/>
          <a:ln/>
        </p:spPr>
        <p:txBody>
          <a:bodyPr wrap="square" lIns="0" tIns="0" rIns="0" bIns="0" rtlCol="0" anchor="t"/>
          <a:lstStyle/>
          <a:p>
            <a:pPr algn="l" indent="0" marL="0">
              <a:buNone/>
            </a:pPr>
            <a:r>
              <a:rPr lang="en-US" sz="1550" dirty="0">
                <a:solidFill>
                  <a:srgbClr val="A7B4C8"/>
                </a:solidFill>
                <a:latin typeface="Arial" pitchFamily="34" charset="0"/>
                <a:ea typeface="Arial" pitchFamily="34" charset="-122"/>
                <a:cs typeface="Arial" pitchFamily="34" charset="-120"/>
              </a:rPr>
              <a:t>Were Tables 4/17 generated from the 15-episode miranda-v2 sweep (best condition per strategy from </a:t>
            </a:r>
            <a:pPr algn="l" indent="0" marL="0">
              <a:buNone/>
            </a:pPr>
            <a:r>
              <a:rPr lang="en-US" sz="1400" dirty="0">
                <a:solidFill>
                  <a:srgbClr val="A7B4C8"/>
                </a:solidFill>
                <a:latin typeface="Courier New" pitchFamily="34" charset="0"/>
                <a:ea typeface="Courier New" pitchFamily="34" charset="-122"/>
                <a:cs typeface="Courier New" pitchFamily="34" charset="-120"/>
              </a:rPr>
              <a:t>summary.json</a:t>
            </a:r>
            <a:pPr algn="l" indent="0" marL="0">
              <a:buNone/>
            </a:pPr>
            <a:r>
              <a:rPr lang="en-US" sz="1550" dirty="0">
                <a:solidFill>
                  <a:srgbClr val="A7B4C8"/>
                </a:solidFill>
                <a:latin typeface="Arial" pitchFamily="34" charset="0"/>
                <a:ea typeface="Arial" pitchFamily="34" charset="-122"/>
                <a:cs typeface="Arial" pitchFamily="34" charset="-120"/>
              </a:rPr>
              <a:t>)?</a:t>
            </a:r>
            <a:endParaRPr lang="en-US" sz="1550" dirty="0"/>
          </a:p>
        </p:txBody>
      </p:sp>
      <p:sp>
        <p:nvSpPr>
          <p:cNvPr id="10" name="Shape 8"/>
          <p:cNvSpPr/>
          <p:nvPr/>
        </p:nvSpPr>
        <p:spPr>
          <a:xfrm>
            <a:off x="6196432" y="1691640"/>
            <a:ext cx="5446624" cy="1691640"/>
          </a:xfrm>
          <a:prstGeom prst="roundRect">
            <a:avLst>
              <a:gd name="adj" fmla="val 4324"/>
            </a:avLst>
          </a:prstGeom>
          <a:solidFill>
            <a:srgbClr val="131E33"/>
          </a:solidFill>
          <a:ln/>
        </p:spPr>
      </p:sp>
      <p:sp>
        <p:nvSpPr>
          <p:cNvPr id="11" name="Text 9"/>
          <p:cNvSpPr txBox="1"/>
          <p:nvPr/>
        </p:nvSpPr>
        <p:spPr>
          <a:xfrm>
            <a:off x="6397600" y="1874520"/>
            <a:ext cx="457200" cy="457200"/>
          </a:xfrm>
          <a:prstGeom prst="rect">
            <a:avLst/>
          </a:prstGeom>
          <a:noFill/>
          <a:ln/>
        </p:spPr>
        <p:txBody>
          <a:bodyPr wrap="square" lIns="0" tIns="0" rIns="0" bIns="0" rtlCol="0" anchor="t"/>
          <a:lstStyle/>
          <a:p>
            <a:pPr algn="l" indent="0" marL="0">
              <a:buNone/>
            </a:pPr>
            <a:r>
              <a:rPr lang="en-US" sz="2600" b="1" dirty="0">
                <a:solidFill>
                  <a:srgbClr val="38BDF8"/>
                </a:solidFill>
                <a:latin typeface="Arial" pitchFamily="34" charset="0"/>
                <a:ea typeface="Arial" pitchFamily="34" charset="-122"/>
                <a:cs typeface="Arial" pitchFamily="34" charset="-120"/>
              </a:rPr>
              <a:t>2</a:t>
            </a:r>
            <a:endParaRPr lang="en-US" sz="2600" dirty="0"/>
          </a:p>
        </p:txBody>
      </p:sp>
      <p:sp>
        <p:nvSpPr>
          <p:cNvPr id="12" name="Text 10"/>
          <p:cNvSpPr txBox="1"/>
          <p:nvPr/>
        </p:nvSpPr>
        <p:spPr>
          <a:xfrm>
            <a:off x="6927952" y="1892808"/>
            <a:ext cx="4532224" cy="365760"/>
          </a:xfrm>
          <a:prstGeom prst="rect">
            <a:avLst/>
          </a:prstGeom>
          <a:noFill/>
          <a:ln/>
        </p:spPr>
        <p:txBody>
          <a:bodyPr wrap="square" lIns="0" tIns="0" rIns="0" bIns="0" rtlCol="0" anchor="t"/>
          <a:lstStyle/>
          <a:p>
            <a:pPr algn="l" indent="0" marL="0">
              <a:buNone/>
            </a:pPr>
            <a:r>
              <a:rPr lang="en-US" sz="1800" b="1" dirty="0">
                <a:solidFill>
                  <a:srgbClr val="F1F5F9"/>
                </a:solidFill>
                <a:latin typeface="Arial" pitchFamily="34" charset="0"/>
                <a:ea typeface="Arial" pitchFamily="34" charset="-122"/>
                <a:cs typeface="Arial" pitchFamily="34" charset="-120"/>
              </a:rPr>
              <a:t>Held-out test</a:t>
            </a:r>
            <a:endParaRPr lang="en-US" sz="1800" dirty="0"/>
          </a:p>
        </p:txBody>
      </p:sp>
      <p:sp>
        <p:nvSpPr>
          <p:cNvPr id="13" name="Text 11"/>
          <p:cNvSpPr txBox="1"/>
          <p:nvPr/>
        </p:nvSpPr>
        <p:spPr>
          <a:xfrm>
            <a:off x="6927952" y="2331720"/>
            <a:ext cx="4532224" cy="960120"/>
          </a:xfrm>
          <a:prstGeom prst="rect">
            <a:avLst/>
          </a:prstGeom>
          <a:noFill/>
          <a:ln/>
        </p:spPr>
        <p:txBody>
          <a:bodyPr wrap="square" lIns="0" tIns="0" rIns="0" bIns="0" rtlCol="0" anchor="t"/>
          <a:lstStyle/>
          <a:p>
            <a:pPr algn="l" indent="0" marL="0">
              <a:buNone/>
            </a:pPr>
            <a:r>
              <a:rPr lang="en-US" sz="1550" dirty="0">
                <a:solidFill>
                  <a:srgbClr val="A7B4C8"/>
                </a:solidFill>
                <a:latin typeface="Arial" pitchFamily="34" charset="0"/>
                <a:ea typeface="Arial" pitchFamily="34" charset="-122"/>
                <a:cs typeface="Arial" pitchFamily="34" charset="-120"/>
              </a:rPr>
              <a:t>Was a separate 30-rollout held-out evaluation run — e.g. the </a:t>
            </a:r>
            <a:pPr algn="l" indent="0" marL="0">
              <a:buNone/>
            </a:pPr>
            <a:r>
              <a:rPr lang="en-US" sz="1400" dirty="0">
                <a:solidFill>
                  <a:srgbClr val="A7B4C8"/>
                </a:solidFill>
                <a:latin typeface="Courier New" pitchFamily="34" charset="0"/>
                <a:ea typeface="Courier New" pitchFamily="34" charset="-122"/>
                <a:cs typeface="Courier New" pitchFamily="34" charset="-120"/>
              </a:rPr>
              <a:t>steering_results_45ep</a:t>
            </a:r>
            <a:pPr algn="l" indent="0" marL="0">
              <a:buNone/>
            </a:pPr>
            <a:r>
              <a:rPr lang="en-US" sz="1550" dirty="0">
                <a:solidFill>
                  <a:srgbClr val="A7B4C8"/>
                </a:solidFill>
                <a:latin typeface="Arial" pitchFamily="34" charset="0"/>
                <a:ea typeface="Arial" pitchFamily="34" charset="-122"/>
                <a:cs typeface="Arial" pitchFamily="34" charset="-120"/>
              </a:rPr>
              <a:t> reruns — and on which states?</a:t>
            </a:r>
            <a:endParaRPr lang="en-US" sz="1550" dirty="0"/>
          </a:p>
        </p:txBody>
      </p:sp>
      <p:sp>
        <p:nvSpPr>
          <p:cNvPr id="14" name="Shape 12"/>
          <p:cNvSpPr/>
          <p:nvPr/>
        </p:nvSpPr>
        <p:spPr>
          <a:xfrm>
            <a:off x="548640" y="3566160"/>
            <a:ext cx="5446624" cy="1691640"/>
          </a:xfrm>
          <a:prstGeom prst="roundRect">
            <a:avLst>
              <a:gd name="adj" fmla="val 4324"/>
            </a:avLst>
          </a:prstGeom>
          <a:solidFill>
            <a:srgbClr val="131E33"/>
          </a:solidFill>
          <a:ln/>
        </p:spPr>
      </p:sp>
      <p:sp>
        <p:nvSpPr>
          <p:cNvPr id="15" name="Text 13"/>
          <p:cNvSpPr txBox="1"/>
          <p:nvPr/>
        </p:nvSpPr>
        <p:spPr>
          <a:xfrm>
            <a:off x="749808" y="3749040"/>
            <a:ext cx="457200" cy="457200"/>
          </a:xfrm>
          <a:prstGeom prst="rect">
            <a:avLst/>
          </a:prstGeom>
          <a:noFill/>
          <a:ln/>
        </p:spPr>
        <p:txBody>
          <a:bodyPr wrap="square" lIns="0" tIns="0" rIns="0" bIns="0" rtlCol="0" anchor="t"/>
          <a:lstStyle/>
          <a:p>
            <a:pPr algn="l" indent="0" marL="0">
              <a:buNone/>
            </a:pPr>
            <a:r>
              <a:rPr lang="en-US" sz="2600" b="1" dirty="0">
                <a:solidFill>
                  <a:srgbClr val="38BDF8"/>
                </a:solidFill>
                <a:latin typeface="Arial" pitchFamily="34" charset="0"/>
                <a:ea typeface="Arial" pitchFamily="34" charset="-122"/>
                <a:cs typeface="Arial" pitchFamily="34" charset="-120"/>
              </a:rPr>
              <a:t>3</a:t>
            </a:r>
            <a:endParaRPr lang="en-US" sz="2600" dirty="0"/>
          </a:p>
        </p:txBody>
      </p:sp>
      <p:sp>
        <p:nvSpPr>
          <p:cNvPr id="16" name="Text 14"/>
          <p:cNvSpPr txBox="1"/>
          <p:nvPr/>
        </p:nvSpPr>
        <p:spPr>
          <a:xfrm>
            <a:off x="1280160" y="3767328"/>
            <a:ext cx="4532224" cy="365760"/>
          </a:xfrm>
          <a:prstGeom prst="rect">
            <a:avLst/>
          </a:prstGeom>
          <a:noFill/>
          <a:ln/>
        </p:spPr>
        <p:txBody>
          <a:bodyPr wrap="square" lIns="0" tIns="0" rIns="0" bIns="0" rtlCol="0" anchor="t"/>
          <a:lstStyle/>
          <a:p>
            <a:pPr algn="l" indent="0" marL="0">
              <a:buNone/>
            </a:pPr>
            <a:r>
              <a:rPr lang="en-US" sz="1800" b="1" dirty="0">
                <a:solidFill>
                  <a:srgbClr val="F1F5F9"/>
                </a:solidFill>
                <a:latin typeface="Arial" pitchFamily="34" charset="0"/>
                <a:ea typeface="Arial" pitchFamily="34" charset="-122"/>
                <a:cs typeface="Arial" pitchFamily="34" charset="-120"/>
              </a:rPr>
              <a:t>Per-step α</a:t>
            </a:r>
            <a:endParaRPr lang="en-US" sz="1800" dirty="0"/>
          </a:p>
        </p:txBody>
      </p:sp>
      <p:sp>
        <p:nvSpPr>
          <p:cNvPr id="17" name="Text 15"/>
          <p:cNvSpPr txBox="1"/>
          <p:nvPr/>
        </p:nvSpPr>
        <p:spPr>
          <a:xfrm>
            <a:off x="1280160" y="4206240"/>
            <a:ext cx="4532224" cy="960120"/>
          </a:xfrm>
          <a:prstGeom prst="rect">
            <a:avLst/>
          </a:prstGeom>
          <a:noFill/>
          <a:ln/>
        </p:spPr>
        <p:txBody>
          <a:bodyPr wrap="square" lIns="0" tIns="0" rIns="0" bIns="0" rtlCol="0" anchor="t"/>
          <a:lstStyle/>
          <a:p>
            <a:pPr algn="l" indent="0" marL="0">
              <a:buNone/>
            </a:pPr>
            <a:r>
              <a:rPr lang="en-US" sz="1550" dirty="0">
                <a:solidFill>
                  <a:srgbClr val="A7B4C8"/>
                </a:solidFill>
                <a:latin typeface="Arial" pitchFamily="34" charset="0"/>
                <a:ea typeface="Arial" pitchFamily="34" charset="-122"/>
                <a:cs typeface="Arial" pitchFamily="34" charset="-120"/>
              </a:rPr>
              <a:t>Is the KS3 per-step “α = 10” a true α = 10 conceptor, or the loop label of </a:t>
            </a:r>
            <a:pPr algn="l" indent="0" marL="0">
              <a:buNone/>
            </a:pPr>
            <a:r>
              <a:rPr lang="en-US" sz="1400" dirty="0">
                <a:solidFill>
                  <a:srgbClr val="A7B4C8"/>
                </a:solidFill>
                <a:latin typeface="Courier New" pitchFamily="34" charset="0"/>
                <a:ea typeface="Courier New" pitchFamily="34" charset="-122"/>
                <a:cs typeface="Courier New" pitchFamily="34" charset="-120"/>
              </a:rPr>
              <a:t>per_step_{0|9}_L5_a10.0_b0.3</a:t>
            </a:r>
            <a:pPr algn="l" indent="0" marL="0">
              <a:buNone/>
            </a:pPr>
            <a:r>
              <a:rPr lang="en-US" sz="1550" dirty="0">
                <a:solidFill>
                  <a:srgbClr val="A7B4C8"/>
                </a:solidFill>
                <a:latin typeface="Arial" pitchFamily="34" charset="0"/>
                <a:ea typeface="Arial" pitchFamily="34" charset="-122"/>
                <a:cs typeface="Arial" pitchFamily="34" charset="-120"/>
              </a:rPr>
              <a:t>?</a:t>
            </a:r>
            <a:endParaRPr lang="en-US" sz="1550" dirty="0"/>
          </a:p>
        </p:txBody>
      </p:sp>
      <p:sp>
        <p:nvSpPr>
          <p:cNvPr id="18" name="Shape 16"/>
          <p:cNvSpPr/>
          <p:nvPr/>
        </p:nvSpPr>
        <p:spPr>
          <a:xfrm>
            <a:off x="6196432" y="3566160"/>
            <a:ext cx="5446624" cy="1691640"/>
          </a:xfrm>
          <a:prstGeom prst="roundRect">
            <a:avLst>
              <a:gd name="adj" fmla="val 4324"/>
            </a:avLst>
          </a:prstGeom>
          <a:solidFill>
            <a:srgbClr val="131E33"/>
          </a:solidFill>
          <a:ln/>
        </p:spPr>
      </p:sp>
      <p:sp>
        <p:nvSpPr>
          <p:cNvPr id="19" name="Text 17"/>
          <p:cNvSpPr txBox="1"/>
          <p:nvPr/>
        </p:nvSpPr>
        <p:spPr>
          <a:xfrm>
            <a:off x="6397600" y="3749040"/>
            <a:ext cx="457200" cy="457200"/>
          </a:xfrm>
          <a:prstGeom prst="rect">
            <a:avLst/>
          </a:prstGeom>
          <a:noFill/>
          <a:ln/>
        </p:spPr>
        <p:txBody>
          <a:bodyPr wrap="square" lIns="0" tIns="0" rIns="0" bIns="0" rtlCol="0" anchor="t"/>
          <a:lstStyle/>
          <a:p>
            <a:pPr algn="l" indent="0" marL="0">
              <a:buNone/>
            </a:pPr>
            <a:r>
              <a:rPr lang="en-US" sz="2600" b="1" dirty="0">
                <a:solidFill>
                  <a:srgbClr val="38BDF8"/>
                </a:solidFill>
                <a:latin typeface="Arial" pitchFamily="34" charset="0"/>
                <a:ea typeface="Arial" pitchFamily="34" charset="-122"/>
                <a:cs typeface="Arial" pitchFamily="34" charset="-120"/>
              </a:rPr>
              <a:t>4</a:t>
            </a:r>
            <a:endParaRPr lang="en-US" sz="2600" dirty="0"/>
          </a:p>
        </p:txBody>
      </p:sp>
      <p:sp>
        <p:nvSpPr>
          <p:cNvPr id="20" name="Text 18"/>
          <p:cNvSpPr txBox="1"/>
          <p:nvPr/>
        </p:nvSpPr>
        <p:spPr>
          <a:xfrm>
            <a:off x="6927952" y="3767328"/>
            <a:ext cx="4532224" cy="365760"/>
          </a:xfrm>
          <a:prstGeom prst="rect">
            <a:avLst/>
          </a:prstGeom>
          <a:noFill/>
          <a:ln/>
        </p:spPr>
        <p:txBody>
          <a:bodyPr wrap="square" lIns="0" tIns="0" rIns="0" bIns="0" rtlCol="0" anchor="t"/>
          <a:lstStyle/>
          <a:p>
            <a:pPr algn="l" indent="0" marL="0">
              <a:buNone/>
            </a:pPr>
            <a:r>
              <a:rPr lang="en-US" sz="1800" b="1" dirty="0">
                <a:solidFill>
                  <a:srgbClr val="F1F5F9"/>
                </a:solidFill>
                <a:latin typeface="Arial" pitchFamily="34" charset="0"/>
                <a:ea typeface="Arial" pitchFamily="34" charset="-122"/>
                <a:cs typeface="Arial" pitchFamily="34" charset="-120"/>
              </a:rPr>
              <a:t>Builder &amp; checkpoint</a:t>
            </a:r>
            <a:endParaRPr lang="en-US" sz="1800" dirty="0"/>
          </a:p>
        </p:txBody>
      </p:sp>
      <p:sp>
        <p:nvSpPr>
          <p:cNvPr id="21" name="Text 19"/>
          <p:cNvSpPr txBox="1"/>
          <p:nvPr/>
        </p:nvSpPr>
        <p:spPr>
          <a:xfrm>
            <a:off x="6927952" y="4206240"/>
            <a:ext cx="4532224" cy="960120"/>
          </a:xfrm>
          <a:prstGeom prst="rect">
            <a:avLst/>
          </a:prstGeom>
          <a:noFill/>
          <a:ln/>
        </p:spPr>
        <p:txBody>
          <a:bodyPr wrap="square" lIns="0" tIns="0" rIns="0" bIns="0" rtlCol="0" anchor="t"/>
          <a:lstStyle/>
          <a:p>
            <a:pPr algn="l" indent="0" marL="0">
              <a:buNone/>
            </a:pPr>
            <a:r>
              <a:rPr lang="en-US" sz="1550" dirty="0">
                <a:solidFill>
                  <a:srgbClr val="A7B4C8"/>
                </a:solidFill>
                <a:latin typeface="Arial" pitchFamily="34" charset="0"/>
                <a:ea typeface="Arial" pitchFamily="34" charset="-122"/>
                <a:cs typeface="Arial" pitchFamily="34" charset="-120"/>
              </a:rPr>
              <a:t>Which builder / NPZ produced the reported results, and is </a:t>
            </a:r>
            <a:pPr algn="l" indent="0" marL="0">
              <a:buNone/>
            </a:pPr>
            <a:r>
              <a:rPr lang="en-US" sz="1400" dirty="0">
                <a:solidFill>
                  <a:srgbClr val="A7B4C8"/>
                </a:solidFill>
                <a:latin typeface="Courier New" pitchFamily="34" charset="0"/>
                <a:ea typeface="Courier New" pitchFamily="34" charset="-122"/>
                <a:cs typeface="Courier New" pitchFamily="34" charset="-120"/>
              </a:rPr>
              <a:t>libero_b200_bs512/2000</a:t>
            </a:r>
            <a:pPr algn="l" indent="0" marL="0">
              <a:buNone/>
            </a:pPr>
            <a:r>
              <a:rPr lang="en-US" sz="1550" dirty="0">
                <a:solidFill>
                  <a:srgbClr val="A7B4C8"/>
                </a:solidFill>
                <a:latin typeface="Arial" pitchFamily="34" charset="0"/>
                <a:ea typeface="Arial" pitchFamily="34" charset="-122"/>
                <a:cs typeface="Arial" pitchFamily="34" charset="-120"/>
              </a:rPr>
              <a:t> = HF </a:t>
            </a:r>
            <a:pPr algn="l" indent="0" marL="0">
              <a:buNone/>
            </a:pPr>
            <a:r>
              <a:rPr lang="en-US" sz="1400" dirty="0">
                <a:solidFill>
                  <a:srgbClr val="A7B4C8"/>
                </a:solidFill>
                <a:latin typeface="Courier New" pitchFamily="34" charset="0"/>
                <a:ea typeface="Courier New" pitchFamily="34" charset="-122"/>
                <a:cs typeface="Courier New" pitchFamily="34" charset="-120"/>
              </a:rPr>
              <a:t>openpi-libero-2000</a:t>
            </a:r>
            <a:pPr algn="l" indent="0" marL="0">
              <a:buNone/>
            </a:pPr>
            <a:r>
              <a:rPr lang="en-US" sz="1550" dirty="0">
                <a:solidFill>
                  <a:srgbClr val="A7B4C8"/>
                </a:solidFill>
                <a:latin typeface="Arial" pitchFamily="34" charset="0"/>
                <a:ea typeface="Arial" pitchFamily="34" charset="-122"/>
                <a:cs typeface="Arial" pitchFamily="34" charset="-120"/>
              </a:rPr>
              <a:t>?</a:t>
            </a:r>
            <a:endParaRPr lang="en-US" sz="1550" dirty="0"/>
          </a:p>
        </p:txBody>
      </p:sp>
      <p:sp>
        <p:nvSpPr>
          <p:cNvPr id="22" name="Text 20"/>
          <p:cNvSpPr txBox="1"/>
          <p:nvPr/>
        </p:nvSpPr>
        <p:spPr>
          <a:xfrm>
            <a:off x="548640" y="5532120"/>
            <a:ext cx="11094415" cy="365760"/>
          </a:xfrm>
          <a:prstGeom prst="rect">
            <a:avLst/>
          </a:prstGeom>
          <a:noFill/>
          <a:ln/>
        </p:spPr>
        <p:txBody>
          <a:bodyPr wrap="square" lIns="0" tIns="0" rIns="0" bIns="0" rtlCol="0" anchor="t"/>
          <a:lstStyle/>
          <a:p>
            <a:pPr algn="l" indent="0" marL="0">
              <a:buNone/>
            </a:pPr>
            <a:r>
              <a:rPr lang="en-US" sz="1800" i="1" dirty="0">
                <a:solidFill>
                  <a:srgbClr val="F1F5F9"/>
                </a:solidFill>
                <a:latin typeface="Arial" pitchFamily="34" charset="0"/>
                <a:ea typeface="Arial" pitchFamily="34" charset="-122"/>
                <a:cs typeface="Arial" pitchFamily="34" charset="-120"/>
              </a:rPr>
              <a:t>We ask which protocol the tables report — not whether the results are correct.</a:t>
            </a:r>
            <a:endParaRPr lang="en-US" sz="1800" dirty="0"/>
          </a:p>
        </p:txBody>
      </p:sp>
      <p:sp>
        <p:nvSpPr>
          <p:cNvPr id="23" name="Text 21"/>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phase6b_author_questions.md · phase6c_author_branch_archaeology.md §10</a:t>
            </a:r>
            <a:endParaRPr lang="en-US" sz="1000" dirty="0"/>
          </a:p>
        </p:txBody>
      </p:sp>
      <p:sp>
        <p:nvSpPr>
          <p:cNvPr id="24" name="Text 22"/>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25" name="Text 23"/>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19 / 21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NEXT STEP &amp; POSSIBLE CONTRIBUTION</a:t>
            </a:r>
            <a:endParaRPr lang="en-US" sz="1200" dirty="0"/>
          </a:p>
        </p:txBody>
      </p:sp>
      <p:sp>
        <p:nvSpPr>
          <p:cNvPr id="3" name="Text 1"/>
          <p:cNvSpPr txBox="1"/>
          <p:nvPr/>
        </p:nvSpPr>
        <p:spPr>
          <a:xfrm>
            <a:off x="548640" y="530352"/>
            <a:ext cx="11094415" cy="566928"/>
          </a:xfrm>
          <a:prstGeom prst="rect">
            <a:avLst/>
          </a:prstGeom>
          <a:noFill/>
          <a:ln/>
        </p:spPr>
        <p:txBody>
          <a:bodyPr wrap="square" lIns="0" tIns="0" rIns="0" bIns="0" rtlCol="0" anchor="t"/>
          <a:lstStyle/>
          <a:p>
            <a:pPr algn="l" indent="0" marL="0">
              <a:buNone/>
            </a:pPr>
            <a:r>
              <a:rPr lang="en-US" sz="3000" b="1" dirty="0">
                <a:solidFill>
                  <a:srgbClr val="F1F5F9"/>
                </a:solidFill>
                <a:latin typeface="Arial" pitchFamily="34" charset="0"/>
                <a:ea typeface="Arial" pitchFamily="34" charset="-122"/>
                <a:cs typeface="Arial" pitchFamily="34" charset="-120"/>
              </a:rPr>
              <a:t>Next: Phase 7B, mechanism first</a:t>
            </a:r>
            <a:endParaRPr lang="en-US" sz="3000" dirty="0"/>
          </a:p>
        </p:txBody>
      </p:sp>
      <p:sp>
        <p:nvSpPr>
          <p:cNvPr id="4" name="Shape 2"/>
          <p:cNvSpPr/>
          <p:nvPr/>
        </p:nvSpPr>
        <p:spPr>
          <a:xfrm>
            <a:off x="548640" y="1280160"/>
            <a:ext cx="5257800" cy="4572000"/>
          </a:xfrm>
          <a:prstGeom prst="roundRect">
            <a:avLst>
              <a:gd name="adj" fmla="val 1600"/>
            </a:avLst>
          </a:prstGeom>
          <a:solidFill>
            <a:srgbClr val="131E33"/>
          </a:solidFill>
          <a:ln w="12700">
            <a:solidFill>
              <a:srgbClr val="38BDF8"/>
            </a:solidFill>
            <a:prstDash val="solid"/>
          </a:ln>
        </p:spPr>
      </p:sp>
      <p:sp>
        <p:nvSpPr>
          <p:cNvPr id="5" name="Shape 3"/>
          <p:cNvSpPr/>
          <p:nvPr/>
        </p:nvSpPr>
        <p:spPr>
          <a:xfrm>
            <a:off x="777240" y="1463040"/>
            <a:ext cx="2554102" cy="310896"/>
          </a:xfrm>
          <a:prstGeom prst="roundRect">
            <a:avLst>
              <a:gd name="adj" fmla="val 50000"/>
            </a:avLst>
          </a:prstGeom>
          <a:solidFill>
            <a:srgbClr val="131E33"/>
          </a:solidFill>
          <a:ln w="12700">
            <a:solidFill>
              <a:srgbClr val="38BDF8"/>
            </a:solidFill>
            <a:prstDash val="solid"/>
          </a:ln>
        </p:spPr>
      </p:sp>
      <p:sp>
        <p:nvSpPr>
          <p:cNvPr id="6" name="Text 4"/>
          <p:cNvSpPr txBox="1"/>
          <p:nvPr/>
        </p:nvSpPr>
        <p:spPr>
          <a:xfrm>
            <a:off x="777240" y="1463040"/>
            <a:ext cx="2554102" cy="310896"/>
          </a:xfrm>
          <a:prstGeom prst="rect">
            <a:avLst/>
          </a:prstGeom>
          <a:noFill/>
          <a:ln/>
        </p:spPr>
        <p:txBody>
          <a:bodyPr wrap="square" lIns="0" tIns="0" rIns="0" bIns="0" rtlCol="0" anchor="ctr"/>
          <a:lstStyle/>
          <a:p>
            <a:pPr algn="ctr" indent="0" marL="0">
              <a:buNone/>
            </a:pPr>
            <a:r>
              <a:rPr lang="en-US" sz="1200" b="1" spc="100" kern="0" dirty="0">
                <a:solidFill>
                  <a:srgbClr val="38BDF8"/>
                </a:solidFill>
                <a:latin typeface="Arial" pitchFamily="34" charset="0"/>
                <a:ea typeface="Arial" pitchFamily="34" charset="-122"/>
                <a:cs typeface="Arial" pitchFamily="34" charset="-120"/>
              </a:rPr>
              <a:t>PLANNED · PHASE 7B</a:t>
            </a:r>
            <a:endParaRPr lang="en-US" sz="1200" dirty="0"/>
          </a:p>
        </p:txBody>
      </p:sp>
      <p:sp>
        <p:nvSpPr>
          <p:cNvPr id="7" name="Text 5"/>
          <p:cNvSpPr txBox="1"/>
          <p:nvPr/>
        </p:nvSpPr>
        <p:spPr>
          <a:xfrm>
            <a:off x="777240" y="1965960"/>
            <a:ext cx="4800600" cy="2377440"/>
          </a:xfrm>
          <a:prstGeom prst="rect">
            <a:avLst/>
          </a:prstGeom>
          <a:noFill/>
          <a:ln/>
        </p:spPr>
        <p:txBody>
          <a:bodyPr wrap="square" lIns="0" tIns="0" rIns="0" bIns="0" rtlCol="0" anchor="t"/>
          <a:lstStyle/>
          <a:p>
            <a:pPr algn="l" marL="177800" indent="-177800">
              <a:spcAft>
                <a:spcPts val="1000"/>
              </a:spcAft>
              <a:buSzPct val="100000"/>
              <a:buChar char="•"/>
            </a:pPr>
            <a:r>
              <a:rPr lang="en-US" sz="1600" dirty="0">
                <a:solidFill>
                  <a:srgbClr val="F1F5F9"/>
                </a:solidFill>
                <a:latin typeface="Arial" pitchFamily="34" charset="0"/>
                <a:ea typeface="Arial" pitchFamily="34" charset="-122"/>
                <a:cs typeface="Arial" pitchFamily="34" charset="-120"/>
              </a:rPr>
              <a:t>Phase 7B (mechanism-first): is a directional, norm-preserving component what the operator lacks?</a:t>
            </a:r>
            <a:endParaRPr lang="en-US" sz="1600" dirty="0"/>
          </a:p>
          <a:p>
            <a:pPr algn="l" marL="177800" indent="-177800">
              <a:spcAft>
                <a:spcPts val="1000"/>
              </a:spcAft>
              <a:buSzPct val="100000"/>
              <a:buChar char="•"/>
            </a:pPr>
            <a:r>
              <a:rPr lang="en-US" sz="1600" dirty="0">
                <a:solidFill>
                  <a:srgbClr val="F1F5F9"/>
                </a:solidFill>
                <a:latin typeface="Arial" pitchFamily="34" charset="0"/>
                <a:ea typeface="Arial" pitchFamily="34" charset="-122"/>
                <a:cs typeface="Arial" pitchFamily="34" charset="-120"/>
              </a:rPr>
              <a:t>Same disjoint held-out protocol (states 15–44), repeats, random and shrinkage controls</a:t>
            </a:r>
            <a:endParaRPr lang="en-US" sz="1600" dirty="0"/>
          </a:p>
          <a:p>
            <a:pPr algn="l" marL="177800" indent="-177800">
              <a:spcAft>
                <a:spcPts val="1000"/>
              </a:spcAft>
              <a:buSzPct val="100000"/>
              <a:buChar char="•"/>
            </a:pPr>
            <a:r>
              <a:rPr lang="en-US" sz="1600" dirty="0">
                <a:solidFill>
                  <a:srgbClr val="F1F5F9"/>
                </a:solidFill>
                <a:latin typeface="Arial" pitchFamily="34" charset="0"/>
                <a:ea typeface="Arial" pitchFamily="34" charset="-122"/>
                <a:cs typeface="Arial" pitchFamily="34" charset="-120"/>
              </a:rPr>
              <a:t>Pre-registered power target: 60 episodes/arm resolves only |Δ| ≳ 0.2–0.25</a:t>
            </a:r>
            <a:endParaRPr lang="en-US" sz="1600" dirty="0"/>
          </a:p>
        </p:txBody>
      </p:sp>
      <p:sp>
        <p:nvSpPr>
          <p:cNvPr id="8" name="Shape 6"/>
          <p:cNvSpPr/>
          <p:nvPr/>
        </p:nvSpPr>
        <p:spPr>
          <a:xfrm>
            <a:off x="777240" y="4434840"/>
            <a:ext cx="4800600" cy="1188720"/>
          </a:xfrm>
          <a:prstGeom prst="roundRect">
            <a:avLst>
              <a:gd name="adj" fmla="val 6154"/>
            </a:avLst>
          </a:prstGeom>
          <a:solidFill>
            <a:srgbClr val="1A2842"/>
          </a:solidFill>
          <a:ln/>
        </p:spPr>
      </p:sp>
      <p:sp>
        <p:nvSpPr>
          <p:cNvPr id="9" name="Text 7"/>
          <p:cNvSpPr txBox="1"/>
          <p:nvPr/>
        </p:nvSpPr>
        <p:spPr>
          <a:xfrm>
            <a:off x="960120" y="4480560"/>
            <a:ext cx="4434840" cy="1097280"/>
          </a:xfrm>
          <a:prstGeom prst="rect">
            <a:avLst/>
          </a:prstGeom>
          <a:noFill/>
          <a:ln/>
        </p:spPr>
        <p:txBody>
          <a:bodyPr wrap="square" lIns="0" tIns="0" rIns="0" bIns="0" rtlCol="0" anchor="ctr"/>
          <a:lstStyle/>
          <a:p>
            <a:pPr algn="l" indent="0" marL="0">
              <a:buNone/>
            </a:pPr>
            <a:r>
              <a:rPr lang="en-US" sz="1450" b="1" dirty="0">
                <a:solidFill>
                  <a:srgbClr val="F1F5F9"/>
                </a:solidFill>
                <a:latin typeface="Arial" pitchFamily="34" charset="0"/>
                <a:ea typeface="Arial" pitchFamily="34" charset="-122"/>
                <a:cs typeface="Arial" pitchFamily="34" charset="-120"/>
              </a:rPr>
              <a:t>Success criterion for any future method:</a:t>
            </a:r>
            <a:pPr algn="l" indent="0" marL="0">
              <a:buNone/>
            </a:pPr>
            <a:r>
              <a:rPr lang="en-US" sz="1450" dirty="0">
                <a:solidFill>
                  <a:srgbClr val="F1F5F9"/>
                </a:solidFill>
                <a:latin typeface="Arial" pitchFamily="34" charset="0"/>
                <a:ea typeface="Arial" pitchFamily="34" charset="-122"/>
                <a:cs typeface="Arial" pitchFamily="34" charset="-120"/>
              </a:rPr>
              <a:t> beat baseline </a:t>
            </a:r>
            <a:pPr algn="l" indent="0" marL="0">
              <a:buNone/>
            </a:pPr>
            <a:r>
              <a:rPr lang="en-US" sz="1450" b="1" dirty="0">
                <a:solidFill>
                  <a:srgbClr val="F1F5F9"/>
                </a:solidFill>
                <a:latin typeface="Arial" pitchFamily="34" charset="0"/>
                <a:ea typeface="Arial" pitchFamily="34" charset="-122"/>
                <a:cs typeface="Arial" pitchFamily="34" charset="-120"/>
              </a:rPr>
              <a:t>and</a:t>
            </a:r>
            <a:pPr algn="l" indent="0" marL="0">
              <a:buNone/>
            </a:pPr>
            <a:r>
              <a:rPr lang="en-US" sz="1450" dirty="0">
                <a:solidFill>
                  <a:srgbClr val="F1F5F9"/>
                </a:solidFill>
                <a:latin typeface="Arial" pitchFamily="34" charset="0"/>
                <a:ea typeface="Arial" pitchFamily="34" charset="-122"/>
                <a:cs typeface="Arial" pitchFamily="34" charset="-120"/>
              </a:rPr>
              <a:t> matched random / shrinkage controls on disjoint held-out states, with repeats.</a:t>
            </a:r>
            <a:endParaRPr lang="en-US" sz="1450" dirty="0"/>
          </a:p>
        </p:txBody>
      </p:sp>
      <p:sp>
        <p:nvSpPr>
          <p:cNvPr id="10" name="Shape 8"/>
          <p:cNvSpPr/>
          <p:nvPr/>
        </p:nvSpPr>
        <p:spPr>
          <a:xfrm>
            <a:off x="6126480" y="1280160"/>
            <a:ext cx="5516575" cy="4572000"/>
          </a:xfrm>
          <a:prstGeom prst="roundRect">
            <a:avLst>
              <a:gd name="adj" fmla="val 1600"/>
            </a:avLst>
          </a:prstGeom>
          <a:solidFill>
            <a:srgbClr val="0B1220"/>
          </a:solidFill>
          <a:ln w="19050">
            <a:solidFill>
              <a:srgbClr val="F2C94C"/>
            </a:solidFill>
            <a:prstDash val="dash"/>
          </a:ln>
        </p:spPr>
      </p:sp>
      <p:sp>
        <p:nvSpPr>
          <p:cNvPr id="11" name="Shape 9"/>
          <p:cNvSpPr/>
          <p:nvPr/>
        </p:nvSpPr>
        <p:spPr>
          <a:xfrm>
            <a:off x="6355080" y="1463040"/>
            <a:ext cx="3800328" cy="310896"/>
          </a:xfrm>
          <a:prstGeom prst="roundRect">
            <a:avLst>
              <a:gd name="adj" fmla="val 50000"/>
            </a:avLst>
          </a:prstGeom>
          <a:solidFill>
            <a:srgbClr val="131E33"/>
          </a:solidFill>
          <a:ln w="12700">
            <a:solidFill>
              <a:srgbClr val="F2C94C"/>
            </a:solidFill>
            <a:prstDash val="solid"/>
          </a:ln>
        </p:spPr>
      </p:sp>
      <p:sp>
        <p:nvSpPr>
          <p:cNvPr id="12" name="Text 10"/>
          <p:cNvSpPr txBox="1"/>
          <p:nvPr/>
        </p:nvSpPr>
        <p:spPr>
          <a:xfrm>
            <a:off x="6355080" y="1463040"/>
            <a:ext cx="3800328" cy="310896"/>
          </a:xfrm>
          <a:prstGeom prst="rect">
            <a:avLst/>
          </a:prstGeom>
          <a:noFill/>
          <a:ln/>
        </p:spPr>
        <p:txBody>
          <a:bodyPr wrap="square" lIns="0" tIns="0" rIns="0" bIns="0" rtlCol="0" anchor="ctr"/>
          <a:lstStyle/>
          <a:p>
            <a:pPr algn="ctr" indent="0" marL="0">
              <a:buNone/>
            </a:pPr>
            <a:r>
              <a:rPr lang="en-US" sz="1200" b="1" spc="100" kern="0" dirty="0">
                <a:solidFill>
                  <a:srgbClr val="F2C94C"/>
                </a:solidFill>
                <a:latin typeface="Arial" pitchFamily="34" charset="0"/>
                <a:ea typeface="Arial" pitchFamily="34" charset="-122"/>
                <a:cs typeface="Arial" pitchFamily="34" charset="-120"/>
              </a:rPr>
              <a:t>FUTURE WORK · NOT YET TESTED</a:t>
            </a:r>
            <a:endParaRPr lang="en-US" sz="1200" dirty="0"/>
          </a:p>
        </p:txBody>
      </p:sp>
      <p:sp>
        <p:nvSpPr>
          <p:cNvPr id="13" name="Text 11"/>
          <p:cNvSpPr txBox="1"/>
          <p:nvPr/>
        </p:nvSpPr>
        <p:spPr>
          <a:xfrm>
            <a:off x="6355080" y="1920240"/>
            <a:ext cx="5059375" cy="411480"/>
          </a:xfrm>
          <a:prstGeom prst="rect">
            <a:avLst/>
          </a:prstGeom>
          <a:noFill/>
          <a:ln/>
        </p:spPr>
        <p:txBody>
          <a:bodyPr wrap="square" lIns="0" tIns="0" rIns="0" bIns="0" rtlCol="0" anchor="t"/>
          <a:lstStyle/>
          <a:p>
            <a:pPr algn="l" indent="0" marL="0">
              <a:buNone/>
            </a:pPr>
            <a:r>
              <a:rPr lang="en-US" sz="2000" b="1" dirty="0">
                <a:solidFill>
                  <a:srgbClr val="F1F5F9"/>
                </a:solidFill>
                <a:latin typeface="Arial" pitchFamily="34" charset="0"/>
                <a:ea typeface="Arial" pitchFamily="34" charset="-122"/>
                <a:cs typeface="Arial" pitchFamily="34" charset="-120"/>
              </a:rPr>
              <a:t>If the mechanism holds…</a:t>
            </a:r>
            <a:endParaRPr lang="en-US" sz="2000" dirty="0"/>
          </a:p>
        </p:txBody>
      </p:sp>
      <p:sp>
        <p:nvSpPr>
          <p:cNvPr id="14" name="Text 12"/>
          <p:cNvSpPr txBox="1"/>
          <p:nvPr/>
        </p:nvSpPr>
        <p:spPr>
          <a:xfrm>
            <a:off x="6355080" y="2423160"/>
            <a:ext cx="5059375" cy="868680"/>
          </a:xfrm>
          <a:prstGeom prst="rect">
            <a:avLst/>
          </a:prstGeom>
          <a:noFill/>
          <a:ln/>
        </p:spPr>
        <p:txBody>
          <a:bodyPr wrap="square" lIns="0" tIns="0" rIns="0" bIns="0" rtlCol="0" anchor="t"/>
          <a:lstStyle/>
          <a:p>
            <a:pPr algn="l" indent="0" marL="0">
              <a:spcAft>
                <a:spcPts val="800"/>
              </a:spcAft>
              <a:buNone/>
            </a:pPr>
            <a:r>
              <a:rPr lang="en-US" sz="1700" b="1" dirty="0">
                <a:solidFill>
                  <a:srgbClr val="F1F5F9"/>
                </a:solidFill>
                <a:latin typeface="Cambria Math" pitchFamily="34" charset="0"/>
                <a:ea typeface="Cambria Math" pitchFamily="34" charset="-122"/>
                <a:cs typeface="Cambria Math" pitchFamily="34" charset="-120"/>
              </a:rPr>
              <a:t>Current</a:t>
            </a:r>
            <a:pPr algn="l" indent="0" marL="0">
              <a:spcAft>
                <a:spcPts val="800"/>
              </a:spcAft>
              <a:buNone/>
            </a:pPr>
            <a:r>
              <a:rPr lang="en-US" sz="1700" dirty="0">
                <a:solidFill>
                  <a:srgbClr val="F1F5F9"/>
                </a:solidFill>
                <a:latin typeface="Cambria Math" pitchFamily="34" charset="0"/>
                <a:ea typeface="Cambria Math" pitchFamily="34" charset="-122"/>
                <a:cs typeface="Cambria Math" pitchFamily="34" charset="-120"/>
              </a:rPr>
              <a:t>   h′ = (1 − β) h + β C h  ≈  (1 − β) h</a:t>
            </a:r>
            <a:endParaRPr lang="en-US" sz="1700" dirty="0"/>
          </a:p>
          <a:p>
            <a:pPr algn="l" indent="0" marL="0">
              <a:spcAft>
                <a:spcPts val="800"/>
              </a:spcAft>
              <a:buNone/>
            </a:pPr>
            <a:r>
              <a:rPr lang="en-US" sz="1700" b="1" dirty="0">
                <a:solidFill>
                  <a:srgbClr val="F1F5F9"/>
                </a:solidFill>
                <a:latin typeface="Cambria Math" pitchFamily="34" charset="0"/>
                <a:ea typeface="Cambria Math" pitchFamily="34" charset="-122"/>
                <a:cs typeface="Cambria Math" pitchFamily="34" charset="-120"/>
              </a:rPr>
              <a:t>Possible</a:t>
            </a:r>
            <a:pPr algn="l" indent="0" marL="0">
              <a:spcAft>
                <a:spcPts val="800"/>
              </a:spcAft>
              <a:buNone/>
            </a:pPr>
            <a:r>
              <a:rPr lang="en-US" sz="1700" dirty="0">
                <a:solidFill>
                  <a:srgbClr val="F1F5F9"/>
                </a:solidFill>
                <a:latin typeface="Cambria Math" pitchFamily="34" charset="0"/>
                <a:ea typeface="Cambria Math" pitchFamily="34" charset="-122"/>
                <a:cs typeface="Cambria Math" pitchFamily="34" charset="-120"/>
              </a:rPr>
              <a:t>   h′ = h + γ D(h)</a:t>
            </a:r>
            <a:endParaRPr lang="en-US" sz="1700" dirty="0"/>
          </a:p>
        </p:txBody>
      </p:sp>
      <p:sp>
        <p:nvSpPr>
          <p:cNvPr id="15" name="Text 13"/>
          <p:cNvSpPr txBox="1"/>
          <p:nvPr/>
        </p:nvSpPr>
        <p:spPr>
          <a:xfrm>
            <a:off x="6355080" y="3429000"/>
            <a:ext cx="5059375" cy="1920240"/>
          </a:xfrm>
          <a:prstGeom prst="rect">
            <a:avLst/>
          </a:prstGeom>
          <a:noFill/>
          <a:ln/>
        </p:spPr>
        <p:txBody>
          <a:bodyPr wrap="square" lIns="0" tIns="0" rIns="0" bIns="0" rtlCol="0" anchor="t"/>
          <a:lstStyle/>
          <a:p>
            <a:pPr algn="l" marL="177800" indent="-177800">
              <a:spcAft>
                <a:spcPts val="700"/>
              </a:spcAft>
              <a:buSzPct val="100000"/>
              <a:buChar char="•"/>
            </a:pPr>
            <a:r>
              <a:rPr lang="en-US" sz="1500" dirty="0">
                <a:solidFill>
                  <a:srgbClr val="A7B4C8"/>
                </a:solidFill>
                <a:latin typeface="Arial" pitchFamily="34" charset="0"/>
                <a:ea typeface="Arial" pitchFamily="34" charset="-122"/>
                <a:cs typeface="Arial" pitchFamily="34" charset="-120"/>
              </a:rPr>
              <a:t>preserve the hidden-state norm (‖h′‖ ≈ ‖h‖)</a:t>
            </a:r>
            <a:endParaRPr lang="en-US" sz="1500" dirty="0"/>
          </a:p>
          <a:p>
            <a:pPr algn="l" marL="177800" indent="-177800">
              <a:spcAft>
                <a:spcPts val="700"/>
              </a:spcAft>
              <a:buSzPct val="100000"/>
              <a:buChar char="•"/>
            </a:pPr>
            <a:r>
              <a:rPr lang="en-US" sz="1500" dirty="0">
                <a:solidFill>
                  <a:srgbClr val="A7B4C8"/>
                </a:solidFill>
                <a:latin typeface="Arial" pitchFamily="34" charset="0"/>
                <a:ea typeface="Arial" pitchFamily="34" charset="-122"/>
                <a:cs typeface="Arial" pitchFamily="34" charset="-120"/>
              </a:rPr>
              <a:t>isolate a success-specific direction D(h)</a:t>
            </a:r>
            <a:endParaRPr lang="en-US" sz="1500" dirty="0"/>
          </a:p>
          <a:p>
            <a:pPr algn="l" marL="177800" indent="-177800">
              <a:spcAft>
                <a:spcPts val="700"/>
              </a:spcAft>
              <a:buSzPct val="100000"/>
              <a:buChar char="•"/>
            </a:pPr>
            <a:r>
              <a:rPr lang="en-US" sz="1500" dirty="0">
                <a:solidFill>
                  <a:srgbClr val="A7B4C8"/>
                </a:solidFill>
                <a:latin typeface="Arial" pitchFamily="34" charset="0"/>
                <a:ea typeface="Arial" pitchFamily="34" charset="-122"/>
                <a:cs typeface="Arial" pitchFamily="34" charset="-120"/>
              </a:rPr>
              <a:t>avoid uniform contraction</a:t>
            </a:r>
            <a:endParaRPr lang="en-US" sz="1500" dirty="0"/>
          </a:p>
          <a:p>
            <a:pPr algn="l" marL="177800" indent="-177800">
              <a:spcAft>
                <a:spcPts val="700"/>
              </a:spcAft>
              <a:buSzPct val="100000"/>
              <a:buChar char="•"/>
            </a:pPr>
            <a:r>
              <a:rPr lang="en-US" sz="1500" dirty="0">
                <a:solidFill>
                  <a:srgbClr val="A7B4C8"/>
                </a:solidFill>
                <a:latin typeface="Arial" pitchFamily="34" charset="0"/>
                <a:ea typeface="Arial" pitchFamily="34" charset="-122"/>
                <a:cs typeface="Arial" pitchFamily="34" charset="-120"/>
              </a:rPr>
              <a:t>evaluate on held-out states against matched controls</a:t>
            </a:r>
            <a:endParaRPr lang="en-US" sz="1500" dirty="0"/>
          </a:p>
        </p:txBody>
      </p:sp>
      <p:sp>
        <p:nvSpPr>
          <p:cNvPr id="16" name="Text 14"/>
          <p:cNvSpPr txBox="1"/>
          <p:nvPr/>
        </p:nvSpPr>
        <p:spPr>
          <a:xfrm>
            <a:off x="6355080" y="5349240"/>
            <a:ext cx="5059375" cy="365760"/>
          </a:xfrm>
          <a:prstGeom prst="rect">
            <a:avLst/>
          </a:prstGeom>
          <a:noFill/>
          <a:ln/>
        </p:spPr>
        <p:txBody>
          <a:bodyPr wrap="square" lIns="0" tIns="0" rIns="0" bIns="0" rtlCol="0" anchor="t"/>
          <a:lstStyle/>
          <a:p>
            <a:pPr algn="l" indent="0" marL="0">
              <a:buNone/>
            </a:pPr>
            <a:r>
              <a:rPr lang="en-US" sz="1250" dirty="0">
                <a:solidFill>
                  <a:srgbClr val="F2C94C"/>
                </a:solidFill>
                <a:latin typeface="Arial" pitchFamily="34" charset="0"/>
                <a:ea typeface="Arial" pitchFamily="34" charset="-122"/>
                <a:cs typeface="Arial" pitchFamily="34" charset="-120"/>
              </a:rPr>
              <a:t>A direction for discussion — no such method has been implemented or tested.</a:t>
            </a:r>
            <a:endParaRPr lang="en-US" sz="1250" dirty="0"/>
          </a:p>
        </p:txBody>
      </p:sp>
      <p:sp>
        <p:nvSpPr>
          <p:cNvPr id="17" name="Text 15"/>
          <p:cNvSpPr txBox="1"/>
          <p:nvPr/>
        </p:nvSpPr>
        <p:spPr>
          <a:xfrm>
            <a:off x="548640" y="6126480"/>
            <a:ext cx="11094415" cy="31089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Source: phase7a_cross_task_validation.md §12, §14</a:t>
            </a:r>
            <a:endParaRPr lang="en-US" sz="1000" dirty="0"/>
          </a:p>
        </p:txBody>
      </p:sp>
      <p:sp>
        <p:nvSpPr>
          <p:cNvPr id="18" name="Text 16"/>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19" name="Text 17"/>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20 / 21</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0C17"/>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t"/>
          <a:lstStyle/>
          <a:p>
            <a:pPr algn="l" indent="0" marL="0">
              <a:buNone/>
            </a:pPr>
            <a:r>
              <a:rPr lang="en-US" sz="1200" b="1" spc="300" kern="0" dirty="0">
                <a:solidFill>
                  <a:srgbClr val="38BDF8"/>
                </a:solidFill>
                <a:latin typeface="Arial" pitchFamily="34" charset="0"/>
                <a:ea typeface="Arial" pitchFamily="34" charset="-122"/>
                <a:cs typeface="Arial" pitchFamily="34" charset="-120"/>
              </a:rPr>
              <a:t>TAKEAWAY</a:t>
            </a:r>
            <a:endParaRPr lang="en-US" sz="1200" dirty="0"/>
          </a:p>
        </p:txBody>
      </p:sp>
      <p:sp>
        <p:nvSpPr>
          <p:cNvPr id="3" name="Text 1"/>
          <p:cNvSpPr txBox="1"/>
          <p:nvPr/>
        </p:nvSpPr>
        <p:spPr>
          <a:xfrm>
            <a:off x="548640" y="1097280"/>
            <a:ext cx="731520" cy="822960"/>
          </a:xfrm>
          <a:prstGeom prst="rect">
            <a:avLst/>
          </a:prstGeom>
          <a:noFill/>
          <a:ln/>
        </p:spPr>
        <p:txBody>
          <a:bodyPr wrap="square" lIns="0" tIns="0" rIns="0" bIns="0" rtlCol="0" anchor="t"/>
          <a:lstStyle/>
          <a:p>
            <a:pPr algn="l" indent="0" marL="0">
              <a:buNone/>
            </a:pPr>
            <a:r>
              <a:rPr lang="en-US" sz="4400" b="1" dirty="0">
                <a:solidFill>
                  <a:srgbClr val="38BDF8"/>
                </a:solidFill>
                <a:latin typeface="Arial" pitchFamily="34" charset="0"/>
                <a:ea typeface="Arial" pitchFamily="34" charset="-122"/>
                <a:cs typeface="Arial" pitchFamily="34" charset="-120"/>
              </a:rPr>
              <a:t>1</a:t>
            </a:r>
            <a:endParaRPr lang="en-US" sz="4400" dirty="0"/>
          </a:p>
        </p:txBody>
      </p:sp>
      <p:sp>
        <p:nvSpPr>
          <p:cNvPr id="4" name="Text 2"/>
          <p:cNvSpPr txBox="1"/>
          <p:nvPr/>
        </p:nvSpPr>
        <p:spPr>
          <a:xfrm>
            <a:off x="1463040" y="1170432"/>
            <a:ext cx="10180015" cy="1417320"/>
          </a:xfrm>
          <a:prstGeom prst="rect">
            <a:avLst/>
          </a:prstGeom>
          <a:noFill/>
          <a:ln/>
        </p:spPr>
        <p:txBody>
          <a:bodyPr wrap="square" lIns="0" tIns="0" rIns="0" bIns="0" rtlCol="0" anchor="t"/>
          <a:lstStyle/>
          <a:p>
            <a:pPr algn="l" indent="0" marL="0">
              <a:buNone/>
            </a:pPr>
            <a:r>
              <a:rPr lang="en-US" sz="2200" dirty="0">
                <a:solidFill>
                  <a:srgbClr val="F1F5F9"/>
                </a:solidFill>
                <a:latin typeface="Arial" pitchFamily="34" charset="0"/>
                <a:ea typeface="Arial" pitchFamily="34" charset="-122"/>
                <a:cs typeface="Arial" pitchFamily="34" charset="-120"/>
              </a:rPr>
              <a:t>Under a documented held-out protocol, the released implementation shows a reproducible gap to the reported KS3 result: </a:t>
            </a:r>
            <a:pPr algn="l" indent="0" marL="0">
              <a:buNone/>
            </a:pPr>
            <a:r>
              <a:rPr lang="en-US" sz="2200" dirty="0">
                <a:solidFill>
                  <a:srgbClr val="38BDF8"/>
                </a:solidFill>
                <a:latin typeface="Arial" pitchFamily="34" charset="0"/>
                <a:ea typeface="Arial" pitchFamily="34" charset="-122"/>
                <a:cs typeface="Arial" pitchFamily="34" charset="-120"/>
              </a:rPr>
              <a:t>19–21/30</a:t>
            </a:r>
            <a:pPr algn="l" indent="0" marL="0">
              <a:buNone/>
            </a:pPr>
            <a:r>
              <a:rPr lang="en-US" sz="2200" dirty="0">
                <a:solidFill>
                  <a:srgbClr val="F1F5F9"/>
                </a:solidFill>
                <a:latin typeface="Arial" pitchFamily="34" charset="0"/>
                <a:ea typeface="Arial" pitchFamily="34" charset="-122"/>
                <a:cs typeface="Arial" pitchFamily="34" charset="-120"/>
              </a:rPr>
              <a:t> vs </a:t>
            </a:r>
            <a:pPr algn="l" indent="0" marL="0">
              <a:buNone/>
            </a:pPr>
            <a:r>
              <a:rPr lang="en-US" sz="2200" dirty="0">
                <a:solidFill>
                  <a:srgbClr val="F59E0B"/>
                </a:solidFill>
                <a:latin typeface="Arial" pitchFamily="34" charset="0"/>
                <a:ea typeface="Arial" pitchFamily="34" charset="-122"/>
                <a:cs typeface="Arial" pitchFamily="34" charset="-120"/>
              </a:rPr>
              <a:t>28/30</a:t>
            </a:r>
            <a:pPr algn="l" indent="0" marL="0">
              <a:buNone/>
            </a:pPr>
            <a:r>
              <a:rPr lang="en-US" sz="2200" dirty="0">
                <a:solidFill>
                  <a:srgbClr val="F1F5F9"/>
                </a:solidFill>
                <a:latin typeface="Arial" pitchFamily="34" charset="0"/>
                <a:ea typeface="Arial" pitchFamily="34" charset="-122"/>
                <a:cs typeface="Arial" pitchFamily="34" charset="-120"/>
              </a:rPr>
              <a:t>.</a:t>
            </a:r>
            <a:endParaRPr lang="en-US" sz="2200" dirty="0"/>
          </a:p>
        </p:txBody>
      </p:sp>
      <p:sp>
        <p:nvSpPr>
          <p:cNvPr id="5" name="Text 3"/>
          <p:cNvSpPr txBox="1"/>
          <p:nvPr/>
        </p:nvSpPr>
        <p:spPr>
          <a:xfrm>
            <a:off x="548640" y="2743200"/>
            <a:ext cx="731520" cy="822960"/>
          </a:xfrm>
          <a:prstGeom prst="rect">
            <a:avLst/>
          </a:prstGeom>
          <a:noFill/>
          <a:ln/>
        </p:spPr>
        <p:txBody>
          <a:bodyPr wrap="square" lIns="0" tIns="0" rIns="0" bIns="0" rtlCol="0" anchor="t"/>
          <a:lstStyle/>
          <a:p>
            <a:pPr algn="l" indent="0" marL="0">
              <a:buNone/>
            </a:pPr>
            <a:r>
              <a:rPr lang="en-US" sz="4400" b="1" dirty="0">
                <a:solidFill>
                  <a:srgbClr val="38BDF8"/>
                </a:solidFill>
                <a:latin typeface="Arial" pitchFamily="34" charset="0"/>
                <a:ea typeface="Arial" pitchFamily="34" charset="-122"/>
                <a:cs typeface="Arial" pitchFamily="34" charset="-120"/>
              </a:rPr>
              <a:t>2</a:t>
            </a:r>
            <a:endParaRPr lang="en-US" sz="4400" dirty="0"/>
          </a:p>
        </p:txBody>
      </p:sp>
      <p:sp>
        <p:nvSpPr>
          <p:cNvPr id="6" name="Text 4"/>
          <p:cNvSpPr txBox="1"/>
          <p:nvPr/>
        </p:nvSpPr>
        <p:spPr>
          <a:xfrm>
            <a:off x="1463040" y="2816352"/>
            <a:ext cx="10180015" cy="1417320"/>
          </a:xfrm>
          <a:prstGeom prst="rect">
            <a:avLst/>
          </a:prstGeom>
          <a:noFill/>
          <a:ln/>
        </p:spPr>
        <p:txBody>
          <a:bodyPr wrap="square" lIns="0" tIns="0" rIns="0" bIns="0" rtlCol="0" anchor="t"/>
          <a:lstStyle/>
          <a:p>
            <a:pPr algn="l" indent="0" marL="0">
              <a:buNone/>
            </a:pPr>
            <a:r>
              <a:rPr lang="en-US" sz="2200" dirty="0">
                <a:solidFill>
                  <a:srgbClr val="F1F5F9"/>
                </a:solidFill>
                <a:latin typeface="Arial" pitchFamily="34" charset="0"/>
                <a:ea typeface="Arial" pitchFamily="34" charset="-122"/>
                <a:cs typeface="Arial" pitchFamily="34" charset="-120"/>
              </a:rPr>
              <a:t>Historical-code archaeology explains much of the numerical discrepancy — the closest author pipeline scores 15 fit-state rollouts — and exposes protocol and implementation differences from the paper text.</a:t>
            </a:r>
            <a:endParaRPr lang="en-US" sz="2200" dirty="0"/>
          </a:p>
        </p:txBody>
      </p:sp>
      <p:sp>
        <p:nvSpPr>
          <p:cNvPr id="7" name="Text 5"/>
          <p:cNvSpPr txBox="1"/>
          <p:nvPr/>
        </p:nvSpPr>
        <p:spPr>
          <a:xfrm>
            <a:off x="548640" y="4389120"/>
            <a:ext cx="731520" cy="822960"/>
          </a:xfrm>
          <a:prstGeom prst="rect">
            <a:avLst/>
          </a:prstGeom>
          <a:noFill/>
          <a:ln/>
        </p:spPr>
        <p:txBody>
          <a:bodyPr wrap="square" lIns="0" tIns="0" rIns="0" bIns="0" rtlCol="0" anchor="t"/>
          <a:lstStyle/>
          <a:p>
            <a:pPr algn="l" indent="0" marL="0">
              <a:buNone/>
            </a:pPr>
            <a:r>
              <a:rPr lang="en-US" sz="4400" b="1" dirty="0">
                <a:solidFill>
                  <a:srgbClr val="38BDF8"/>
                </a:solidFill>
                <a:latin typeface="Arial" pitchFamily="34" charset="0"/>
                <a:ea typeface="Arial" pitchFamily="34" charset="-122"/>
                <a:cs typeface="Arial" pitchFamily="34" charset="-120"/>
              </a:rPr>
              <a:t>3</a:t>
            </a:r>
            <a:endParaRPr lang="en-US" sz="4400" dirty="0"/>
          </a:p>
        </p:txBody>
      </p:sp>
      <p:sp>
        <p:nvSpPr>
          <p:cNvPr id="8" name="Text 6"/>
          <p:cNvSpPr txBox="1"/>
          <p:nvPr/>
        </p:nvSpPr>
        <p:spPr>
          <a:xfrm>
            <a:off x="1463040" y="4462272"/>
            <a:ext cx="10180015" cy="1417320"/>
          </a:xfrm>
          <a:prstGeom prst="rect">
            <a:avLst/>
          </a:prstGeom>
          <a:noFill/>
          <a:ln/>
        </p:spPr>
        <p:txBody>
          <a:bodyPr wrap="square" lIns="0" tIns="0" rIns="0" bIns="0" rtlCol="0" anchor="t"/>
          <a:lstStyle/>
          <a:p>
            <a:pPr algn="l" indent="0" marL="0">
              <a:buNone/>
            </a:pPr>
            <a:r>
              <a:rPr lang="en-US" sz="2200" dirty="0">
                <a:solidFill>
                  <a:srgbClr val="F1F5F9"/>
                </a:solidFill>
                <a:latin typeface="Arial" pitchFamily="34" charset="0"/>
                <a:ea typeface="Arial" pitchFamily="34" charset="-122"/>
                <a:cs typeface="Arial" pitchFamily="34" charset="-120"/>
              </a:rPr>
              <a:t>Cross-task validation found no held-out advantage over a random conceptor in 4/4 tasks; next is a mechanism-first Phase 7B before proposing any new steering method.</a:t>
            </a:r>
            <a:endParaRPr lang="en-US" sz="2200" dirty="0"/>
          </a:p>
        </p:txBody>
      </p:sp>
      <p:sp>
        <p:nvSpPr>
          <p:cNvPr id="9" name="Text 7"/>
          <p:cNvSpPr txBox="1"/>
          <p:nvPr/>
        </p:nvSpPr>
        <p:spPr>
          <a:xfrm>
            <a:off x="548640" y="6492240"/>
            <a:ext cx="7315200" cy="219456"/>
          </a:xfrm>
          <a:prstGeom prst="rect">
            <a:avLst/>
          </a:prstGeom>
          <a:noFill/>
          <a:ln/>
        </p:spPr>
        <p:txBody>
          <a:bodyPr wrap="square" lIns="0" tIns="0" rIns="0" bIns="0" rtlCol="0" anchor="t"/>
          <a:lstStyle/>
          <a:p>
            <a:pPr algn="l" indent="0" marL="0">
              <a:buNone/>
            </a:pPr>
            <a:r>
              <a:rPr lang="en-US" sz="1000" dirty="0">
                <a:solidFill>
                  <a:srgbClr val="6B7A93"/>
                </a:solidFill>
                <a:latin typeface="Arial" pitchFamily="34" charset="0"/>
                <a:ea typeface="Arial" pitchFamily="34" charset="-122"/>
                <a:cs typeface="Arial" pitchFamily="34" charset="-120"/>
              </a:rPr>
              <a:t>COAST reproduction study · updated through Phase 7A</a:t>
            </a:r>
            <a:endParaRPr lang="en-US" sz="1000" dirty="0"/>
          </a:p>
        </p:txBody>
      </p:sp>
      <p:sp>
        <p:nvSpPr>
          <p:cNvPr id="10" name="Text 8"/>
          <p:cNvSpPr txBox="1"/>
          <p:nvPr/>
        </p:nvSpPr>
        <p:spPr>
          <a:xfrm>
            <a:off x="10271455" y="6492240"/>
            <a:ext cx="1371600" cy="219456"/>
          </a:xfrm>
          <a:prstGeom prst="rect">
            <a:avLst/>
          </a:prstGeom>
          <a:noFill/>
          <a:ln/>
        </p:spPr>
        <p:txBody>
          <a:bodyPr wrap="square" lIns="0" tIns="0" rIns="0" bIns="0" rtlCol="0" anchor="t"/>
          <a:lstStyle/>
          <a:p>
            <a:pPr algn="r" indent="0" marL="0">
              <a:buNone/>
            </a:pPr>
            <a:r>
              <a:rPr lang="en-US" sz="1000" dirty="0">
                <a:solidFill>
                  <a:srgbClr val="6B7A93"/>
                </a:solidFill>
                <a:latin typeface="Arial" pitchFamily="34" charset="0"/>
                <a:ea typeface="Arial" pitchFamily="34" charset="-122"/>
                <a:cs typeface="Arial" pitchFamily="34" charset="-120"/>
              </a:rPr>
              <a:t>21 / 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COAST Reproduction Study — updated through Phase 7A</dc:title>
  <dc:subject>PptxGenJS Presentation</dc:subject>
  <dc:creator>Stanley Chueh</dc:creator>
  <cp:lastModifiedBy>Stanley Chueh</cp:lastModifiedBy>
  <cp:revision>1</cp:revision>
  <dcterms:created xsi:type="dcterms:W3CDTF">2026-09-25T13:13:39Z</dcterms:created>
  <dcterms:modified xsi:type="dcterms:W3CDTF">2026-09-25T13:13:39Z</dcterms:modified>
</cp:coreProperties>
</file>